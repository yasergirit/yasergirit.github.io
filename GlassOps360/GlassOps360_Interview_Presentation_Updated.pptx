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developed GlassOps 360 as an independent proof of concept for a manufacturing data solutions analyst role. All source files, plants and results are synthetic. The goal is to demonstrate how three operational data sources become one trustworthy decision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manufacturing scenario contains three simulated source systems. SAP supplies 540 planning records, MES supplies 1,080 shift-level outcomes, and energy metering supplies 270 factory-day readings. These sources answer a single business question, but their natural grains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architecture. Three CSV extracts represent SAP, MES and energy systems. We validate source contracts before opening the warehouse for writes. DuckDB holds raw copies, dimensional references and separate fact tables. We aggregate facts to a common factory-day level, expose a data mart, and serve KPIs through Streamlit. A failed gate blocks the warehouse refresh.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warehouse I keep three fact tables rather than one giant join. SAP planning is factory, date, line and product; MES adds shift; energy is only factory and date. Dimensions hold reference descriptions. I aggregate each fact independently to factory plus date before joining them into mart_factory_daily. This avoids counting the same daily energy once per MES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reads from mart_factory_daily. These figures are the 90-day totals of our synthetic sample: 31,540 tons good output, 88.4 percent target achievement, 94.1 percent yield, 5.9 percent scrap rate and 6.02 GJ per gross ton. A key detail is that KPI rates come from sums over the selected factories and dates, not averages of daily percentages.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quality center we define rules for mandatory fields, unique business keys, valid numeric quantities and reference integrity. A clean three-source run passes 20 checks. I can inject a null factory ID, duplicate business key, negative quantity and unknown product into an in-memory copy. Four checks fail and five rows are flagged because both copies of a duplicate are shown. The pipeline blocks a warehouse refresh when critical quality checks fail, preserving the last trusted reporting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simulated an SAP source upgrade. SAP v1 contains material_code and planned_qty_kg, while v2 exposes sku_id and planned_qty_tons. The validation compares both schemas, and a source adapter normalizes fields and units to the same business meaning. The regression test then compares 540 planning business keys and reports zero mismatches. This tests equivalence, not a real SAP deployment or automated production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 link the original business requirements to five automated acceptance checks. These validate plan-versus-actual numbers, production yield reconciliation, energy join correctness, quality gate behavior and SAP regression parity. All five pass in the demonstration. In a production rollout, these tests would support—but not replace—UAT workshops and final sign-off by business users. I can now open the Streamlit demo and show any scenario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 mapped the role requirements to visible evidence in GlassOps 360. The demo shows an end-to-end technical solution from business KPIs and three source systems to source contract checks, a dimensional warehouse, a factory-day reporting mart, and a working dashboard. It also shows an SAP schema-change simulation and automated acceptance checks. I deliberately distinguish built-and-tested components from conceptual or simulated processes: leading real UAT, collaborating with real engineering teams and coordinating real stakeholders cannot be proven by a solo PoC. Educational credentials, professional tenure and English proficiency are evaluated separately through my CV and interview. This slide is evidence of approach and capability, not a substitute for real employment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B2A"/>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gd name="adj" fmla="val 109091"/>
            </a:avLst>
          </a:prstGeom>
          <a:solidFill>
            <a:srgbClr val="17B8B3"/>
          </a:solidFill>
          <a:ln w="12700">
            <a:solidFill>
              <a:srgbClr val="17B8B3">
                <a:alpha val="0"/>
              </a:srgbClr>
            </a:solidFill>
            <a:prstDash val="solid"/>
          </a:ln>
        </p:spPr>
      </p:sp>
      <p:sp>
        <p:nvSpPr>
          <p:cNvPr id="3" name="Shape 1"/>
          <p:cNvSpPr/>
          <p:nvPr/>
        </p:nvSpPr>
        <p:spPr>
          <a:xfrm>
            <a:off x="6537960" y="1216152"/>
            <a:ext cx="5239512" cy="0"/>
          </a:xfrm>
          <a:prstGeom prst="line">
            <a:avLst/>
          </a:prstGeom>
          <a:noFill/>
          <a:ln w="7620">
            <a:solidFill>
              <a:srgbClr val="345364">
                <a:alpha val="40000"/>
              </a:srgbClr>
            </a:solidFill>
            <a:prstDash val="solid"/>
          </a:ln>
        </p:spPr>
      </p:sp>
      <p:sp>
        <p:nvSpPr>
          <p:cNvPr id="4" name="Shape 2"/>
          <p:cNvSpPr/>
          <p:nvPr/>
        </p:nvSpPr>
        <p:spPr>
          <a:xfrm>
            <a:off x="6537960" y="2002536"/>
            <a:ext cx="5239512" cy="0"/>
          </a:xfrm>
          <a:prstGeom prst="line">
            <a:avLst/>
          </a:prstGeom>
          <a:noFill/>
          <a:ln w="7620">
            <a:solidFill>
              <a:srgbClr val="345364">
                <a:alpha val="40000"/>
              </a:srgbClr>
            </a:solidFill>
            <a:prstDash val="solid"/>
          </a:ln>
        </p:spPr>
      </p:sp>
      <p:sp>
        <p:nvSpPr>
          <p:cNvPr id="5" name="Shape 3"/>
          <p:cNvSpPr/>
          <p:nvPr/>
        </p:nvSpPr>
        <p:spPr>
          <a:xfrm>
            <a:off x="6537960" y="2788920"/>
            <a:ext cx="5239512" cy="0"/>
          </a:xfrm>
          <a:prstGeom prst="line">
            <a:avLst/>
          </a:prstGeom>
          <a:noFill/>
          <a:ln w="7620">
            <a:solidFill>
              <a:srgbClr val="345364">
                <a:alpha val="40000"/>
              </a:srgbClr>
            </a:solidFill>
            <a:prstDash val="solid"/>
          </a:ln>
        </p:spPr>
      </p:sp>
      <p:sp>
        <p:nvSpPr>
          <p:cNvPr id="6" name="Shape 4"/>
          <p:cNvSpPr/>
          <p:nvPr/>
        </p:nvSpPr>
        <p:spPr>
          <a:xfrm>
            <a:off x="6537960" y="3575304"/>
            <a:ext cx="5239512" cy="0"/>
          </a:xfrm>
          <a:prstGeom prst="line">
            <a:avLst/>
          </a:prstGeom>
          <a:noFill/>
          <a:ln w="7620">
            <a:solidFill>
              <a:srgbClr val="345364">
                <a:alpha val="40000"/>
              </a:srgbClr>
            </a:solidFill>
            <a:prstDash val="solid"/>
          </a:ln>
        </p:spPr>
      </p:sp>
      <p:sp>
        <p:nvSpPr>
          <p:cNvPr id="7" name="Shape 5"/>
          <p:cNvSpPr/>
          <p:nvPr/>
        </p:nvSpPr>
        <p:spPr>
          <a:xfrm>
            <a:off x="6537960" y="4361688"/>
            <a:ext cx="5239512" cy="0"/>
          </a:xfrm>
          <a:prstGeom prst="line">
            <a:avLst/>
          </a:prstGeom>
          <a:noFill/>
          <a:ln w="7620">
            <a:solidFill>
              <a:srgbClr val="345364">
                <a:alpha val="40000"/>
              </a:srgbClr>
            </a:solidFill>
            <a:prstDash val="solid"/>
          </a:ln>
        </p:spPr>
      </p:sp>
      <p:sp>
        <p:nvSpPr>
          <p:cNvPr id="8" name="Shape 6"/>
          <p:cNvSpPr/>
          <p:nvPr/>
        </p:nvSpPr>
        <p:spPr>
          <a:xfrm>
            <a:off x="6702552" y="960120"/>
            <a:ext cx="0" cy="4480560"/>
          </a:xfrm>
          <a:prstGeom prst="line">
            <a:avLst/>
          </a:prstGeom>
          <a:noFill/>
          <a:ln w="7620">
            <a:solidFill>
              <a:srgbClr val="355263">
                <a:alpha val="30000"/>
              </a:srgbClr>
            </a:solidFill>
            <a:prstDash val="solid"/>
          </a:ln>
        </p:spPr>
      </p:sp>
      <p:sp>
        <p:nvSpPr>
          <p:cNvPr id="9" name="Shape 7"/>
          <p:cNvSpPr/>
          <p:nvPr/>
        </p:nvSpPr>
        <p:spPr>
          <a:xfrm>
            <a:off x="7653528" y="960120"/>
            <a:ext cx="0" cy="4480560"/>
          </a:xfrm>
          <a:prstGeom prst="line">
            <a:avLst/>
          </a:prstGeom>
          <a:noFill/>
          <a:ln w="7620">
            <a:solidFill>
              <a:srgbClr val="355263">
                <a:alpha val="30000"/>
              </a:srgbClr>
            </a:solidFill>
            <a:prstDash val="solid"/>
          </a:ln>
        </p:spPr>
      </p:sp>
      <p:sp>
        <p:nvSpPr>
          <p:cNvPr id="10" name="Shape 8"/>
          <p:cNvSpPr/>
          <p:nvPr/>
        </p:nvSpPr>
        <p:spPr>
          <a:xfrm>
            <a:off x="8604504" y="960120"/>
            <a:ext cx="0" cy="4480560"/>
          </a:xfrm>
          <a:prstGeom prst="line">
            <a:avLst/>
          </a:prstGeom>
          <a:noFill/>
          <a:ln w="7620">
            <a:solidFill>
              <a:srgbClr val="355263">
                <a:alpha val="30000"/>
              </a:srgbClr>
            </a:solidFill>
            <a:prstDash val="solid"/>
          </a:ln>
        </p:spPr>
      </p:sp>
      <p:sp>
        <p:nvSpPr>
          <p:cNvPr id="11" name="Shape 9"/>
          <p:cNvSpPr/>
          <p:nvPr/>
        </p:nvSpPr>
        <p:spPr>
          <a:xfrm>
            <a:off x="9555480" y="960120"/>
            <a:ext cx="0" cy="4480560"/>
          </a:xfrm>
          <a:prstGeom prst="line">
            <a:avLst/>
          </a:prstGeom>
          <a:noFill/>
          <a:ln w="7620">
            <a:solidFill>
              <a:srgbClr val="355263">
                <a:alpha val="30000"/>
              </a:srgbClr>
            </a:solidFill>
            <a:prstDash val="solid"/>
          </a:ln>
        </p:spPr>
      </p:sp>
      <p:sp>
        <p:nvSpPr>
          <p:cNvPr id="12" name="Shape 10"/>
          <p:cNvSpPr/>
          <p:nvPr/>
        </p:nvSpPr>
        <p:spPr>
          <a:xfrm>
            <a:off x="10506456" y="960120"/>
            <a:ext cx="0" cy="4480560"/>
          </a:xfrm>
          <a:prstGeom prst="line">
            <a:avLst/>
          </a:prstGeom>
          <a:noFill/>
          <a:ln w="7620">
            <a:solidFill>
              <a:srgbClr val="355263">
                <a:alpha val="30000"/>
              </a:srgbClr>
            </a:solidFill>
            <a:prstDash val="solid"/>
          </a:ln>
        </p:spPr>
      </p:sp>
      <p:sp>
        <p:nvSpPr>
          <p:cNvPr id="13" name="Shape 11"/>
          <p:cNvSpPr/>
          <p:nvPr/>
        </p:nvSpPr>
        <p:spPr>
          <a:xfrm>
            <a:off x="11457432" y="960120"/>
            <a:ext cx="0" cy="4480560"/>
          </a:xfrm>
          <a:prstGeom prst="line">
            <a:avLst/>
          </a:prstGeom>
          <a:noFill/>
          <a:ln w="7620">
            <a:solidFill>
              <a:srgbClr val="355263">
                <a:alpha val="30000"/>
              </a:srgbClr>
            </a:solidFill>
            <a:prstDash val="solid"/>
          </a:ln>
        </p:spPr>
      </p:sp>
      <p:sp>
        <p:nvSpPr>
          <p:cNvPr id="14" name="Text 12"/>
          <p:cNvSpPr/>
          <p:nvPr/>
        </p:nvSpPr>
        <p:spPr>
          <a:xfrm>
            <a:off x="722376" y="804672"/>
            <a:ext cx="5577840" cy="219456"/>
          </a:xfrm>
          <a:prstGeom prst="rect">
            <a:avLst/>
          </a:prstGeom>
          <a:noFill/>
          <a:ln/>
        </p:spPr>
        <p:txBody>
          <a:bodyPr wrap="square" lIns="0" tIns="0" rIns="0" bIns="0" rtlCol="0" anchor="ctr">
            <a:normAutofit/>
          </a:bodyPr>
          <a:lstStyle/>
          <a:p>
            <a:pPr algn="l" indent="0" marL="0">
              <a:lnSpc>
                <a:spcPct val="100000"/>
              </a:lnSpc>
              <a:buNone/>
            </a:pPr>
            <a:r>
              <a:rPr lang="en-US" sz="1080" b="1" spc="200" kern="0" dirty="0">
                <a:solidFill>
                  <a:srgbClr val="17B8B3"/>
                </a:solidFill>
                <a:latin typeface="Aptos" pitchFamily="34" charset="0"/>
                <a:ea typeface="Aptos" pitchFamily="34" charset="-122"/>
                <a:cs typeface="Aptos" pitchFamily="34" charset="-120"/>
              </a:rPr>
              <a:t>INDEPENDENT DATA SOLUTIONS CASE STUDY</a:t>
            </a:r>
            <a:endParaRPr lang="en-US" sz="1080" dirty="0"/>
          </a:p>
        </p:txBody>
      </p:sp>
      <p:sp>
        <p:nvSpPr>
          <p:cNvPr id="15" name="Text 13"/>
          <p:cNvSpPr/>
          <p:nvPr/>
        </p:nvSpPr>
        <p:spPr>
          <a:xfrm>
            <a:off x="722376" y="1435608"/>
            <a:ext cx="5943600" cy="841248"/>
          </a:xfrm>
          <a:prstGeom prst="rect">
            <a:avLst/>
          </a:prstGeom>
          <a:noFill/>
          <a:ln/>
        </p:spPr>
        <p:txBody>
          <a:bodyPr wrap="square" lIns="0" tIns="0" rIns="0" bIns="0" rtlCol="0" anchor="ctr">
            <a:normAutofit/>
          </a:bodyPr>
          <a:lstStyle/>
          <a:p>
            <a:pPr algn="l" indent="0" marL="0">
              <a:lnSpc>
                <a:spcPct val="100000"/>
              </a:lnSpc>
              <a:buNone/>
            </a:pPr>
            <a:r>
              <a:rPr lang="en-US" sz="5400" b="1" dirty="0">
                <a:solidFill>
                  <a:srgbClr val="FFFFFF"/>
                </a:solidFill>
                <a:latin typeface="Aptos" pitchFamily="34" charset="0"/>
                <a:ea typeface="Aptos" pitchFamily="34" charset="-122"/>
                <a:cs typeface="Aptos" pitchFamily="34" charset="-120"/>
              </a:rPr>
              <a:t>GLASSOPS</a:t>
            </a:r>
            <a:endParaRPr lang="en-US" sz="5400" dirty="0"/>
          </a:p>
        </p:txBody>
      </p:sp>
      <p:sp>
        <p:nvSpPr>
          <p:cNvPr id="16" name="Text 14"/>
          <p:cNvSpPr/>
          <p:nvPr/>
        </p:nvSpPr>
        <p:spPr>
          <a:xfrm>
            <a:off x="722376" y="2286000"/>
            <a:ext cx="3200400" cy="859536"/>
          </a:xfrm>
          <a:prstGeom prst="rect">
            <a:avLst/>
          </a:prstGeom>
          <a:noFill/>
          <a:ln/>
        </p:spPr>
        <p:txBody>
          <a:bodyPr wrap="square" lIns="0" tIns="0" rIns="0" bIns="0" rtlCol="0" anchor="ctr">
            <a:normAutofit/>
          </a:bodyPr>
          <a:lstStyle/>
          <a:p>
            <a:pPr algn="l" indent="0" marL="0">
              <a:lnSpc>
                <a:spcPct val="100000"/>
              </a:lnSpc>
              <a:buNone/>
            </a:pPr>
            <a:r>
              <a:rPr lang="en-US" sz="6600" b="1" dirty="0">
                <a:solidFill>
                  <a:srgbClr val="17B8B3"/>
                </a:solidFill>
                <a:latin typeface="Aptos" pitchFamily="34" charset="0"/>
                <a:ea typeface="Aptos" pitchFamily="34" charset="-122"/>
                <a:cs typeface="Aptos" pitchFamily="34" charset="-120"/>
              </a:rPr>
              <a:t>360</a:t>
            </a:r>
            <a:endParaRPr lang="en-US" sz="6600" dirty="0"/>
          </a:p>
        </p:txBody>
      </p:sp>
      <p:sp>
        <p:nvSpPr>
          <p:cNvPr id="17" name="Text 15"/>
          <p:cNvSpPr/>
          <p:nvPr/>
        </p:nvSpPr>
        <p:spPr>
          <a:xfrm>
            <a:off x="749808" y="3529584"/>
            <a:ext cx="5577840" cy="960120"/>
          </a:xfrm>
          <a:prstGeom prst="rect">
            <a:avLst/>
          </a:prstGeom>
          <a:noFill/>
          <a:ln/>
        </p:spPr>
        <p:txBody>
          <a:bodyPr wrap="square" lIns="0" tIns="0" rIns="0" bIns="0" rtlCol="0" anchor="ctr">
            <a:normAutofit/>
          </a:bodyPr>
          <a:lstStyle/>
          <a:p>
            <a:pPr algn="l" indent="0" marL="0">
              <a:lnSpc>
                <a:spcPct val="100000"/>
              </a:lnSpc>
              <a:buNone/>
            </a:pPr>
            <a:r>
              <a:rPr lang="en-US" sz="2300" dirty="0">
                <a:solidFill>
                  <a:srgbClr val="DEDEDE"/>
                </a:solidFill>
                <a:latin typeface="Aptos" pitchFamily="34" charset="0"/>
                <a:ea typeface="Aptos" pitchFamily="34" charset="-122"/>
                <a:cs typeface="Aptos" pitchFamily="34" charset="-120"/>
              </a:rPr>
              <a:t>From fragmented factory data</a:t>
            </a:r>
            <a:endParaRPr lang="en-US" sz="2300" dirty="0"/>
          </a:p>
          <a:p>
            <a:pPr algn="l" indent="0" marL="0">
              <a:lnSpc>
                <a:spcPct val="100000"/>
              </a:lnSpc>
              <a:buNone/>
            </a:pPr>
            <a:r>
              <a:rPr lang="en-US" sz="2300" dirty="0">
                <a:solidFill>
                  <a:srgbClr val="DEDEDE"/>
                </a:solidFill>
                <a:latin typeface="Aptos" pitchFamily="34" charset="0"/>
                <a:ea typeface="Aptos" pitchFamily="34" charset="-122"/>
                <a:cs typeface="Aptos" pitchFamily="34" charset="-120"/>
              </a:rPr>
              <a:t>to trustworthy operational KPIs.</a:t>
            </a:r>
            <a:endParaRPr lang="en-US" sz="2300" dirty="0"/>
          </a:p>
        </p:txBody>
      </p:sp>
      <p:sp>
        <p:nvSpPr>
          <p:cNvPr id="18" name="Shape 16"/>
          <p:cNvSpPr/>
          <p:nvPr/>
        </p:nvSpPr>
        <p:spPr>
          <a:xfrm>
            <a:off x="749808" y="4846320"/>
            <a:ext cx="685800" cy="50292"/>
          </a:xfrm>
          <a:prstGeom prst="rect">
            <a:avLst>
              <a:gd name="adj" fmla="val 218182"/>
            </a:avLst>
          </a:prstGeom>
          <a:solidFill>
            <a:srgbClr val="17B8B3"/>
          </a:solidFill>
          <a:ln w="12700">
            <a:solidFill>
              <a:srgbClr val="17B8B3">
                <a:alpha val="0"/>
              </a:srgbClr>
            </a:solidFill>
            <a:prstDash val="solid"/>
          </a:ln>
        </p:spPr>
      </p:sp>
      <p:sp>
        <p:nvSpPr>
          <p:cNvPr id="19" name="Shape 17"/>
          <p:cNvSpPr/>
          <p:nvPr/>
        </p:nvSpPr>
        <p:spPr>
          <a:xfrm>
            <a:off x="731520" y="5193792"/>
            <a:ext cx="1280160" cy="365760"/>
          </a:xfrm>
          <a:prstGeom prst="roundRect">
            <a:avLst>
              <a:gd name="adj" fmla="val 30000"/>
            </a:avLst>
          </a:prstGeom>
          <a:solidFill>
            <a:srgbClr val="19394A"/>
          </a:solidFill>
          <a:ln w="12700">
            <a:solidFill>
              <a:srgbClr val="19394A">
                <a:alpha val="0"/>
              </a:srgbClr>
            </a:solidFill>
            <a:prstDash val="solid"/>
          </a:ln>
        </p:spPr>
      </p:sp>
      <p:sp>
        <p:nvSpPr>
          <p:cNvPr id="20" name="Text 18"/>
          <p:cNvSpPr/>
          <p:nvPr/>
        </p:nvSpPr>
        <p:spPr>
          <a:xfrm>
            <a:off x="841248" y="5202936"/>
            <a:ext cx="1060704" cy="34747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CBE8E6"/>
                </a:solidFill>
                <a:latin typeface="Aptos" pitchFamily="34" charset="0"/>
                <a:ea typeface="Aptos" pitchFamily="34" charset="-122"/>
                <a:cs typeface="Aptos" pitchFamily="34" charset="-120"/>
              </a:rPr>
              <a:t>3 SOURCES</a:t>
            </a:r>
            <a:endParaRPr lang="en-US" sz="1000" dirty="0"/>
          </a:p>
        </p:txBody>
      </p:sp>
      <p:sp>
        <p:nvSpPr>
          <p:cNvPr id="21" name="Shape 19"/>
          <p:cNvSpPr/>
          <p:nvPr/>
        </p:nvSpPr>
        <p:spPr>
          <a:xfrm>
            <a:off x="2130552" y="5193792"/>
            <a:ext cx="1645920" cy="365760"/>
          </a:xfrm>
          <a:prstGeom prst="roundRect">
            <a:avLst>
              <a:gd name="adj" fmla="val 30000"/>
            </a:avLst>
          </a:prstGeom>
          <a:solidFill>
            <a:srgbClr val="19394A"/>
          </a:solidFill>
          <a:ln w="12700">
            <a:solidFill>
              <a:srgbClr val="19394A">
                <a:alpha val="0"/>
              </a:srgbClr>
            </a:solidFill>
            <a:prstDash val="solid"/>
          </a:ln>
        </p:spPr>
      </p:sp>
      <p:sp>
        <p:nvSpPr>
          <p:cNvPr id="22" name="Text 20"/>
          <p:cNvSpPr/>
          <p:nvPr/>
        </p:nvSpPr>
        <p:spPr>
          <a:xfrm>
            <a:off x="2240280" y="5202936"/>
            <a:ext cx="1426464" cy="34747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CBE8E6"/>
                </a:solidFill>
                <a:latin typeface="Aptos" pitchFamily="34" charset="0"/>
                <a:ea typeface="Aptos" pitchFamily="34" charset="-122"/>
                <a:cs typeface="Aptos" pitchFamily="34" charset="-120"/>
              </a:rPr>
              <a:t>1 WAREHOUSE</a:t>
            </a:r>
            <a:endParaRPr lang="en-US" sz="1000" dirty="0"/>
          </a:p>
        </p:txBody>
      </p:sp>
      <p:sp>
        <p:nvSpPr>
          <p:cNvPr id="23" name="Shape 21"/>
          <p:cNvSpPr/>
          <p:nvPr/>
        </p:nvSpPr>
        <p:spPr>
          <a:xfrm>
            <a:off x="3904488" y="5193792"/>
            <a:ext cx="1874520" cy="365760"/>
          </a:xfrm>
          <a:prstGeom prst="roundRect">
            <a:avLst>
              <a:gd name="adj" fmla="val 30000"/>
            </a:avLst>
          </a:prstGeom>
          <a:solidFill>
            <a:srgbClr val="19394A"/>
          </a:solidFill>
          <a:ln w="12700">
            <a:solidFill>
              <a:srgbClr val="19394A">
                <a:alpha val="0"/>
              </a:srgbClr>
            </a:solidFill>
            <a:prstDash val="solid"/>
          </a:ln>
        </p:spPr>
      </p:sp>
      <p:sp>
        <p:nvSpPr>
          <p:cNvPr id="24" name="Text 22"/>
          <p:cNvSpPr/>
          <p:nvPr/>
        </p:nvSpPr>
        <p:spPr>
          <a:xfrm>
            <a:off x="4014216" y="5202936"/>
            <a:ext cx="1655064" cy="34747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CBE8E6"/>
                </a:solidFill>
                <a:latin typeface="Aptos" pitchFamily="34" charset="0"/>
                <a:ea typeface="Aptos" pitchFamily="34" charset="-122"/>
                <a:cs typeface="Aptos" pitchFamily="34" charset="-120"/>
              </a:rPr>
              <a:t>1 DECISION VIEW</a:t>
            </a:r>
            <a:endParaRPr lang="en-US" sz="1000" dirty="0"/>
          </a:p>
        </p:txBody>
      </p:sp>
      <p:sp>
        <p:nvSpPr>
          <p:cNvPr id="25" name="Text 23"/>
          <p:cNvSpPr/>
          <p:nvPr/>
        </p:nvSpPr>
        <p:spPr>
          <a:xfrm>
            <a:off x="731520" y="6272784"/>
            <a:ext cx="8321040" cy="228600"/>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93AFBD"/>
                </a:solidFill>
                <a:latin typeface="Aptos" pitchFamily="34" charset="0"/>
                <a:ea typeface="Aptos" pitchFamily="34" charset="-122"/>
                <a:cs typeface="Aptos" pitchFamily="34" charset="-120"/>
              </a:rPr>
              <a:t>Manufacturing Analytics  ·  Python  /  DuckDB  /  Streamlit</a:t>
            </a:r>
            <a:endParaRPr lang="en-US" sz="1100" dirty="0"/>
          </a:p>
        </p:txBody>
      </p:sp>
      <p:sp>
        <p:nvSpPr>
          <p:cNvPr id="26" name="Shape 24"/>
          <p:cNvSpPr/>
          <p:nvPr/>
        </p:nvSpPr>
        <p:spPr>
          <a:xfrm>
            <a:off x="6693408" y="1536192"/>
            <a:ext cx="1691640" cy="713232"/>
          </a:xfrm>
          <a:prstGeom prst="roundRect">
            <a:avLst>
              <a:gd name="adj" fmla="val 15385"/>
            </a:avLst>
          </a:prstGeom>
          <a:solidFill>
            <a:srgbClr val="1B3B4C"/>
          </a:solidFill>
          <a:ln w="9525">
            <a:solidFill>
              <a:srgbClr val="386073"/>
            </a:solidFill>
            <a:prstDash val="solid"/>
          </a:ln>
        </p:spPr>
      </p:sp>
      <p:sp>
        <p:nvSpPr>
          <p:cNvPr id="27" name="Shape 25"/>
          <p:cNvSpPr/>
          <p:nvPr/>
        </p:nvSpPr>
        <p:spPr>
          <a:xfrm>
            <a:off x="6858000" y="1746504"/>
            <a:ext cx="68580" cy="292608"/>
          </a:xfrm>
          <a:prstGeom prst="rect">
            <a:avLst>
              <a:gd name="adj" fmla="val 160000"/>
            </a:avLst>
          </a:prstGeom>
          <a:solidFill>
            <a:srgbClr val="4074E8"/>
          </a:solidFill>
          <a:ln w="12700">
            <a:solidFill>
              <a:srgbClr val="4074E8">
                <a:alpha val="0"/>
              </a:srgbClr>
            </a:solidFill>
            <a:prstDash val="solid"/>
          </a:ln>
        </p:spPr>
      </p:sp>
      <p:sp>
        <p:nvSpPr>
          <p:cNvPr id="28" name="Text 26"/>
          <p:cNvSpPr/>
          <p:nvPr/>
        </p:nvSpPr>
        <p:spPr>
          <a:xfrm>
            <a:off x="7031736" y="1655064"/>
            <a:ext cx="1115568" cy="219456"/>
          </a:xfrm>
          <a:prstGeom prst="rect">
            <a:avLst/>
          </a:prstGeom>
          <a:noFill/>
          <a:ln/>
        </p:spPr>
        <p:txBody>
          <a:bodyPr wrap="square" lIns="0" tIns="0" rIns="0" bIns="0" rtlCol="0" anchor="ctr">
            <a:normAutofit/>
          </a:bodyPr>
          <a:lstStyle/>
          <a:p>
            <a:pPr algn="l" indent="0" marL="0">
              <a:lnSpc>
                <a:spcPct val="100000"/>
              </a:lnSpc>
              <a:buNone/>
            </a:pPr>
            <a:r>
              <a:rPr lang="en-US" sz="1360" b="1" dirty="0">
                <a:solidFill>
                  <a:srgbClr val="FFFFFF"/>
                </a:solidFill>
                <a:latin typeface="Aptos" pitchFamily="34" charset="0"/>
                <a:ea typeface="Aptos" pitchFamily="34" charset="-122"/>
                <a:cs typeface="Aptos" pitchFamily="34" charset="-120"/>
              </a:rPr>
              <a:t>SAP ERP</a:t>
            </a:r>
            <a:endParaRPr lang="en-US" sz="1360" dirty="0"/>
          </a:p>
        </p:txBody>
      </p:sp>
      <p:sp>
        <p:nvSpPr>
          <p:cNvPr id="29" name="Text 27"/>
          <p:cNvSpPr/>
          <p:nvPr/>
        </p:nvSpPr>
        <p:spPr>
          <a:xfrm>
            <a:off x="7031736" y="1947672"/>
            <a:ext cx="1216152" cy="137160"/>
          </a:xfrm>
          <a:prstGeom prst="rect">
            <a:avLst/>
          </a:prstGeom>
          <a:noFill/>
          <a:ln/>
        </p:spPr>
        <p:txBody>
          <a:bodyPr wrap="square" lIns="0" tIns="0" rIns="0" bIns="0" rtlCol="0" anchor="ctr">
            <a:normAutofit/>
          </a:bodyPr>
          <a:lstStyle/>
          <a:p>
            <a:pPr algn="l" indent="0" marL="0">
              <a:lnSpc>
                <a:spcPct val="100000"/>
              </a:lnSpc>
              <a:buNone/>
            </a:pPr>
            <a:r>
              <a:rPr lang="en-US" sz="800" b="1" spc="110" kern="0" dirty="0">
                <a:solidFill>
                  <a:srgbClr val="ACC2CB"/>
                </a:solidFill>
                <a:latin typeface="Aptos" pitchFamily="34" charset="0"/>
                <a:ea typeface="Aptos" pitchFamily="34" charset="-122"/>
                <a:cs typeface="Aptos" pitchFamily="34" charset="-120"/>
              </a:rPr>
              <a:t>PLANNED OUTPUT</a:t>
            </a:r>
            <a:endParaRPr lang="en-US" sz="800" dirty="0"/>
          </a:p>
        </p:txBody>
      </p:sp>
      <p:sp>
        <p:nvSpPr>
          <p:cNvPr id="30" name="Shape 28"/>
          <p:cNvSpPr/>
          <p:nvPr/>
        </p:nvSpPr>
        <p:spPr>
          <a:xfrm>
            <a:off x="8394192" y="1901952"/>
            <a:ext cx="429768" cy="1069848"/>
          </a:xfrm>
          <a:prstGeom prst="line">
            <a:avLst/>
          </a:prstGeom>
          <a:noFill/>
          <a:ln w="15875">
            <a:solidFill>
              <a:srgbClr val="4D7B83"/>
            </a:solidFill>
            <a:prstDash val="solid"/>
          </a:ln>
        </p:spPr>
      </p:sp>
      <p:sp>
        <p:nvSpPr>
          <p:cNvPr id="31" name="Shape 29"/>
          <p:cNvSpPr/>
          <p:nvPr/>
        </p:nvSpPr>
        <p:spPr>
          <a:xfrm>
            <a:off x="6693408" y="2615184"/>
            <a:ext cx="1691640" cy="713232"/>
          </a:xfrm>
          <a:prstGeom prst="roundRect">
            <a:avLst>
              <a:gd name="adj" fmla="val 15385"/>
            </a:avLst>
          </a:prstGeom>
          <a:solidFill>
            <a:srgbClr val="1B3B4C"/>
          </a:solidFill>
          <a:ln w="9525">
            <a:solidFill>
              <a:srgbClr val="386073"/>
            </a:solidFill>
            <a:prstDash val="solid"/>
          </a:ln>
        </p:spPr>
      </p:sp>
      <p:sp>
        <p:nvSpPr>
          <p:cNvPr id="32" name="Shape 30"/>
          <p:cNvSpPr/>
          <p:nvPr/>
        </p:nvSpPr>
        <p:spPr>
          <a:xfrm>
            <a:off x="6858000" y="2825496"/>
            <a:ext cx="68580" cy="292608"/>
          </a:xfrm>
          <a:prstGeom prst="rect">
            <a:avLst>
              <a:gd name="adj" fmla="val 160000"/>
            </a:avLst>
          </a:prstGeom>
          <a:solidFill>
            <a:srgbClr val="17B8B3"/>
          </a:solidFill>
          <a:ln w="12700">
            <a:solidFill>
              <a:srgbClr val="17B8B3">
                <a:alpha val="0"/>
              </a:srgbClr>
            </a:solidFill>
            <a:prstDash val="solid"/>
          </a:ln>
        </p:spPr>
      </p:sp>
      <p:sp>
        <p:nvSpPr>
          <p:cNvPr id="33" name="Text 31"/>
          <p:cNvSpPr/>
          <p:nvPr/>
        </p:nvSpPr>
        <p:spPr>
          <a:xfrm>
            <a:off x="7031736" y="2734056"/>
            <a:ext cx="1115568" cy="219456"/>
          </a:xfrm>
          <a:prstGeom prst="rect">
            <a:avLst/>
          </a:prstGeom>
          <a:noFill/>
          <a:ln/>
        </p:spPr>
        <p:txBody>
          <a:bodyPr wrap="square" lIns="0" tIns="0" rIns="0" bIns="0" rtlCol="0" anchor="ctr">
            <a:normAutofit/>
          </a:bodyPr>
          <a:lstStyle/>
          <a:p>
            <a:pPr algn="l" indent="0" marL="0">
              <a:lnSpc>
                <a:spcPct val="100000"/>
              </a:lnSpc>
              <a:buNone/>
            </a:pPr>
            <a:r>
              <a:rPr lang="en-US" sz="1360" b="1" dirty="0">
                <a:solidFill>
                  <a:srgbClr val="FFFFFF"/>
                </a:solidFill>
                <a:latin typeface="Aptos" pitchFamily="34" charset="0"/>
                <a:ea typeface="Aptos" pitchFamily="34" charset="-122"/>
                <a:cs typeface="Aptos" pitchFamily="34" charset="-120"/>
              </a:rPr>
              <a:t>MES</a:t>
            </a:r>
            <a:endParaRPr lang="en-US" sz="1360" dirty="0"/>
          </a:p>
        </p:txBody>
      </p:sp>
      <p:sp>
        <p:nvSpPr>
          <p:cNvPr id="34" name="Text 32"/>
          <p:cNvSpPr/>
          <p:nvPr/>
        </p:nvSpPr>
        <p:spPr>
          <a:xfrm>
            <a:off x="7031736" y="3026664"/>
            <a:ext cx="1216152" cy="137160"/>
          </a:xfrm>
          <a:prstGeom prst="rect">
            <a:avLst/>
          </a:prstGeom>
          <a:noFill/>
          <a:ln/>
        </p:spPr>
        <p:txBody>
          <a:bodyPr wrap="square" lIns="0" tIns="0" rIns="0" bIns="0" rtlCol="0" anchor="ctr">
            <a:normAutofit/>
          </a:bodyPr>
          <a:lstStyle/>
          <a:p>
            <a:pPr algn="l" indent="0" marL="0">
              <a:lnSpc>
                <a:spcPct val="100000"/>
              </a:lnSpc>
              <a:buNone/>
            </a:pPr>
            <a:r>
              <a:rPr lang="en-US" sz="800" b="1" spc="110" kern="0" dirty="0">
                <a:solidFill>
                  <a:srgbClr val="ACC2CB"/>
                </a:solidFill>
                <a:latin typeface="Aptos" pitchFamily="34" charset="0"/>
                <a:ea typeface="Aptos" pitchFamily="34" charset="-122"/>
                <a:cs typeface="Aptos" pitchFamily="34" charset="-120"/>
              </a:rPr>
              <a:t>ACTUAL OUTPUT</a:t>
            </a:r>
            <a:endParaRPr lang="en-US" sz="800" dirty="0"/>
          </a:p>
        </p:txBody>
      </p:sp>
      <p:sp>
        <p:nvSpPr>
          <p:cNvPr id="35" name="Shape 33"/>
          <p:cNvSpPr/>
          <p:nvPr/>
        </p:nvSpPr>
        <p:spPr>
          <a:xfrm>
            <a:off x="8394192" y="2980944"/>
            <a:ext cx="429768" cy="-9144"/>
          </a:xfrm>
          <a:prstGeom prst="line">
            <a:avLst/>
          </a:prstGeom>
          <a:noFill/>
          <a:ln w="15875">
            <a:solidFill>
              <a:srgbClr val="4D7B83"/>
            </a:solidFill>
            <a:prstDash val="solid"/>
          </a:ln>
        </p:spPr>
      </p:sp>
      <p:sp>
        <p:nvSpPr>
          <p:cNvPr id="36" name="Shape 34"/>
          <p:cNvSpPr/>
          <p:nvPr/>
        </p:nvSpPr>
        <p:spPr>
          <a:xfrm>
            <a:off x="6693408" y="3694176"/>
            <a:ext cx="1691640" cy="713232"/>
          </a:xfrm>
          <a:prstGeom prst="roundRect">
            <a:avLst>
              <a:gd name="adj" fmla="val 15385"/>
            </a:avLst>
          </a:prstGeom>
          <a:solidFill>
            <a:srgbClr val="1B3B4C"/>
          </a:solidFill>
          <a:ln w="9525">
            <a:solidFill>
              <a:srgbClr val="386073"/>
            </a:solidFill>
            <a:prstDash val="solid"/>
          </a:ln>
        </p:spPr>
      </p:sp>
      <p:sp>
        <p:nvSpPr>
          <p:cNvPr id="37" name="Shape 35"/>
          <p:cNvSpPr/>
          <p:nvPr/>
        </p:nvSpPr>
        <p:spPr>
          <a:xfrm>
            <a:off x="6858000" y="3904488"/>
            <a:ext cx="68580" cy="292608"/>
          </a:xfrm>
          <a:prstGeom prst="rect">
            <a:avLst>
              <a:gd name="adj" fmla="val 160000"/>
            </a:avLst>
          </a:prstGeom>
          <a:solidFill>
            <a:srgbClr val="E7A03E"/>
          </a:solidFill>
          <a:ln w="12700">
            <a:solidFill>
              <a:srgbClr val="E7A03E">
                <a:alpha val="0"/>
              </a:srgbClr>
            </a:solidFill>
            <a:prstDash val="solid"/>
          </a:ln>
        </p:spPr>
      </p:sp>
      <p:sp>
        <p:nvSpPr>
          <p:cNvPr id="38" name="Text 36"/>
          <p:cNvSpPr/>
          <p:nvPr/>
        </p:nvSpPr>
        <p:spPr>
          <a:xfrm>
            <a:off x="7031736" y="3813048"/>
            <a:ext cx="1115568" cy="219456"/>
          </a:xfrm>
          <a:prstGeom prst="rect">
            <a:avLst/>
          </a:prstGeom>
          <a:noFill/>
          <a:ln/>
        </p:spPr>
        <p:txBody>
          <a:bodyPr wrap="square" lIns="0" tIns="0" rIns="0" bIns="0" rtlCol="0" anchor="ctr">
            <a:normAutofit/>
          </a:bodyPr>
          <a:lstStyle/>
          <a:p>
            <a:pPr algn="l" indent="0" marL="0">
              <a:lnSpc>
                <a:spcPct val="100000"/>
              </a:lnSpc>
              <a:buNone/>
            </a:pPr>
            <a:r>
              <a:rPr lang="en-US" sz="1360" b="1" dirty="0">
                <a:solidFill>
                  <a:srgbClr val="FFFFFF"/>
                </a:solidFill>
                <a:latin typeface="Aptos" pitchFamily="34" charset="0"/>
                <a:ea typeface="Aptos" pitchFamily="34" charset="-122"/>
                <a:cs typeface="Aptos" pitchFamily="34" charset="-120"/>
              </a:rPr>
              <a:t>ENERGY</a:t>
            </a:r>
            <a:endParaRPr lang="en-US" sz="1360" dirty="0"/>
          </a:p>
        </p:txBody>
      </p:sp>
      <p:sp>
        <p:nvSpPr>
          <p:cNvPr id="39" name="Text 37"/>
          <p:cNvSpPr/>
          <p:nvPr/>
        </p:nvSpPr>
        <p:spPr>
          <a:xfrm>
            <a:off x="7031736" y="4105656"/>
            <a:ext cx="1216152" cy="137160"/>
          </a:xfrm>
          <a:prstGeom prst="rect">
            <a:avLst/>
          </a:prstGeom>
          <a:noFill/>
          <a:ln/>
        </p:spPr>
        <p:txBody>
          <a:bodyPr wrap="square" lIns="0" tIns="0" rIns="0" bIns="0" rtlCol="0" anchor="ctr">
            <a:normAutofit/>
          </a:bodyPr>
          <a:lstStyle/>
          <a:p>
            <a:pPr algn="l" indent="0" marL="0">
              <a:lnSpc>
                <a:spcPct val="100000"/>
              </a:lnSpc>
              <a:buNone/>
            </a:pPr>
            <a:r>
              <a:rPr lang="en-US" sz="800" b="1" spc="110" kern="0" dirty="0">
                <a:solidFill>
                  <a:srgbClr val="ACC2CB"/>
                </a:solidFill>
                <a:latin typeface="Aptos" pitchFamily="34" charset="0"/>
                <a:ea typeface="Aptos" pitchFamily="34" charset="-122"/>
                <a:cs typeface="Aptos" pitchFamily="34" charset="-120"/>
              </a:rPr>
              <a:t>METER DATA</a:t>
            </a:r>
            <a:endParaRPr lang="en-US" sz="800" dirty="0"/>
          </a:p>
        </p:txBody>
      </p:sp>
      <p:sp>
        <p:nvSpPr>
          <p:cNvPr id="40" name="Shape 38"/>
          <p:cNvSpPr/>
          <p:nvPr/>
        </p:nvSpPr>
        <p:spPr>
          <a:xfrm>
            <a:off x="8394192" y="4059936"/>
            <a:ext cx="429768" cy="-1088136"/>
          </a:xfrm>
          <a:prstGeom prst="line">
            <a:avLst/>
          </a:prstGeom>
          <a:noFill/>
          <a:ln w="15875">
            <a:solidFill>
              <a:srgbClr val="4D7B83"/>
            </a:solidFill>
            <a:prstDash val="solid"/>
          </a:ln>
        </p:spPr>
      </p:sp>
      <p:sp>
        <p:nvSpPr>
          <p:cNvPr id="41" name="Shape 39"/>
          <p:cNvSpPr/>
          <p:nvPr/>
        </p:nvSpPr>
        <p:spPr>
          <a:xfrm>
            <a:off x="8842248" y="2395728"/>
            <a:ext cx="1143000" cy="1143000"/>
          </a:xfrm>
          <a:prstGeom prst="ellipse">
            <a:avLst/>
          </a:prstGeom>
          <a:solidFill>
            <a:srgbClr val="1D5360"/>
          </a:solidFill>
          <a:ln w="12700">
            <a:solidFill>
              <a:srgbClr val="3E8588"/>
            </a:solidFill>
            <a:prstDash val="solid"/>
          </a:ln>
        </p:spPr>
      </p:sp>
      <p:sp>
        <p:nvSpPr>
          <p:cNvPr id="42" name="Shape 40"/>
          <p:cNvSpPr/>
          <p:nvPr/>
        </p:nvSpPr>
        <p:spPr>
          <a:xfrm>
            <a:off x="8970264" y="2523744"/>
            <a:ext cx="886968" cy="886968"/>
          </a:xfrm>
          <a:prstGeom prst="ellipse">
            <a:avLst/>
          </a:prstGeom>
          <a:solidFill>
            <a:srgbClr val="0A777A"/>
          </a:solidFill>
          <a:ln w="12700">
            <a:solidFill>
              <a:srgbClr val="0A777A">
                <a:alpha val="0"/>
              </a:srgbClr>
            </a:solidFill>
            <a:prstDash val="solid"/>
          </a:ln>
        </p:spPr>
      </p:sp>
      <p:sp>
        <p:nvSpPr>
          <p:cNvPr id="43" name="Text 41"/>
          <p:cNvSpPr/>
          <p:nvPr/>
        </p:nvSpPr>
        <p:spPr>
          <a:xfrm>
            <a:off x="9162288" y="2734056"/>
            <a:ext cx="493776" cy="329184"/>
          </a:xfrm>
          <a:prstGeom prst="rect">
            <a:avLst/>
          </a:prstGeom>
          <a:noFill/>
          <a:ln/>
        </p:spPr>
        <p:txBody>
          <a:bodyPr wrap="square" lIns="0" tIns="0" rIns="0" bIns="0" rtlCol="0" anchor="ctr">
            <a:normAutofit/>
          </a:bodyPr>
          <a:lstStyle/>
          <a:p>
            <a:pPr algn="ctr" indent="0" marL="0">
              <a:lnSpc>
                <a:spcPct val="100000"/>
              </a:lnSpc>
              <a:buNone/>
            </a:pPr>
            <a:r>
              <a:rPr lang="en-US" sz="2800" b="1" dirty="0">
                <a:solidFill>
                  <a:srgbClr val="FFFFFF"/>
                </a:solidFill>
                <a:latin typeface="Aptos" pitchFamily="34" charset="0"/>
                <a:ea typeface="Aptos" pitchFamily="34" charset="-122"/>
                <a:cs typeface="Aptos" pitchFamily="34" charset="-120"/>
              </a:rPr>
              <a:t>✓</a:t>
            </a:r>
            <a:endParaRPr lang="en-US" sz="2800" dirty="0"/>
          </a:p>
        </p:txBody>
      </p:sp>
      <p:sp>
        <p:nvSpPr>
          <p:cNvPr id="44" name="Text 42"/>
          <p:cNvSpPr/>
          <p:nvPr/>
        </p:nvSpPr>
        <p:spPr>
          <a:xfrm>
            <a:off x="8769096" y="3776472"/>
            <a:ext cx="1280160" cy="274320"/>
          </a:xfrm>
          <a:prstGeom prst="rect">
            <a:avLst/>
          </a:prstGeom>
          <a:noFill/>
          <a:ln/>
        </p:spPr>
        <p:txBody>
          <a:bodyPr wrap="square" lIns="0" tIns="0" rIns="0" bIns="0" rtlCol="0" anchor="ctr">
            <a:normAutofit/>
          </a:bodyPr>
          <a:lstStyle/>
          <a:p>
            <a:pPr algn="ctr" indent="0" marL="0">
              <a:lnSpc>
                <a:spcPct val="100000"/>
              </a:lnSpc>
              <a:buNone/>
            </a:pPr>
            <a:r>
              <a:rPr lang="en-US" sz="1110" b="1" spc="110" kern="0" dirty="0">
                <a:solidFill>
                  <a:srgbClr val="17B8B3"/>
                </a:solidFill>
                <a:latin typeface="Aptos" pitchFamily="34" charset="0"/>
                <a:ea typeface="Aptos" pitchFamily="34" charset="-122"/>
                <a:cs typeface="Aptos" pitchFamily="34" charset="-120"/>
              </a:rPr>
              <a:t>VALIDATE</a:t>
            </a:r>
            <a:endParaRPr lang="en-US" sz="1110" dirty="0"/>
          </a:p>
        </p:txBody>
      </p:sp>
      <p:sp>
        <p:nvSpPr>
          <p:cNvPr id="45" name="Shape 43"/>
          <p:cNvSpPr/>
          <p:nvPr/>
        </p:nvSpPr>
        <p:spPr>
          <a:xfrm>
            <a:off x="10003536" y="2962656"/>
            <a:ext cx="438912" cy="0"/>
          </a:xfrm>
          <a:prstGeom prst="line">
            <a:avLst/>
          </a:prstGeom>
          <a:noFill/>
          <a:ln w="35560">
            <a:solidFill>
              <a:srgbClr val="17B8B3"/>
            </a:solidFill>
            <a:prstDash val="solid"/>
            <a:tailEnd type="triangle"/>
          </a:ln>
        </p:spPr>
      </p:sp>
      <p:sp>
        <p:nvSpPr>
          <p:cNvPr id="46" name="Shape 44"/>
          <p:cNvSpPr/>
          <p:nvPr/>
        </p:nvSpPr>
        <p:spPr>
          <a:xfrm>
            <a:off x="10488168" y="2048256"/>
            <a:ext cx="1325880" cy="1865376"/>
          </a:xfrm>
          <a:prstGeom prst="roundRect">
            <a:avLst>
              <a:gd name="adj" fmla="val 8276"/>
            </a:avLst>
          </a:prstGeom>
          <a:solidFill>
            <a:srgbClr val="E8F1F3"/>
          </a:solidFill>
          <a:ln w="9525">
            <a:solidFill>
              <a:srgbClr val="D5E5E9"/>
            </a:solidFill>
            <a:prstDash val="solid"/>
          </a:ln>
        </p:spPr>
      </p:sp>
      <p:sp>
        <p:nvSpPr>
          <p:cNvPr id="47" name="Shape 45"/>
          <p:cNvSpPr/>
          <p:nvPr/>
        </p:nvSpPr>
        <p:spPr>
          <a:xfrm>
            <a:off x="10625328" y="2240280"/>
            <a:ext cx="1051560" cy="173736"/>
          </a:xfrm>
          <a:prstGeom prst="roundRect">
            <a:avLst>
              <a:gd name="adj" fmla="val 63158"/>
            </a:avLst>
          </a:prstGeom>
          <a:solidFill>
            <a:srgbClr val="B5D0D7"/>
          </a:solidFill>
          <a:ln w="12700">
            <a:solidFill>
              <a:srgbClr val="B5D0D7">
                <a:alpha val="0"/>
              </a:srgbClr>
            </a:solidFill>
            <a:prstDash val="solid"/>
          </a:ln>
        </p:spPr>
      </p:sp>
      <p:sp>
        <p:nvSpPr>
          <p:cNvPr id="48" name="Shape 46"/>
          <p:cNvSpPr/>
          <p:nvPr/>
        </p:nvSpPr>
        <p:spPr>
          <a:xfrm>
            <a:off x="10634472" y="2578608"/>
            <a:ext cx="256032" cy="283464"/>
          </a:xfrm>
          <a:prstGeom prst="roundRect">
            <a:avLst>
              <a:gd name="adj" fmla="val 42857"/>
            </a:avLst>
          </a:prstGeom>
          <a:solidFill>
            <a:srgbClr val="91D6D2"/>
          </a:solidFill>
          <a:ln w="12700">
            <a:solidFill>
              <a:srgbClr val="91D6D2">
                <a:alpha val="0"/>
              </a:srgbClr>
            </a:solidFill>
            <a:prstDash val="solid"/>
          </a:ln>
        </p:spPr>
      </p:sp>
      <p:sp>
        <p:nvSpPr>
          <p:cNvPr id="49" name="Shape 47"/>
          <p:cNvSpPr/>
          <p:nvPr/>
        </p:nvSpPr>
        <p:spPr>
          <a:xfrm>
            <a:off x="10981944" y="2578608"/>
            <a:ext cx="256032" cy="283464"/>
          </a:xfrm>
          <a:prstGeom prst="roundRect">
            <a:avLst>
              <a:gd name="adj" fmla="val 42857"/>
            </a:avLst>
          </a:prstGeom>
          <a:solidFill>
            <a:srgbClr val="ADD4EC"/>
          </a:solidFill>
          <a:ln w="12700">
            <a:solidFill>
              <a:srgbClr val="ADD4EC">
                <a:alpha val="0"/>
              </a:srgbClr>
            </a:solidFill>
            <a:prstDash val="solid"/>
          </a:ln>
        </p:spPr>
      </p:sp>
      <p:sp>
        <p:nvSpPr>
          <p:cNvPr id="50" name="Shape 48"/>
          <p:cNvSpPr/>
          <p:nvPr/>
        </p:nvSpPr>
        <p:spPr>
          <a:xfrm>
            <a:off x="11329416" y="2578608"/>
            <a:ext cx="256032" cy="283464"/>
          </a:xfrm>
          <a:prstGeom prst="roundRect">
            <a:avLst>
              <a:gd name="adj" fmla="val 42857"/>
            </a:avLst>
          </a:prstGeom>
          <a:solidFill>
            <a:srgbClr val="C6DFDA"/>
          </a:solidFill>
          <a:ln w="12700">
            <a:solidFill>
              <a:srgbClr val="C6DFDA">
                <a:alpha val="0"/>
              </a:srgbClr>
            </a:solidFill>
            <a:prstDash val="solid"/>
          </a:ln>
        </p:spPr>
      </p:sp>
      <p:sp>
        <p:nvSpPr>
          <p:cNvPr id="51" name="Shape 49"/>
          <p:cNvSpPr/>
          <p:nvPr/>
        </p:nvSpPr>
        <p:spPr>
          <a:xfrm>
            <a:off x="10661904" y="3264408"/>
            <a:ext cx="155448" cy="393192"/>
          </a:xfrm>
          <a:prstGeom prst="rect">
            <a:avLst>
              <a:gd name="adj" fmla="val 70588"/>
            </a:avLst>
          </a:prstGeom>
          <a:solidFill>
            <a:srgbClr val="078E96"/>
          </a:solidFill>
          <a:ln w="12700">
            <a:solidFill>
              <a:srgbClr val="078E96">
                <a:alpha val="0"/>
              </a:srgbClr>
            </a:solidFill>
            <a:prstDash val="solid"/>
          </a:ln>
        </p:spPr>
      </p:sp>
      <p:sp>
        <p:nvSpPr>
          <p:cNvPr id="52" name="Shape 50"/>
          <p:cNvSpPr/>
          <p:nvPr/>
        </p:nvSpPr>
        <p:spPr>
          <a:xfrm>
            <a:off x="10899648" y="3044952"/>
            <a:ext cx="155448" cy="612648"/>
          </a:xfrm>
          <a:prstGeom prst="rect">
            <a:avLst>
              <a:gd name="adj" fmla="val 70588"/>
            </a:avLst>
          </a:prstGeom>
          <a:solidFill>
            <a:srgbClr val="078E96"/>
          </a:solidFill>
          <a:ln w="12700">
            <a:solidFill>
              <a:srgbClr val="078E96">
                <a:alpha val="0"/>
              </a:srgbClr>
            </a:solidFill>
            <a:prstDash val="solid"/>
          </a:ln>
        </p:spPr>
      </p:sp>
      <p:sp>
        <p:nvSpPr>
          <p:cNvPr id="53" name="Shape 51"/>
          <p:cNvSpPr/>
          <p:nvPr/>
        </p:nvSpPr>
        <p:spPr>
          <a:xfrm>
            <a:off x="11137392" y="2862072"/>
            <a:ext cx="155448" cy="795528"/>
          </a:xfrm>
          <a:prstGeom prst="rect">
            <a:avLst>
              <a:gd name="adj" fmla="val 70588"/>
            </a:avLst>
          </a:prstGeom>
          <a:solidFill>
            <a:srgbClr val="078E96"/>
          </a:solidFill>
          <a:ln w="12700">
            <a:solidFill>
              <a:srgbClr val="078E96">
                <a:alpha val="0"/>
              </a:srgbClr>
            </a:solidFill>
            <a:prstDash val="solid"/>
          </a:ln>
        </p:spPr>
      </p:sp>
      <p:sp>
        <p:nvSpPr>
          <p:cNvPr id="54" name="Shape 52"/>
          <p:cNvSpPr/>
          <p:nvPr/>
        </p:nvSpPr>
        <p:spPr>
          <a:xfrm>
            <a:off x="11375136" y="3163824"/>
            <a:ext cx="155448" cy="493776"/>
          </a:xfrm>
          <a:prstGeom prst="rect">
            <a:avLst>
              <a:gd name="adj" fmla="val 70588"/>
            </a:avLst>
          </a:prstGeom>
          <a:solidFill>
            <a:srgbClr val="078E96"/>
          </a:solidFill>
          <a:ln w="12700">
            <a:solidFill>
              <a:srgbClr val="078E96">
                <a:alpha val="0"/>
              </a:srgbClr>
            </a:solidFill>
            <a:prstDash val="solid"/>
          </a:ln>
        </p:spPr>
      </p:sp>
      <p:sp>
        <p:nvSpPr>
          <p:cNvPr id="55" name="Text 53"/>
          <p:cNvSpPr/>
          <p:nvPr/>
        </p:nvSpPr>
        <p:spPr>
          <a:xfrm>
            <a:off x="10570464" y="4206240"/>
            <a:ext cx="1143000" cy="292608"/>
          </a:xfrm>
          <a:prstGeom prst="rect">
            <a:avLst/>
          </a:prstGeom>
          <a:noFill/>
          <a:ln/>
        </p:spPr>
        <p:txBody>
          <a:bodyPr wrap="square" lIns="0" tIns="0" rIns="0" bIns="0" rtlCol="0" anchor="ctr">
            <a:normAutofit/>
          </a:bodyPr>
          <a:lstStyle/>
          <a:p>
            <a:pPr algn="ctr" indent="0" marL="0">
              <a:lnSpc>
                <a:spcPct val="100000"/>
              </a:lnSpc>
              <a:buNone/>
            </a:pPr>
            <a:r>
              <a:rPr lang="en-US" sz="1050" b="1" spc="100" kern="0" dirty="0">
                <a:solidFill>
                  <a:srgbClr val="081B2A"/>
                </a:solidFill>
                <a:latin typeface="Aptos" pitchFamily="34" charset="0"/>
                <a:ea typeface="Aptos" pitchFamily="34" charset="-122"/>
                <a:cs typeface="Aptos" pitchFamily="34" charset="-120"/>
              </a:rPr>
              <a:t>DECIDE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gd name="adj" fmla="val 160000"/>
            </a:avLst>
          </a:prstGeom>
          <a:solidFill>
            <a:srgbClr val="102738"/>
          </a:solidFill>
          <a:ln w="12700">
            <a:solidFill>
              <a:srgbClr val="102738">
                <a:alpha val="0"/>
              </a:srgbClr>
            </a:solidFill>
            <a:prstDash val="solid"/>
          </a:ln>
        </p:spPr>
      </p:sp>
      <p:sp>
        <p:nvSpPr>
          <p:cNvPr id="3" name="Shape 1"/>
          <p:cNvSpPr/>
          <p:nvPr/>
        </p:nvSpPr>
        <p:spPr>
          <a:xfrm>
            <a:off x="0" y="0"/>
            <a:ext cx="2709266" cy="68580"/>
          </a:xfrm>
          <a:prstGeom prst="rect">
            <a:avLst>
              <a:gd name="adj" fmla="val 160000"/>
            </a:avLst>
          </a:prstGeom>
          <a:solidFill>
            <a:srgbClr val="17B8B3"/>
          </a:solidFill>
          <a:ln w="12700">
            <a:solidFill>
              <a:srgbClr val="17B8B3">
                <a:alpha val="0"/>
              </a:srgbClr>
            </a:solidFill>
            <a:prstDash val="solid"/>
          </a:ln>
        </p:spPr>
      </p:sp>
      <p:sp>
        <p:nvSpPr>
          <p:cNvPr id="4" name="Text 2"/>
          <p:cNvSpPr/>
          <p:nvPr/>
        </p:nvSpPr>
        <p:spPr>
          <a:xfrm>
            <a:off x="585216" y="256032"/>
            <a:ext cx="8686800" cy="219456"/>
          </a:xfrm>
          <a:prstGeom prst="rect">
            <a:avLst/>
          </a:prstGeom>
          <a:noFill/>
          <a:ln/>
        </p:spPr>
        <p:txBody>
          <a:bodyPr wrap="square" lIns="0" tIns="0" rIns="0" bIns="0" rtlCol="0" anchor="ctr">
            <a:normAutofit/>
          </a:bodyPr>
          <a:lstStyle/>
          <a:p>
            <a:pPr algn="l" indent="0" marL="0">
              <a:lnSpc>
                <a:spcPct val="100000"/>
              </a:lnSpc>
              <a:buNone/>
            </a:pPr>
            <a:r>
              <a:rPr lang="en-US" sz="910" b="1" spc="120" kern="0" dirty="0">
                <a:solidFill>
                  <a:srgbClr val="627889"/>
                </a:solidFill>
                <a:latin typeface="Aptos" pitchFamily="34" charset="0"/>
                <a:ea typeface="Aptos" pitchFamily="34" charset="-122"/>
                <a:cs typeface="Aptos" pitchFamily="34" charset="-120"/>
              </a:rPr>
              <a:t>GLASSOPS 360  /  DATA SOURCES</a:t>
            </a:r>
            <a:endParaRPr lang="en-US" sz="910" dirty="0"/>
          </a:p>
        </p:txBody>
      </p:sp>
      <p:sp>
        <p:nvSpPr>
          <p:cNvPr id="5" name="Text 3"/>
          <p:cNvSpPr/>
          <p:nvPr/>
        </p:nvSpPr>
        <p:spPr>
          <a:xfrm>
            <a:off x="594360" y="658368"/>
            <a:ext cx="10607040" cy="493776"/>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02738"/>
                </a:solidFill>
                <a:latin typeface="Aptos" pitchFamily="34" charset="0"/>
                <a:ea typeface="Aptos" pitchFamily="34" charset="-122"/>
                <a:cs typeface="Aptos" pitchFamily="34" charset="-120"/>
              </a:rPr>
              <a:t>Three operational sources. One business question.</a:t>
            </a:r>
            <a:endParaRPr lang="en-US" sz="3000" dirty="0"/>
          </a:p>
        </p:txBody>
      </p:sp>
      <p:sp>
        <p:nvSpPr>
          <p:cNvPr id="6" name="Text 4"/>
          <p:cNvSpPr/>
          <p:nvPr/>
        </p:nvSpPr>
        <p:spPr>
          <a:xfrm>
            <a:off x="603504" y="1225296"/>
            <a:ext cx="10927080" cy="329184"/>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627889"/>
                </a:solidFill>
                <a:latin typeface="Aptos" pitchFamily="34" charset="0"/>
                <a:ea typeface="Aptos" pitchFamily="34" charset="-122"/>
                <a:cs typeface="Aptos" pitchFamily="34" charset="-120"/>
              </a:rPr>
              <a:t>The inputs are independent extracts, with different fields and levels of detail.</a:t>
            </a:r>
            <a:endParaRPr lang="en-US" sz="1350" dirty="0"/>
          </a:p>
        </p:txBody>
      </p:sp>
      <p:sp>
        <p:nvSpPr>
          <p:cNvPr id="7" name="Shape 5"/>
          <p:cNvSpPr/>
          <p:nvPr/>
        </p:nvSpPr>
        <p:spPr>
          <a:xfrm>
            <a:off x="594360" y="6382512"/>
            <a:ext cx="11018520" cy="0"/>
          </a:xfrm>
          <a:prstGeom prst="line">
            <a:avLst/>
          </a:prstGeom>
          <a:noFill/>
          <a:ln w="11430">
            <a:solidFill>
              <a:srgbClr val="DCE6ED"/>
            </a:solidFill>
            <a:prstDash val="solid"/>
          </a:ln>
        </p:spPr>
      </p:sp>
      <p:sp>
        <p:nvSpPr>
          <p:cNvPr id="8" name="Text 6"/>
          <p:cNvSpPr/>
          <p:nvPr/>
        </p:nvSpPr>
        <p:spPr>
          <a:xfrm>
            <a:off x="594360" y="6492240"/>
            <a:ext cx="9784080" cy="164592"/>
          </a:xfrm>
          <a:prstGeom prst="rect">
            <a:avLst/>
          </a:prstGeom>
          <a:noFill/>
          <a:ln/>
        </p:spPr>
        <p:txBody>
          <a:bodyPr wrap="square" lIns="0" tIns="0" rIns="0" bIns="0" rtlCol="0" anchor="ctr">
            <a:normAutofit/>
          </a:bodyPr>
          <a:lstStyle/>
          <a:p>
            <a:pPr algn="l" indent="0" marL="0">
              <a:lnSpc>
                <a:spcPct val="100000"/>
              </a:lnSpc>
              <a:buNone/>
            </a:pPr>
            <a:r>
              <a:rPr lang="en-US" sz="830" dirty="0">
                <a:solidFill>
                  <a:srgbClr val="8DA1AE"/>
                </a:solidFill>
                <a:latin typeface="Aptos" pitchFamily="34" charset="0"/>
                <a:ea typeface="Aptos" pitchFamily="34" charset="-122"/>
                <a:cs typeface="Aptos" pitchFamily="34" charset="-120"/>
              </a:rPr>
              <a:t>SYNTHETIC PORTFOLIO DEMO  ·  NOT A REAL COMPANY OR SAP SYSTEM</a:t>
            </a:r>
            <a:endParaRPr lang="en-US" sz="830" dirty="0"/>
          </a:p>
        </p:txBody>
      </p:sp>
      <p:sp>
        <p:nvSpPr>
          <p:cNvPr id="9" name="Text 7"/>
          <p:cNvSpPr/>
          <p:nvPr/>
        </p:nvSpPr>
        <p:spPr>
          <a:xfrm>
            <a:off x="10652760" y="6473952"/>
            <a:ext cx="914400" cy="201168"/>
          </a:xfrm>
          <a:prstGeom prst="rect">
            <a:avLst/>
          </a:prstGeom>
          <a:noFill/>
          <a:ln/>
        </p:spPr>
        <p:txBody>
          <a:bodyPr wrap="square" lIns="0" tIns="0" rIns="0" bIns="0" rtlCol="0" anchor="ctr">
            <a:normAutofit/>
          </a:bodyPr>
          <a:lstStyle/>
          <a:p>
            <a:pPr algn="r" indent="0" marL="0">
              <a:lnSpc>
                <a:spcPct val="100000"/>
              </a:lnSpc>
              <a:buNone/>
            </a:pPr>
            <a:r>
              <a:rPr lang="en-US" sz="910" b="1" dirty="0">
                <a:solidFill>
                  <a:srgbClr val="627889"/>
                </a:solidFill>
                <a:latin typeface="Aptos" pitchFamily="34" charset="0"/>
                <a:ea typeface="Aptos" pitchFamily="34" charset="-122"/>
                <a:cs typeface="Aptos" pitchFamily="34" charset="-120"/>
              </a:rPr>
              <a:t>02 / 09</a:t>
            </a:r>
            <a:endParaRPr lang="en-US" sz="910" dirty="0"/>
          </a:p>
        </p:txBody>
      </p:sp>
      <p:sp>
        <p:nvSpPr>
          <p:cNvPr id="10" name="Shape 8"/>
          <p:cNvSpPr/>
          <p:nvPr/>
        </p:nvSpPr>
        <p:spPr>
          <a:xfrm>
            <a:off x="626364" y="1849831"/>
            <a:ext cx="3474720" cy="3328416"/>
          </a:xfrm>
          <a:prstGeom prst="roundRect">
            <a:avLst>
              <a:gd name="adj" fmla="val 3297"/>
            </a:avLst>
          </a:prstGeom>
          <a:solidFill>
            <a:srgbClr val="DCE7EC">
              <a:alpha val="50000"/>
            </a:srgbClr>
          </a:solidFill>
          <a:ln w="12700">
            <a:solidFill>
              <a:srgbClr val="DCE7EC">
                <a:alpha val="0"/>
              </a:srgbClr>
            </a:solidFill>
            <a:prstDash val="solid"/>
          </a:ln>
        </p:spPr>
      </p:sp>
      <p:sp>
        <p:nvSpPr>
          <p:cNvPr id="11" name="Shape 9"/>
          <p:cNvSpPr/>
          <p:nvPr/>
        </p:nvSpPr>
        <p:spPr>
          <a:xfrm>
            <a:off x="603504" y="1810512"/>
            <a:ext cx="3474720" cy="3328416"/>
          </a:xfrm>
          <a:prstGeom prst="roundRect">
            <a:avLst>
              <a:gd name="adj" fmla="val 3297"/>
            </a:avLst>
          </a:prstGeom>
          <a:solidFill>
            <a:srgbClr val="FFFFFF"/>
          </a:solidFill>
          <a:ln w="8890">
            <a:solidFill>
              <a:srgbClr val="DCE6ED"/>
            </a:solidFill>
            <a:prstDash val="solid"/>
          </a:ln>
        </p:spPr>
      </p:sp>
      <p:sp>
        <p:nvSpPr>
          <p:cNvPr id="12" name="Shape 10"/>
          <p:cNvSpPr/>
          <p:nvPr/>
        </p:nvSpPr>
        <p:spPr>
          <a:xfrm>
            <a:off x="603504" y="1810512"/>
            <a:ext cx="3474720" cy="77724"/>
          </a:xfrm>
          <a:prstGeom prst="rect">
            <a:avLst>
              <a:gd name="adj" fmla="val 141176"/>
            </a:avLst>
          </a:prstGeom>
          <a:solidFill>
            <a:srgbClr val="4074E8"/>
          </a:solidFill>
          <a:ln w="12700">
            <a:solidFill>
              <a:srgbClr val="4074E8">
                <a:alpha val="0"/>
              </a:srgbClr>
            </a:solidFill>
            <a:prstDash val="solid"/>
          </a:ln>
        </p:spPr>
      </p:sp>
      <p:sp>
        <p:nvSpPr>
          <p:cNvPr id="13" name="Shape 11"/>
          <p:cNvSpPr/>
          <p:nvPr/>
        </p:nvSpPr>
        <p:spPr>
          <a:xfrm>
            <a:off x="859536" y="2130552"/>
            <a:ext cx="530352" cy="530352"/>
          </a:xfrm>
          <a:prstGeom prst="ellipse">
            <a:avLst/>
          </a:prstGeom>
          <a:solidFill>
            <a:srgbClr val="EAF1FE"/>
          </a:solidFill>
          <a:ln w="12700">
            <a:solidFill>
              <a:srgbClr val="EAF1FE">
                <a:alpha val="0"/>
              </a:srgbClr>
            </a:solidFill>
            <a:prstDash val="solid"/>
          </a:ln>
        </p:spPr>
      </p:sp>
      <p:sp>
        <p:nvSpPr>
          <p:cNvPr id="14" name="Text 12"/>
          <p:cNvSpPr/>
          <p:nvPr/>
        </p:nvSpPr>
        <p:spPr>
          <a:xfrm>
            <a:off x="909828" y="2276856"/>
            <a:ext cx="411480" cy="182880"/>
          </a:xfrm>
          <a:prstGeom prst="rect">
            <a:avLst/>
          </a:prstGeom>
          <a:noFill/>
          <a:ln/>
        </p:spPr>
        <p:txBody>
          <a:bodyPr wrap="square" lIns="0" tIns="0" rIns="0" bIns="0" rtlCol="0" anchor="ctr">
            <a:normAutofit/>
          </a:bodyPr>
          <a:lstStyle/>
          <a:p>
            <a:pPr algn="ctr" indent="0" marL="0">
              <a:lnSpc>
                <a:spcPct val="100000"/>
              </a:lnSpc>
              <a:buNone/>
            </a:pPr>
            <a:r>
              <a:rPr lang="en-US" sz="1150" b="1" dirty="0">
                <a:solidFill>
                  <a:srgbClr val="4074E8"/>
                </a:solidFill>
                <a:latin typeface="Aptos" pitchFamily="34" charset="0"/>
                <a:ea typeface="Aptos" pitchFamily="34" charset="-122"/>
                <a:cs typeface="Aptos" pitchFamily="34" charset="-120"/>
              </a:rPr>
              <a:t>01</a:t>
            </a:r>
            <a:endParaRPr lang="en-US" sz="1150" dirty="0"/>
          </a:p>
        </p:txBody>
      </p:sp>
      <p:sp>
        <p:nvSpPr>
          <p:cNvPr id="15" name="Text 13"/>
          <p:cNvSpPr/>
          <p:nvPr/>
        </p:nvSpPr>
        <p:spPr>
          <a:xfrm>
            <a:off x="1517904" y="2130552"/>
            <a:ext cx="2148840" cy="356616"/>
          </a:xfrm>
          <a:prstGeom prst="rect">
            <a:avLst/>
          </a:prstGeom>
          <a:noFill/>
          <a:ln/>
        </p:spPr>
        <p:txBody>
          <a:bodyPr wrap="square" lIns="0" tIns="0" rIns="0" bIns="0" rtlCol="0" anchor="ctr">
            <a:normAutofit/>
          </a:bodyPr>
          <a:lstStyle/>
          <a:p>
            <a:pPr algn="l" indent="0" marL="0">
              <a:lnSpc>
                <a:spcPct val="100000"/>
              </a:lnSpc>
              <a:buNone/>
            </a:pPr>
            <a:r>
              <a:rPr lang="en-US" sz="2500" b="1" dirty="0">
                <a:solidFill>
                  <a:srgbClr val="102738"/>
                </a:solidFill>
                <a:latin typeface="Aptos" pitchFamily="34" charset="0"/>
                <a:ea typeface="Aptos" pitchFamily="34" charset="-122"/>
                <a:cs typeface="Aptos" pitchFamily="34" charset="-120"/>
              </a:rPr>
              <a:t>SAP ERP</a:t>
            </a:r>
            <a:endParaRPr lang="en-US" sz="2500" dirty="0"/>
          </a:p>
        </p:txBody>
      </p:sp>
      <p:sp>
        <p:nvSpPr>
          <p:cNvPr id="16" name="Text 14"/>
          <p:cNvSpPr/>
          <p:nvPr/>
        </p:nvSpPr>
        <p:spPr>
          <a:xfrm>
            <a:off x="1517904" y="2523744"/>
            <a:ext cx="2194560" cy="228600"/>
          </a:xfrm>
          <a:prstGeom prst="rect">
            <a:avLst/>
          </a:prstGeom>
          <a:noFill/>
          <a:ln/>
        </p:spPr>
        <p:txBody>
          <a:bodyPr wrap="square" lIns="0" tIns="0" rIns="0" bIns="0" rtlCol="0" anchor="ctr">
            <a:normAutofit/>
          </a:bodyPr>
          <a:lstStyle/>
          <a:p>
            <a:pPr algn="l" indent="0" marL="0">
              <a:lnSpc>
                <a:spcPct val="100000"/>
              </a:lnSpc>
              <a:buNone/>
            </a:pPr>
            <a:r>
              <a:rPr lang="en-US" sz="1220" dirty="0">
                <a:solidFill>
                  <a:srgbClr val="627889"/>
                </a:solidFill>
                <a:latin typeface="Aptos" pitchFamily="34" charset="0"/>
                <a:ea typeface="Aptos" pitchFamily="34" charset="-122"/>
                <a:cs typeface="Aptos" pitchFamily="34" charset="-120"/>
              </a:rPr>
              <a:t>Production planning</a:t>
            </a:r>
            <a:endParaRPr lang="en-US" sz="1220" dirty="0"/>
          </a:p>
        </p:txBody>
      </p:sp>
      <p:sp>
        <p:nvSpPr>
          <p:cNvPr id="17" name="Shape 15"/>
          <p:cNvSpPr/>
          <p:nvPr/>
        </p:nvSpPr>
        <p:spPr>
          <a:xfrm>
            <a:off x="877824" y="3026664"/>
            <a:ext cx="2926080" cy="0"/>
          </a:xfrm>
          <a:prstGeom prst="line">
            <a:avLst/>
          </a:prstGeom>
          <a:noFill/>
          <a:ln w="11430">
            <a:solidFill>
              <a:srgbClr val="DCE6ED"/>
            </a:solidFill>
            <a:prstDash val="solid"/>
          </a:ln>
        </p:spPr>
      </p:sp>
      <p:sp>
        <p:nvSpPr>
          <p:cNvPr id="18" name="Text 16"/>
          <p:cNvSpPr/>
          <p:nvPr/>
        </p:nvSpPr>
        <p:spPr>
          <a:xfrm>
            <a:off x="877824" y="3246120"/>
            <a:ext cx="1691640" cy="530352"/>
          </a:xfrm>
          <a:prstGeom prst="rect">
            <a:avLst/>
          </a:prstGeom>
          <a:noFill/>
          <a:ln/>
        </p:spPr>
        <p:txBody>
          <a:bodyPr wrap="square" lIns="0" tIns="0" rIns="0" bIns="0" rtlCol="0" anchor="ctr">
            <a:normAutofit/>
          </a:bodyPr>
          <a:lstStyle/>
          <a:p>
            <a:pPr algn="l" indent="0" marL="0">
              <a:lnSpc>
                <a:spcPct val="100000"/>
              </a:lnSpc>
              <a:buNone/>
            </a:pPr>
            <a:r>
              <a:rPr lang="en-US" sz="3300" b="1" dirty="0">
                <a:solidFill>
                  <a:srgbClr val="102738"/>
                </a:solidFill>
                <a:latin typeface="Aptos" pitchFamily="34" charset="0"/>
                <a:ea typeface="Aptos" pitchFamily="34" charset="-122"/>
                <a:cs typeface="Aptos" pitchFamily="34" charset="-120"/>
              </a:rPr>
              <a:t>540</a:t>
            </a:r>
            <a:endParaRPr lang="en-US" sz="3300" dirty="0"/>
          </a:p>
        </p:txBody>
      </p:sp>
      <p:sp>
        <p:nvSpPr>
          <p:cNvPr id="19" name="Text 17"/>
          <p:cNvSpPr/>
          <p:nvPr/>
        </p:nvSpPr>
        <p:spPr>
          <a:xfrm>
            <a:off x="2496312" y="3502152"/>
            <a:ext cx="1261872" cy="219456"/>
          </a:xfrm>
          <a:prstGeom prst="rect">
            <a:avLst/>
          </a:prstGeom>
          <a:noFill/>
          <a:ln/>
        </p:spPr>
        <p:txBody>
          <a:bodyPr wrap="square" lIns="0" tIns="0" rIns="0" bIns="0" rtlCol="0" anchor="ctr">
            <a:normAutofit/>
          </a:bodyPr>
          <a:lstStyle/>
          <a:p>
            <a:pPr algn="r" indent="0" marL="0">
              <a:lnSpc>
                <a:spcPct val="100000"/>
              </a:lnSpc>
              <a:buNone/>
            </a:pPr>
            <a:r>
              <a:rPr lang="en-US" sz="1100" dirty="0">
                <a:solidFill>
                  <a:srgbClr val="627889"/>
                </a:solidFill>
                <a:latin typeface="Aptos" pitchFamily="34" charset="0"/>
                <a:ea typeface="Aptos" pitchFamily="34" charset="-122"/>
                <a:cs typeface="Aptos" pitchFamily="34" charset="-120"/>
              </a:rPr>
              <a:t>plan records</a:t>
            </a:r>
            <a:endParaRPr lang="en-US" sz="1100" dirty="0"/>
          </a:p>
        </p:txBody>
      </p:sp>
      <p:sp>
        <p:nvSpPr>
          <p:cNvPr id="20" name="Text 18"/>
          <p:cNvSpPr/>
          <p:nvPr/>
        </p:nvSpPr>
        <p:spPr>
          <a:xfrm>
            <a:off x="877824" y="3895344"/>
            <a:ext cx="2651760" cy="219456"/>
          </a:xfrm>
          <a:prstGeom prst="rect">
            <a:avLst/>
          </a:prstGeom>
          <a:noFill/>
          <a:ln/>
        </p:spPr>
        <p:txBody>
          <a:bodyPr wrap="square" lIns="0" tIns="0" rIns="0" bIns="0" rtlCol="0" anchor="ctr">
            <a:normAutofit/>
          </a:bodyPr>
          <a:lstStyle/>
          <a:p>
            <a:pPr algn="l" indent="0" marL="0">
              <a:lnSpc>
                <a:spcPct val="100000"/>
              </a:lnSpc>
              <a:buNone/>
            </a:pPr>
            <a:r>
              <a:rPr lang="en-US" sz="900" b="1" spc="145" kern="0" dirty="0">
                <a:solidFill>
                  <a:srgbClr val="4074E8"/>
                </a:solidFill>
                <a:latin typeface="Aptos" pitchFamily="34" charset="0"/>
                <a:ea typeface="Aptos" pitchFamily="34" charset="-122"/>
                <a:cs typeface="Aptos" pitchFamily="34" charset="-120"/>
              </a:rPr>
              <a:t>NATURAL GRAIN</a:t>
            </a:r>
            <a:endParaRPr lang="en-US" sz="900" dirty="0"/>
          </a:p>
        </p:txBody>
      </p:sp>
      <p:sp>
        <p:nvSpPr>
          <p:cNvPr id="21" name="Text 19"/>
          <p:cNvSpPr/>
          <p:nvPr/>
        </p:nvSpPr>
        <p:spPr>
          <a:xfrm>
            <a:off x="877824" y="4178808"/>
            <a:ext cx="2990088" cy="502920"/>
          </a:xfrm>
          <a:prstGeom prst="rect">
            <a:avLst/>
          </a:prstGeom>
          <a:noFill/>
          <a:ln/>
        </p:spPr>
        <p:txBody>
          <a:bodyPr wrap="square" lIns="0" tIns="0" rIns="0" bIns="0" rtlCol="0" anchor="ctr">
            <a:normAutofit/>
          </a:bodyPr>
          <a:lstStyle/>
          <a:p>
            <a:pPr algn="l" indent="0" marL="0">
              <a:lnSpc>
                <a:spcPct val="100000"/>
              </a:lnSpc>
              <a:buNone/>
            </a:pPr>
            <a:r>
              <a:rPr lang="en-US" sz="1220" b="1" dirty="0">
                <a:solidFill>
                  <a:srgbClr val="244354"/>
                </a:solidFill>
                <a:latin typeface="Aptos" pitchFamily="34" charset="0"/>
                <a:ea typeface="Aptos" pitchFamily="34" charset="-122"/>
                <a:cs typeface="Aptos" pitchFamily="34" charset="-120"/>
              </a:rPr>
              <a:t>Factory · date · line · product</a:t>
            </a:r>
            <a:endParaRPr lang="en-US" sz="1220" dirty="0"/>
          </a:p>
        </p:txBody>
      </p:sp>
      <p:sp>
        <p:nvSpPr>
          <p:cNvPr id="22" name="Shape 20"/>
          <p:cNvSpPr/>
          <p:nvPr/>
        </p:nvSpPr>
        <p:spPr>
          <a:xfrm>
            <a:off x="832104" y="4736592"/>
            <a:ext cx="3017520" cy="292608"/>
          </a:xfrm>
          <a:prstGeom prst="roundRect">
            <a:avLst>
              <a:gd name="adj" fmla="val 37500"/>
            </a:avLst>
          </a:prstGeom>
          <a:solidFill>
            <a:srgbClr val="EAF1FE"/>
          </a:solidFill>
          <a:ln w="12700">
            <a:solidFill>
              <a:srgbClr val="EAF1FE">
                <a:alpha val="0"/>
              </a:srgbClr>
            </a:solidFill>
            <a:prstDash val="solid"/>
          </a:ln>
        </p:spPr>
      </p:sp>
      <p:sp>
        <p:nvSpPr>
          <p:cNvPr id="23" name="Text 21"/>
          <p:cNvSpPr/>
          <p:nvPr/>
        </p:nvSpPr>
        <p:spPr>
          <a:xfrm>
            <a:off x="941832" y="4745736"/>
            <a:ext cx="2798064" cy="274320"/>
          </a:xfrm>
          <a:prstGeom prst="rect">
            <a:avLst/>
          </a:prstGeom>
          <a:noFill/>
          <a:ln/>
        </p:spPr>
        <p:txBody>
          <a:bodyPr wrap="square" lIns="0" tIns="0" rIns="0" bIns="0" rtlCol="0" anchor="ctr">
            <a:normAutofit/>
          </a:bodyPr>
          <a:lstStyle/>
          <a:p>
            <a:pPr algn="ctr" indent="0" marL="0">
              <a:lnSpc>
                <a:spcPct val="100000"/>
              </a:lnSpc>
              <a:buNone/>
            </a:pPr>
            <a:r>
              <a:rPr lang="en-US" sz="940" b="1" dirty="0">
                <a:solidFill>
                  <a:srgbClr val="4074E8"/>
                </a:solidFill>
                <a:latin typeface="Aptos" pitchFamily="34" charset="0"/>
                <a:ea typeface="Aptos" pitchFamily="34" charset="-122"/>
                <a:cs typeface="Aptos" pitchFamily="34" charset="-120"/>
              </a:rPr>
              <a:t>What should we produce?</a:t>
            </a:r>
            <a:endParaRPr lang="en-US" sz="940" dirty="0"/>
          </a:p>
        </p:txBody>
      </p:sp>
      <p:sp>
        <p:nvSpPr>
          <p:cNvPr id="24" name="Shape 22"/>
          <p:cNvSpPr/>
          <p:nvPr/>
        </p:nvSpPr>
        <p:spPr>
          <a:xfrm>
            <a:off x="4375404" y="1849831"/>
            <a:ext cx="3474720" cy="3328416"/>
          </a:xfrm>
          <a:prstGeom prst="roundRect">
            <a:avLst>
              <a:gd name="adj" fmla="val 3297"/>
            </a:avLst>
          </a:prstGeom>
          <a:solidFill>
            <a:srgbClr val="DCE7EC">
              <a:alpha val="50000"/>
            </a:srgbClr>
          </a:solidFill>
          <a:ln w="12700">
            <a:solidFill>
              <a:srgbClr val="DCE7EC">
                <a:alpha val="0"/>
              </a:srgbClr>
            </a:solidFill>
            <a:prstDash val="solid"/>
          </a:ln>
        </p:spPr>
      </p:sp>
      <p:sp>
        <p:nvSpPr>
          <p:cNvPr id="25" name="Shape 23"/>
          <p:cNvSpPr/>
          <p:nvPr/>
        </p:nvSpPr>
        <p:spPr>
          <a:xfrm>
            <a:off x="4352544" y="1810512"/>
            <a:ext cx="3474720" cy="3328416"/>
          </a:xfrm>
          <a:prstGeom prst="roundRect">
            <a:avLst>
              <a:gd name="adj" fmla="val 3297"/>
            </a:avLst>
          </a:prstGeom>
          <a:solidFill>
            <a:srgbClr val="FFFFFF"/>
          </a:solidFill>
          <a:ln w="8890">
            <a:solidFill>
              <a:srgbClr val="DCE6ED"/>
            </a:solidFill>
            <a:prstDash val="solid"/>
          </a:ln>
        </p:spPr>
      </p:sp>
      <p:sp>
        <p:nvSpPr>
          <p:cNvPr id="26" name="Shape 24"/>
          <p:cNvSpPr/>
          <p:nvPr/>
        </p:nvSpPr>
        <p:spPr>
          <a:xfrm>
            <a:off x="4352544" y="1810512"/>
            <a:ext cx="3474720" cy="77724"/>
          </a:xfrm>
          <a:prstGeom prst="rect">
            <a:avLst>
              <a:gd name="adj" fmla="val 141176"/>
            </a:avLst>
          </a:prstGeom>
          <a:solidFill>
            <a:srgbClr val="078E96"/>
          </a:solidFill>
          <a:ln w="12700">
            <a:solidFill>
              <a:srgbClr val="078E96">
                <a:alpha val="0"/>
              </a:srgbClr>
            </a:solidFill>
            <a:prstDash val="solid"/>
          </a:ln>
        </p:spPr>
      </p:sp>
      <p:sp>
        <p:nvSpPr>
          <p:cNvPr id="27" name="Shape 25"/>
          <p:cNvSpPr/>
          <p:nvPr/>
        </p:nvSpPr>
        <p:spPr>
          <a:xfrm>
            <a:off x="4608576" y="2130552"/>
            <a:ext cx="530352" cy="530352"/>
          </a:xfrm>
          <a:prstGeom prst="ellipse">
            <a:avLst/>
          </a:prstGeom>
          <a:solidFill>
            <a:srgbClr val="E7F8F5"/>
          </a:solidFill>
          <a:ln w="12700">
            <a:solidFill>
              <a:srgbClr val="E7F8F5">
                <a:alpha val="0"/>
              </a:srgbClr>
            </a:solidFill>
            <a:prstDash val="solid"/>
          </a:ln>
        </p:spPr>
      </p:sp>
      <p:sp>
        <p:nvSpPr>
          <p:cNvPr id="28" name="Text 26"/>
          <p:cNvSpPr/>
          <p:nvPr/>
        </p:nvSpPr>
        <p:spPr>
          <a:xfrm>
            <a:off x="4658868" y="2276856"/>
            <a:ext cx="411480" cy="182880"/>
          </a:xfrm>
          <a:prstGeom prst="rect">
            <a:avLst/>
          </a:prstGeom>
          <a:noFill/>
          <a:ln/>
        </p:spPr>
        <p:txBody>
          <a:bodyPr wrap="square" lIns="0" tIns="0" rIns="0" bIns="0" rtlCol="0" anchor="ctr">
            <a:normAutofit/>
          </a:bodyPr>
          <a:lstStyle/>
          <a:p>
            <a:pPr algn="ctr" indent="0" marL="0">
              <a:lnSpc>
                <a:spcPct val="100000"/>
              </a:lnSpc>
              <a:buNone/>
            </a:pPr>
            <a:r>
              <a:rPr lang="en-US" sz="1150" b="1" dirty="0">
                <a:solidFill>
                  <a:srgbClr val="078E96"/>
                </a:solidFill>
                <a:latin typeface="Aptos" pitchFamily="34" charset="0"/>
                <a:ea typeface="Aptos" pitchFamily="34" charset="-122"/>
                <a:cs typeface="Aptos" pitchFamily="34" charset="-120"/>
              </a:rPr>
              <a:t>02</a:t>
            </a:r>
            <a:endParaRPr lang="en-US" sz="1150" dirty="0"/>
          </a:p>
        </p:txBody>
      </p:sp>
      <p:sp>
        <p:nvSpPr>
          <p:cNvPr id="29" name="Text 27"/>
          <p:cNvSpPr/>
          <p:nvPr/>
        </p:nvSpPr>
        <p:spPr>
          <a:xfrm>
            <a:off x="5266944" y="2130552"/>
            <a:ext cx="2148840" cy="356616"/>
          </a:xfrm>
          <a:prstGeom prst="rect">
            <a:avLst/>
          </a:prstGeom>
          <a:noFill/>
          <a:ln/>
        </p:spPr>
        <p:txBody>
          <a:bodyPr wrap="square" lIns="0" tIns="0" rIns="0" bIns="0" rtlCol="0" anchor="ctr">
            <a:normAutofit/>
          </a:bodyPr>
          <a:lstStyle/>
          <a:p>
            <a:pPr algn="l" indent="0" marL="0">
              <a:lnSpc>
                <a:spcPct val="100000"/>
              </a:lnSpc>
              <a:buNone/>
            </a:pPr>
            <a:r>
              <a:rPr lang="en-US" sz="2500" b="1" dirty="0">
                <a:solidFill>
                  <a:srgbClr val="102738"/>
                </a:solidFill>
                <a:latin typeface="Aptos" pitchFamily="34" charset="0"/>
                <a:ea typeface="Aptos" pitchFamily="34" charset="-122"/>
                <a:cs typeface="Aptos" pitchFamily="34" charset="-120"/>
              </a:rPr>
              <a:t>MES</a:t>
            </a:r>
            <a:endParaRPr lang="en-US" sz="2500" dirty="0"/>
          </a:p>
        </p:txBody>
      </p:sp>
      <p:sp>
        <p:nvSpPr>
          <p:cNvPr id="30" name="Text 28"/>
          <p:cNvSpPr/>
          <p:nvPr/>
        </p:nvSpPr>
        <p:spPr>
          <a:xfrm>
            <a:off x="5266944" y="2523744"/>
            <a:ext cx="2194560" cy="228600"/>
          </a:xfrm>
          <a:prstGeom prst="rect">
            <a:avLst/>
          </a:prstGeom>
          <a:noFill/>
          <a:ln/>
        </p:spPr>
        <p:txBody>
          <a:bodyPr wrap="square" lIns="0" tIns="0" rIns="0" bIns="0" rtlCol="0" anchor="ctr">
            <a:normAutofit/>
          </a:bodyPr>
          <a:lstStyle/>
          <a:p>
            <a:pPr algn="l" indent="0" marL="0">
              <a:lnSpc>
                <a:spcPct val="100000"/>
              </a:lnSpc>
              <a:buNone/>
            </a:pPr>
            <a:r>
              <a:rPr lang="en-US" sz="1220" dirty="0">
                <a:solidFill>
                  <a:srgbClr val="627889"/>
                </a:solidFill>
                <a:latin typeface="Aptos" pitchFamily="34" charset="0"/>
                <a:ea typeface="Aptos" pitchFamily="34" charset="-122"/>
                <a:cs typeface="Aptos" pitchFamily="34" charset="-120"/>
              </a:rPr>
              <a:t>Shop-floor execution</a:t>
            </a:r>
            <a:endParaRPr lang="en-US" sz="1220" dirty="0"/>
          </a:p>
        </p:txBody>
      </p:sp>
      <p:sp>
        <p:nvSpPr>
          <p:cNvPr id="31" name="Shape 29"/>
          <p:cNvSpPr/>
          <p:nvPr/>
        </p:nvSpPr>
        <p:spPr>
          <a:xfrm>
            <a:off x="4626864" y="3026664"/>
            <a:ext cx="2926080" cy="0"/>
          </a:xfrm>
          <a:prstGeom prst="line">
            <a:avLst/>
          </a:prstGeom>
          <a:noFill/>
          <a:ln w="11430">
            <a:solidFill>
              <a:srgbClr val="DCE6ED"/>
            </a:solidFill>
            <a:prstDash val="solid"/>
          </a:ln>
        </p:spPr>
      </p:sp>
      <p:sp>
        <p:nvSpPr>
          <p:cNvPr id="32" name="Text 30"/>
          <p:cNvSpPr/>
          <p:nvPr/>
        </p:nvSpPr>
        <p:spPr>
          <a:xfrm>
            <a:off x="4626864" y="3246120"/>
            <a:ext cx="1691640" cy="530352"/>
          </a:xfrm>
          <a:prstGeom prst="rect">
            <a:avLst/>
          </a:prstGeom>
          <a:noFill/>
          <a:ln/>
        </p:spPr>
        <p:txBody>
          <a:bodyPr wrap="square" lIns="0" tIns="0" rIns="0" bIns="0" rtlCol="0" anchor="ctr">
            <a:normAutofit/>
          </a:bodyPr>
          <a:lstStyle/>
          <a:p>
            <a:pPr algn="l" indent="0" marL="0">
              <a:lnSpc>
                <a:spcPct val="100000"/>
              </a:lnSpc>
              <a:buNone/>
            </a:pPr>
            <a:r>
              <a:rPr lang="en-US" sz="3300" b="1" dirty="0">
                <a:solidFill>
                  <a:srgbClr val="102738"/>
                </a:solidFill>
                <a:latin typeface="Aptos" pitchFamily="34" charset="0"/>
                <a:ea typeface="Aptos" pitchFamily="34" charset="-122"/>
                <a:cs typeface="Aptos" pitchFamily="34" charset="-120"/>
              </a:rPr>
              <a:t>1,080</a:t>
            </a:r>
            <a:endParaRPr lang="en-US" sz="3300" dirty="0"/>
          </a:p>
        </p:txBody>
      </p:sp>
      <p:sp>
        <p:nvSpPr>
          <p:cNvPr id="33" name="Text 31"/>
          <p:cNvSpPr/>
          <p:nvPr/>
        </p:nvSpPr>
        <p:spPr>
          <a:xfrm>
            <a:off x="6245352" y="3502152"/>
            <a:ext cx="1261872" cy="219456"/>
          </a:xfrm>
          <a:prstGeom prst="rect">
            <a:avLst/>
          </a:prstGeom>
          <a:noFill/>
          <a:ln/>
        </p:spPr>
        <p:txBody>
          <a:bodyPr wrap="square" lIns="0" tIns="0" rIns="0" bIns="0" rtlCol="0" anchor="ctr">
            <a:normAutofit/>
          </a:bodyPr>
          <a:lstStyle/>
          <a:p>
            <a:pPr algn="r" indent="0" marL="0">
              <a:lnSpc>
                <a:spcPct val="100000"/>
              </a:lnSpc>
              <a:buNone/>
            </a:pPr>
            <a:r>
              <a:rPr lang="en-US" sz="1100" dirty="0">
                <a:solidFill>
                  <a:srgbClr val="627889"/>
                </a:solidFill>
                <a:latin typeface="Aptos" pitchFamily="34" charset="0"/>
                <a:ea typeface="Aptos" pitchFamily="34" charset="-122"/>
                <a:cs typeface="Aptos" pitchFamily="34" charset="-120"/>
              </a:rPr>
              <a:t>shift records</a:t>
            </a:r>
            <a:endParaRPr lang="en-US" sz="1100" dirty="0"/>
          </a:p>
        </p:txBody>
      </p:sp>
      <p:sp>
        <p:nvSpPr>
          <p:cNvPr id="34" name="Text 32"/>
          <p:cNvSpPr/>
          <p:nvPr/>
        </p:nvSpPr>
        <p:spPr>
          <a:xfrm>
            <a:off x="4626864" y="3895344"/>
            <a:ext cx="2651760" cy="219456"/>
          </a:xfrm>
          <a:prstGeom prst="rect">
            <a:avLst/>
          </a:prstGeom>
          <a:noFill/>
          <a:ln/>
        </p:spPr>
        <p:txBody>
          <a:bodyPr wrap="square" lIns="0" tIns="0" rIns="0" bIns="0" rtlCol="0" anchor="ctr">
            <a:normAutofit/>
          </a:bodyPr>
          <a:lstStyle/>
          <a:p>
            <a:pPr algn="l" indent="0" marL="0">
              <a:lnSpc>
                <a:spcPct val="100000"/>
              </a:lnSpc>
              <a:buNone/>
            </a:pPr>
            <a:r>
              <a:rPr lang="en-US" sz="900" b="1" spc="145" kern="0" dirty="0">
                <a:solidFill>
                  <a:srgbClr val="078E96"/>
                </a:solidFill>
                <a:latin typeface="Aptos" pitchFamily="34" charset="0"/>
                <a:ea typeface="Aptos" pitchFamily="34" charset="-122"/>
                <a:cs typeface="Aptos" pitchFamily="34" charset="-120"/>
              </a:rPr>
              <a:t>NATURAL GRAIN</a:t>
            </a:r>
            <a:endParaRPr lang="en-US" sz="900" dirty="0"/>
          </a:p>
        </p:txBody>
      </p:sp>
      <p:sp>
        <p:nvSpPr>
          <p:cNvPr id="35" name="Text 33"/>
          <p:cNvSpPr/>
          <p:nvPr/>
        </p:nvSpPr>
        <p:spPr>
          <a:xfrm>
            <a:off x="4626864" y="4178808"/>
            <a:ext cx="2990088" cy="502920"/>
          </a:xfrm>
          <a:prstGeom prst="rect">
            <a:avLst/>
          </a:prstGeom>
          <a:noFill/>
          <a:ln/>
        </p:spPr>
        <p:txBody>
          <a:bodyPr wrap="square" lIns="0" tIns="0" rIns="0" bIns="0" rtlCol="0" anchor="ctr">
            <a:normAutofit/>
          </a:bodyPr>
          <a:lstStyle/>
          <a:p>
            <a:pPr algn="l" indent="0" marL="0">
              <a:lnSpc>
                <a:spcPct val="100000"/>
              </a:lnSpc>
              <a:buNone/>
            </a:pPr>
            <a:r>
              <a:rPr lang="en-US" sz="1220" b="1" dirty="0">
                <a:solidFill>
                  <a:srgbClr val="244354"/>
                </a:solidFill>
                <a:latin typeface="Aptos" pitchFamily="34" charset="0"/>
                <a:ea typeface="Aptos" pitchFamily="34" charset="-122"/>
                <a:cs typeface="Aptos" pitchFamily="34" charset="-120"/>
              </a:rPr>
              <a:t>Factory · date · line · product · shift</a:t>
            </a:r>
            <a:endParaRPr lang="en-US" sz="1220" dirty="0"/>
          </a:p>
        </p:txBody>
      </p:sp>
      <p:sp>
        <p:nvSpPr>
          <p:cNvPr id="36" name="Shape 34"/>
          <p:cNvSpPr/>
          <p:nvPr/>
        </p:nvSpPr>
        <p:spPr>
          <a:xfrm>
            <a:off x="4581144" y="4736592"/>
            <a:ext cx="3017520" cy="292608"/>
          </a:xfrm>
          <a:prstGeom prst="roundRect">
            <a:avLst>
              <a:gd name="adj" fmla="val 37500"/>
            </a:avLst>
          </a:prstGeom>
          <a:solidFill>
            <a:srgbClr val="E7F8F5"/>
          </a:solidFill>
          <a:ln w="12700">
            <a:solidFill>
              <a:srgbClr val="E7F8F5">
                <a:alpha val="0"/>
              </a:srgbClr>
            </a:solidFill>
            <a:prstDash val="solid"/>
          </a:ln>
        </p:spPr>
      </p:sp>
      <p:sp>
        <p:nvSpPr>
          <p:cNvPr id="37" name="Text 35"/>
          <p:cNvSpPr/>
          <p:nvPr/>
        </p:nvSpPr>
        <p:spPr>
          <a:xfrm>
            <a:off x="4690872" y="4745736"/>
            <a:ext cx="2798064" cy="274320"/>
          </a:xfrm>
          <a:prstGeom prst="rect">
            <a:avLst/>
          </a:prstGeom>
          <a:noFill/>
          <a:ln/>
        </p:spPr>
        <p:txBody>
          <a:bodyPr wrap="square" lIns="0" tIns="0" rIns="0" bIns="0" rtlCol="0" anchor="ctr">
            <a:normAutofit/>
          </a:bodyPr>
          <a:lstStyle/>
          <a:p>
            <a:pPr algn="ctr" indent="0" marL="0">
              <a:lnSpc>
                <a:spcPct val="100000"/>
              </a:lnSpc>
              <a:buNone/>
            </a:pPr>
            <a:r>
              <a:rPr lang="en-US" sz="940" b="1" dirty="0">
                <a:solidFill>
                  <a:srgbClr val="078E96"/>
                </a:solidFill>
                <a:latin typeface="Aptos" pitchFamily="34" charset="0"/>
                <a:ea typeface="Aptos" pitchFamily="34" charset="-122"/>
                <a:cs typeface="Aptos" pitchFamily="34" charset="-120"/>
              </a:rPr>
              <a:t>What did we actually produce?</a:t>
            </a:r>
            <a:endParaRPr lang="en-US" sz="940" dirty="0"/>
          </a:p>
        </p:txBody>
      </p:sp>
      <p:sp>
        <p:nvSpPr>
          <p:cNvPr id="38" name="Shape 36"/>
          <p:cNvSpPr/>
          <p:nvPr/>
        </p:nvSpPr>
        <p:spPr>
          <a:xfrm>
            <a:off x="8124444" y="1849831"/>
            <a:ext cx="3474720" cy="3328416"/>
          </a:xfrm>
          <a:prstGeom prst="roundRect">
            <a:avLst>
              <a:gd name="adj" fmla="val 3297"/>
            </a:avLst>
          </a:prstGeom>
          <a:solidFill>
            <a:srgbClr val="DCE7EC">
              <a:alpha val="50000"/>
            </a:srgbClr>
          </a:solidFill>
          <a:ln w="12700">
            <a:solidFill>
              <a:srgbClr val="DCE7EC">
                <a:alpha val="0"/>
              </a:srgbClr>
            </a:solidFill>
            <a:prstDash val="solid"/>
          </a:ln>
        </p:spPr>
      </p:sp>
      <p:sp>
        <p:nvSpPr>
          <p:cNvPr id="39" name="Shape 37"/>
          <p:cNvSpPr/>
          <p:nvPr/>
        </p:nvSpPr>
        <p:spPr>
          <a:xfrm>
            <a:off x="8101584" y="1810512"/>
            <a:ext cx="3474720" cy="3328416"/>
          </a:xfrm>
          <a:prstGeom prst="roundRect">
            <a:avLst>
              <a:gd name="adj" fmla="val 3297"/>
            </a:avLst>
          </a:prstGeom>
          <a:solidFill>
            <a:srgbClr val="FFFFFF"/>
          </a:solidFill>
          <a:ln w="8890">
            <a:solidFill>
              <a:srgbClr val="DCE6ED"/>
            </a:solidFill>
            <a:prstDash val="solid"/>
          </a:ln>
        </p:spPr>
      </p:sp>
      <p:sp>
        <p:nvSpPr>
          <p:cNvPr id="40" name="Shape 38"/>
          <p:cNvSpPr/>
          <p:nvPr/>
        </p:nvSpPr>
        <p:spPr>
          <a:xfrm>
            <a:off x="8101584" y="1810512"/>
            <a:ext cx="3474720" cy="77724"/>
          </a:xfrm>
          <a:prstGeom prst="rect">
            <a:avLst>
              <a:gd name="adj" fmla="val 141176"/>
            </a:avLst>
          </a:prstGeom>
          <a:solidFill>
            <a:srgbClr val="E7A03E"/>
          </a:solidFill>
          <a:ln w="12700">
            <a:solidFill>
              <a:srgbClr val="E7A03E">
                <a:alpha val="0"/>
              </a:srgbClr>
            </a:solidFill>
            <a:prstDash val="solid"/>
          </a:ln>
        </p:spPr>
      </p:sp>
      <p:sp>
        <p:nvSpPr>
          <p:cNvPr id="41" name="Shape 39"/>
          <p:cNvSpPr/>
          <p:nvPr/>
        </p:nvSpPr>
        <p:spPr>
          <a:xfrm>
            <a:off x="8357616" y="2130552"/>
            <a:ext cx="530352" cy="530352"/>
          </a:xfrm>
          <a:prstGeom prst="ellipse">
            <a:avLst/>
          </a:prstGeom>
          <a:solidFill>
            <a:srgbClr val="FFF3DF"/>
          </a:solidFill>
          <a:ln w="12700">
            <a:solidFill>
              <a:srgbClr val="FFF3DF">
                <a:alpha val="0"/>
              </a:srgbClr>
            </a:solidFill>
            <a:prstDash val="solid"/>
          </a:ln>
        </p:spPr>
      </p:sp>
      <p:sp>
        <p:nvSpPr>
          <p:cNvPr id="42" name="Text 40"/>
          <p:cNvSpPr/>
          <p:nvPr/>
        </p:nvSpPr>
        <p:spPr>
          <a:xfrm>
            <a:off x="8407908" y="2276856"/>
            <a:ext cx="411480" cy="182880"/>
          </a:xfrm>
          <a:prstGeom prst="rect">
            <a:avLst/>
          </a:prstGeom>
          <a:noFill/>
          <a:ln/>
        </p:spPr>
        <p:txBody>
          <a:bodyPr wrap="square" lIns="0" tIns="0" rIns="0" bIns="0" rtlCol="0" anchor="ctr">
            <a:normAutofit/>
          </a:bodyPr>
          <a:lstStyle/>
          <a:p>
            <a:pPr algn="ctr" indent="0" marL="0">
              <a:lnSpc>
                <a:spcPct val="100000"/>
              </a:lnSpc>
              <a:buNone/>
            </a:pPr>
            <a:r>
              <a:rPr lang="en-US" sz="1150" b="1" dirty="0">
                <a:solidFill>
                  <a:srgbClr val="E7A03E"/>
                </a:solidFill>
                <a:latin typeface="Aptos" pitchFamily="34" charset="0"/>
                <a:ea typeface="Aptos" pitchFamily="34" charset="-122"/>
                <a:cs typeface="Aptos" pitchFamily="34" charset="-120"/>
              </a:rPr>
              <a:t>03</a:t>
            </a:r>
            <a:endParaRPr lang="en-US" sz="1150" dirty="0"/>
          </a:p>
        </p:txBody>
      </p:sp>
      <p:sp>
        <p:nvSpPr>
          <p:cNvPr id="43" name="Text 41"/>
          <p:cNvSpPr/>
          <p:nvPr/>
        </p:nvSpPr>
        <p:spPr>
          <a:xfrm>
            <a:off x="9015984" y="2130552"/>
            <a:ext cx="2148840" cy="356616"/>
          </a:xfrm>
          <a:prstGeom prst="rect">
            <a:avLst/>
          </a:prstGeom>
          <a:noFill/>
          <a:ln/>
        </p:spPr>
        <p:txBody>
          <a:bodyPr wrap="square" lIns="0" tIns="0" rIns="0" bIns="0" rtlCol="0" anchor="ctr">
            <a:normAutofit/>
          </a:bodyPr>
          <a:lstStyle/>
          <a:p>
            <a:pPr algn="l" indent="0" marL="0">
              <a:lnSpc>
                <a:spcPct val="100000"/>
              </a:lnSpc>
              <a:buNone/>
            </a:pPr>
            <a:r>
              <a:rPr lang="en-US" sz="2500" b="1" dirty="0">
                <a:solidFill>
                  <a:srgbClr val="102738"/>
                </a:solidFill>
                <a:latin typeface="Aptos" pitchFamily="34" charset="0"/>
                <a:ea typeface="Aptos" pitchFamily="34" charset="-122"/>
                <a:cs typeface="Aptos" pitchFamily="34" charset="-120"/>
              </a:rPr>
              <a:t>ENERGY</a:t>
            </a:r>
            <a:endParaRPr lang="en-US" sz="2500" dirty="0"/>
          </a:p>
        </p:txBody>
      </p:sp>
      <p:sp>
        <p:nvSpPr>
          <p:cNvPr id="44" name="Text 42"/>
          <p:cNvSpPr/>
          <p:nvPr/>
        </p:nvSpPr>
        <p:spPr>
          <a:xfrm>
            <a:off x="9015984" y="2523744"/>
            <a:ext cx="2194560" cy="228600"/>
          </a:xfrm>
          <a:prstGeom prst="rect">
            <a:avLst/>
          </a:prstGeom>
          <a:noFill/>
          <a:ln/>
        </p:spPr>
        <p:txBody>
          <a:bodyPr wrap="square" lIns="0" tIns="0" rIns="0" bIns="0" rtlCol="0" anchor="ctr">
            <a:normAutofit/>
          </a:bodyPr>
          <a:lstStyle/>
          <a:p>
            <a:pPr algn="l" indent="0" marL="0">
              <a:lnSpc>
                <a:spcPct val="100000"/>
              </a:lnSpc>
              <a:buNone/>
            </a:pPr>
            <a:r>
              <a:rPr lang="en-US" sz="1220" dirty="0">
                <a:solidFill>
                  <a:srgbClr val="627889"/>
                </a:solidFill>
                <a:latin typeface="Aptos" pitchFamily="34" charset="0"/>
                <a:ea typeface="Aptos" pitchFamily="34" charset="-122"/>
                <a:cs typeface="Aptos" pitchFamily="34" charset="-120"/>
              </a:rPr>
              <a:t>Daily metering</a:t>
            </a:r>
            <a:endParaRPr lang="en-US" sz="1220" dirty="0"/>
          </a:p>
        </p:txBody>
      </p:sp>
      <p:sp>
        <p:nvSpPr>
          <p:cNvPr id="45" name="Shape 43"/>
          <p:cNvSpPr/>
          <p:nvPr/>
        </p:nvSpPr>
        <p:spPr>
          <a:xfrm>
            <a:off x="8375904" y="3026664"/>
            <a:ext cx="2926080" cy="0"/>
          </a:xfrm>
          <a:prstGeom prst="line">
            <a:avLst/>
          </a:prstGeom>
          <a:noFill/>
          <a:ln w="11430">
            <a:solidFill>
              <a:srgbClr val="DCE6ED"/>
            </a:solidFill>
            <a:prstDash val="solid"/>
          </a:ln>
        </p:spPr>
      </p:sp>
      <p:sp>
        <p:nvSpPr>
          <p:cNvPr id="46" name="Text 44"/>
          <p:cNvSpPr/>
          <p:nvPr/>
        </p:nvSpPr>
        <p:spPr>
          <a:xfrm>
            <a:off x="8375904" y="3246120"/>
            <a:ext cx="1691640" cy="530352"/>
          </a:xfrm>
          <a:prstGeom prst="rect">
            <a:avLst/>
          </a:prstGeom>
          <a:noFill/>
          <a:ln/>
        </p:spPr>
        <p:txBody>
          <a:bodyPr wrap="square" lIns="0" tIns="0" rIns="0" bIns="0" rtlCol="0" anchor="ctr">
            <a:normAutofit/>
          </a:bodyPr>
          <a:lstStyle/>
          <a:p>
            <a:pPr algn="l" indent="0" marL="0">
              <a:lnSpc>
                <a:spcPct val="100000"/>
              </a:lnSpc>
              <a:buNone/>
            </a:pPr>
            <a:r>
              <a:rPr lang="en-US" sz="3300" b="1" dirty="0">
                <a:solidFill>
                  <a:srgbClr val="102738"/>
                </a:solidFill>
                <a:latin typeface="Aptos" pitchFamily="34" charset="0"/>
                <a:ea typeface="Aptos" pitchFamily="34" charset="-122"/>
                <a:cs typeface="Aptos" pitchFamily="34" charset="-120"/>
              </a:rPr>
              <a:t>270</a:t>
            </a:r>
            <a:endParaRPr lang="en-US" sz="3300" dirty="0"/>
          </a:p>
        </p:txBody>
      </p:sp>
      <p:sp>
        <p:nvSpPr>
          <p:cNvPr id="47" name="Text 45"/>
          <p:cNvSpPr/>
          <p:nvPr/>
        </p:nvSpPr>
        <p:spPr>
          <a:xfrm>
            <a:off x="9994392" y="3502152"/>
            <a:ext cx="1261872" cy="219456"/>
          </a:xfrm>
          <a:prstGeom prst="rect">
            <a:avLst/>
          </a:prstGeom>
          <a:noFill/>
          <a:ln/>
        </p:spPr>
        <p:txBody>
          <a:bodyPr wrap="square" lIns="0" tIns="0" rIns="0" bIns="0" rtlCol="0" anchor="ctr">
            <a:normAutofit/>
          </a:bodyPr>
          <a:lstStyle/>
          <a:p>
            <a:pPr algn="r" indent="0" marL="0">
              <a:lnSpc>
                <a:spcPct val="100000"/>
              </a:lnSpc>
              <a:buNone/>
            </a:pPr>
            <a:r>
              <a:rPr lang="en-US" sz="1100" dirty="0">
                <a:solidFill>
                  <a:srgbClr val="627889"/>
                </a:solidFill>
                <a:latin typeface="Aptos" pitchFamily="34" charset="0"/>
                <a:ea typeface="Aptos" pitchFamily="34" charset="-122"/>
                <a:cs typeface="Aptos" pitchFamily="34" charset="-120"/>
              </a:rPr>
              <a:t>meter records</a:t>
            </a:r>
            <a:endParaRPr lang="en-US" sz="1100" dirty="0"/>
          </a:p>
        </p:txBody>
      </p:sp>
      <p:sp>
        <p:nvSpPr>
          <p:cNvPr id="48" name="Text 46"/>
          <p:cNvSpPr/>
          <p:nvPr/>
        </p:nvSpPr>
        <p:spPr>
          <a:xfrm>
            <a:off x="8375904" y="3895344"/>
            <a:ext cx="2651760" cy="219456"/>
          </a:xfrm>
          <a:prstGeom prst="rect">
            <a:avLst/>
          </a:prstGeom>
          <a:noFill/>
          <a:ln/>
        </p:spPr>
        <p:txBody>
          <a:bodyPr wrap="square" lIns="0" tIns="0" rIns="0" bIns="0" rtlCol="0" anchor="ctr">
            <a:normAutofit/>
          </a:bodyPr>
          <a:lstStyle/>
          <a:p>
            <a:pPr algn="l" indent="0" marL="0">
              <a:lnSpc>
                <a:spcPct val="100000"/>
              </a:lnSpc>
              <a:buNone/>
            </a:pPr>
            <a:r>
              <a:rPr lang="en-US" sz="900" b="1" spc="145" kern="0" dirty="0">
                <a:solidFill>
                  <a:srgbClr val="E7A03E"/>
                </a:solidFill>
                <a:latin typeface="Aptos" pitchFamily="34" charset="0"/>
                <a:ea typeface="Aptos" pitchFamily="34" charset="-122"/>
                <a:cs typeface="Aptos" pitchFamily="34" charset="-120"/>
              </a:rPr>
              <a:t>NATURAL GRAIN</a:t>
            </a:r>
            <a:endParaRPr lang="en-US" sz="900" dirty="0"/>
          </a:p>
        </p:txBody>
      </p:sp>
      <p:sp>
        <p:nvSpPr>
          <p:cNvPr id="49" name="Text 47"/>
          <p:cNvSpPr/>
          <p:nvPr/>
        </p:nvSpPr>
        <p:spPr>
          <a:xfrm>
            <a:off x="8375904" y="4178808"/>
            <a:ext cx="2990088" cy="502920"/>
          </a:xfrm>
          <a:prstGeom prst="rect">
            <a:avLst/>
          </a:prstGeom>
          <a:noFill/>
          <a:ln/>
        </p:spPr>
        <p:txBody>
          <a:bodyPr wrap="square" lIns="0" tIns="0" rIns="0" bIns="0" rtlCol="0" anchor="ctr">
            <a:normAutofit/>
          </a:bodyPr>
          <a:lstStyle/>
          <a:p>
            <a:pPr algn="l" indent="0" marL="0">
              <a:lnSpc>
                <a:spcPct val="100000"/>
              </a:lnSpc>
              <a:buNone/>
            </a:pPr>
            <a:r>
              <a:rPr lang="en-US" sz="1220" b="1" dirty="0">
                <a:solidFill>
                  <a:srgbClr val="244354"/>
                </a:solidFill>
                <a:latin typeface="Aptos" pitchFamily="34" charset="0"/>
                <a:ea typeface="Aptos" pitchFamily="34" charset="-122"/>
                <a:cs typeface="Aptos" pitchFamily="34" charset="-120"/>
              </a:rPr>
              <a:t>Factory · date</a:t>
            </a:r>
            <a:endParaRPr lang="en-US" sz="1220" dirty="0"/>
          </a:p>
        </p:txBody>
      </p:sp>
      <p:sp>
        <p:nvSpPr>
          <p:cNvPr id="50" name="Shape 48"/>
          <p:cNvSpPr/>
          <p:nvPr/>
        </p:nvSpPr>
        <p:spPr>
          <a:xfrm>
            <a:off x="8330184" y="4736592"/>
            <a:ext cx="3017520" cy="292608"/>
          </a:xfrm>
          <a:prstGeom prst="roundRect">
            <a:avLst>
              <a:gd name="adj" fmla="val 37500"/>
            </a:avLst>
          </a:prstGeom>
          <a:solidFill>
            <a:srgbClr val="FFF3DF"/>
          </a:solidFill>
          <a:ln w="12700">
            <a:solidFill>
              <a:srgbClr val="FFF3DF">
                <a:alpha val="0"/>
              </a:srgbClr>
            </a:solidFill>
            <a:prstDash val="solid"/>
          </a:ln>
        </p:spPr>
      </p:sp>
      <p:sp>
        <p:nvSpPr>
          <p:cNvPr id="51" name="Text 49"/>
          <p:cNvSpPr/>
          <p:nvPr/>
        </p:nvSpPr>
        <p:spPr>
          <a:xfrm>
            <a:off x="8439912" y="4745736"/>
            <a:ext cx="2798064" cy="274320"/>
          </a:xfrm>
          <a:prstGeom prst="rect">
            <a:avLst/>
          </a:prstGeom>
          <a:noFill/>
          <a:ln/>
        </p:spPr>
        <p:txBody>
          <a:bodyPr wrap="square" lIns="0" tIns="0" rIns="0" bIns="0" rtlCol="0" anchor="ctr">
            <a:normAutofit/>
          </a:bodyPr>
          <a:lstStyle/>
          <a:p>
            <a:pPr algn="ctr" indent="0" marL="0">
              <a:lnSpc>
                <a:spcPct val="100000"/>
              </a:lnSpc>
              <a:buNone/>
            </a:pPr>
            <a:r>
              <a:rPr lang="en-US" sz="940" b="1" dirty="0">
                <a:solidFill>
                  <a:srgbClr val="E7A03E"/>
                </a:solidFill>
                <a:latin typeface="Aptos" pitchFamily="34" charset="0"/>
                <a:ea typeface="Aptos" pitchFamily="34" charset="-122"/>
                <a:cs typeface="Aptos" pitchFamily="34" charset="-120"/>
              </a:rPr>
              <a:t>How much energy did we use?</a:t>
            </a:r>
            <a:endParaRPr lang="en-US" sz="940" dirty="0"/>
          </a:p>
        </p:txBody>
      </p:sp>
      <p:sp>
        <p:nvSpPr>
          <p:cNvPr id="52" name="Shape 50"/>
          <p:cNvSpPr/>
          <p:nvPr/>
        </p:nvSpPr>
        <p:spPr>
          <a:xfrm>
            <a:off x="603504" y="5404104"/>
            <a:ext cx="10972800" cy="694944"/>
          </a:xfrm>
          <a:prstGeom prst="roundRect">
            <a:avLst>
              <a:gd name="adj" fmla="val 15789"/>
            </a:avLst>
          </a:prstGeom>
          <a:solidFill>
            <a:srgbClr val="102738"/>
          </a:solidFill>
          <a:ln w="12700">
            <a:solidFill>
              <a:srgbClr val="102738">
                <a:alpha val="0"/>
              </a:srgbClr>
            </a:solidFill>
            <a:prstDash val="solid"/>
          </a:ln>
        </p:spPr>
      </p:sp>
      <p:sp>
        <p:nvSpPr>
          <p:cNvPr id="53" name="Text 51"/>
          <p:cNvSpPr/>
          <p:nvPr/>
        </p:nvSpPr>
        <p:spPr>
          <a:xfrm>
            <a:off x="896112" y="5623560"/>
            <a:ext cx="1353312" cy="219456"/>
          </a:xfrm>
          <a:prstGeom prst="rect">
            <a:avLst/>
          </a:prstGeom>
          <a:noFill/>
          <a:ln/>
        </p:spPr>
        <p:txBody>
          <a:bodyPr wrap="square" lIns="0" tIns="0" rIns="0" bIns="0" rtlCol="0" anchor="ctr">
            <a:normAutofit/>
          </a:bodyPr>
          <a:lstStyle/>
          <a:p>
            <a:pPr algn="l" indent="0" marL="0">
              <a:lnSpc>
                <a:spcPct val="100000"/>
              </a:lnSpc>
              <a:buNone/>
            </a:pPr>
            <a:r>
              <a:rPr lang="en-US" sz="930" b="1" spc="145" kern="0" dirty="0">
                <a:solidFill>
                  <a:srgbClr val="17B8B3"/>
                </a:solidFill>
                <a:latin typeface="Aptos" pitchFamily="34" charset="0"/>
                <a:ea typeface="Aptos" pitchFamily="34" charset="-122"/>
                <a:cs typeface="Aptos" pitchFamily="34" charset="-120"/>
              </a:rPr>
              <a:t>BUSINESS NEED</a:t>
            </a:r>
            <a:endParaRPr lang="en-US" sz="930" dirty="0"/>
          </a:p>
        </p:txBody>
      </p:sp>
      <p:sp>
        <p:nvSpPr>
          <p:cNvPr id="54" name="Text 52"/>
          <p:cNvSpPr/>
          <p:nvPr/>
        </p:nvSpPr>
        <p:spPr>
          <a:xfrm>
            <a:off x="2331720" y="5577840"/>
            <a:ext cx="8897112" cy="283464"/>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FFFFFF"/>
                </a:solidFill>
                <a:latin typeface="Aptos" pitchFamily="34" charset="0"/>
                <a:ea typeface="Aptos" pitchFamily="34" charset="-122"/>
                <a:cs typeface="Aptos" pitchFamily="34" charset="-120"/>
              </a:rPr>
              <a:t>Compare plan vs actual, production quality and energy efficiency — by factory and day.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gd name="adj" fmla="val 160000"/>
            </a:avLst>
          </a:prstGeom>
          <a:solidFill>
            <a:srgbClr val="102738"/>
          </a:solidFill>
          <a:ln w="12700">
            <a:solidFill>
              <a:srgbClr val="102738">
                <a:alpha val="0"/>
              </a:srgbClr>
            </a:solidFill>
            <a:prstDash val="solid"/>
          </a:ln>
        </p:spPr>
      </p:sp>
      <p:sp>
        <p:nvSpPr>
          <p:cNvPr id="3" name="Shape 1"/>
          <p:cNvSpPr/>
          <p:nvPr/>
        </p:nvSpPr>
        <p:spPr>
          <a:xfrm>
            <a:off x="0" y="0"/>
            <a:ext cx="4063898" cy="68580"/>
          </a:xfrm>
          <a:prstGeom prst="rect">
            <a:avLst>
              <a:gd name="adj" fmla="val 160000"/>
            </a:avLst>
          </a:prstGeom>
          <a:solidFill>
            <a:srgbClr val="17B8B3"/>
          </a:solidFill>
          <a:ln w="12700">
            <a:solidFill>
              <a:srgbClr val="17B8B3">
                <a:alpha val="0"/>
              </a:srgbClr>
            </a:solidFill>
            <a:prstDash val="solid"/>
          </a:ln>
        </p:spPr>
      </p:sp>
      <p:sp>
        <p:nvSpPr>
          <p:cNvPr id="4" name="Text 2"/>
          <p:cNvSpPr/>
          <p:nvPr/>
        </p:nvSpPr>
        <p:spPr>
          <a:xfrm>
            <a:off x="585216" y="256032"/>
            <a:ext cx="8686800" cy="219456"/>
          </a:xfrm>
          <a:prstGeom prst="rect">
            <a:avLst/>
          </a:prstGeom>
          <a:noFill/>
          <a:ln/>
        </p:spPr>
        <p:txBody>
          <a:bodyPr wrap="square" lIns="0" tIns="0" rIns="0" bIns="0" rtlCol="0" anchor="ctr">
            <a:normAutofit/>
          </a:bodyPr>
          <a:lstStyle/>
          <a:p>
            <a:pPr algn="l" indent="0" marL="0">
              <a:lnSpc>
                <a:spcPct val="100000"/>
              </a:lnSpc>
              <a:buNone/>
            </a:pPr>
            <a:r>
              <a:rPr lang="en-US" sz="910" b="1" spc="120" kern="0" dirty="0">
                <a:solidFill>
                  <a:srgbClr val="627889"/>
                </a:solidFill>
                <a:latin typeface="Aptos" pitchFamily="34" charset="0"/>
                <a:ea typeface="Aptos" pitchFamily="34" charset="-122"/>
                <a:cs typeface="Aptos" pitchFamily="34" charset="-120"/>
              </a:rPr>
              <a:t>GLASSOPS 360  /  END-TO-END FLOW</a:t>
            </a:r>
            <a:endParaRPr lang="en-US" sz="910" dirty="0"/>
          </a:p>
        </p:txBody>
      </p:sp>
      <p:sp>
        <p:nvSpPr>
          <p:cNvPr id="5" name="Text 3"/>
          <p:cNvSpPr/>
          <p:nvPr/>
        </p:nvSpPr>
        <p:spPr>
          <a:xfrm>
            <a:off x="594360" y="658368"/>
            <a:ext cx="10607040" cy="493776"/>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02738"/>
                </a:solidFill>
                <a:latin typeface="Aptos" pitchFamily="34" charset="0"/>
                <a:ea typeface="Aptos" pitchFamily="34" charset="-122"/>
                <a:cs typeface="Aptos" pitchFamily="34" charset="-120"/>
              </a:rPr>
              <a:t>Validation-first architecture</a:t>
            </a:r>
            <a:endParaRPr lang="en-US" sz="3000" dirty="0"/>
          </a:p>
        </p:txBody>
      </p:sp>
      <p:sp>
        <p:nvSpPr>
          <p:cNvPr id="6" name="Text 4"/>
          <p:cNvSpPr/>
          <p:nvPr/>
        </p:nvSpPr>
        <p:spPr>
          <a:xfrm>
            <a:off x="603504" y="1225296"/>
            <a:ext cx="10927080" cy="329184"/>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627889"/>
                </a:solidFill>
                <a:latin typeface="Aptos" pitchFamily="34" charset="0"/>
                <a:ea typeface="Aptos" pitchFamily="34" charset="-122"/>
                <a:cs typeface="Aptos" pitchFamily="34" charset="-120"/>
              </a:rPr>
              <a:t>Source contracts are checked before extracts are loaded, modeled and exposed to BI.</a:t>
            </a:r>
            <a:endParaRPr lang="en-US" sz="1350" dirty="0"/>
          </a:p>
        </p:txBody>
      </p:sp>
      <p:sp>
        <p:nvSpPr>
          <p:cNvPr id="7" name="Shape 5"/>
          <p:cNvSpPr/>
          <p:nvPr/>
        </p:nvSpPr>
        <p:spPr>
          <a:xfrm>
            <a:off x="594360" y="6382512"/>
            <a:ext cx="11018520" cy="0"/>
          </a:xfrm>
          <a:prstGeom prst="line">
            <a:avLst/>
          </a:prstGeom>
          <a:noFill/>
          <a:ln w="11430">
            <a:solidFill>
              <a:srgbClr val="DCE6ED"/>
            </a:solidFill>
            <a:prstDash val="solid"/>
          </a:ln>
        </p:spPr>
      </p:sp>
      <p:sp>
        <p:nvSpPr>
          <p:cNvPr id="8" name="Text 6"/>
          <p:cNvSpPr/>
          <p:nvPr/>
        </p:nvSpPr>
        <p:spPr>
          <a:xfrm>
            <a:off x="594360" y="6492240"/>
            <a:ext cx="9784080" cy="164592"/>
          </a:xfrm>
          <a:prstGeom prst="rect">
            <a:avLst/>
          </a:prstGeom>
          <a:noFill/>
          <a:ln/>
        </p:spPr>
        <p:txBody>
          <a:bodyPr wrap="square" lIns="0" tIns="0" rIns="0" bIns="0" rtlCol="0" anchor="ctr">
            <a:normAutofit/>
          </a:bodyPr>
          <a:lstStyle/>
          <a:p>
            <a:pPr algn="l" indent="0" marL="0">
              <a:lnSpc>
                <a:spcPct val="100000"/>
              </a:lnSpc>
              <a:buNone/>
            </a:pPr>
            <a:r>
              <a:rPr lang="en-US" sz="830" dirty="0">
                <a:solidFill>
                  <a:srgbClr val="8DA1AE"/>
                </a:solidFill>
                <a:latin typeface="Aptos" pitchFamily="34" charset="0"/>
                <a:ea typeface="Aptos" pitchFamily="34" charset="-122"/>
                <a:cs typeface="Aptos" pitchFamily="34" charset="-120"/>
              </a:rPr>
              <a:t>SYNTHETIC PORTFOLIO DEMO  ·  NOT A REAL COMPANY OR SAP SYSTEM</a:t>
            </a:r>
            <a:endParaRPr lang="en-US" sz="830" dirty="0"/>
          </a:p>
        </p:txBody>
      </p:sp>
      <p:sp>
        <p:nvSpPr>
          <p:cNvPr id="9" name="Text 7"/>
          <p:cNvSpPr/>
          <p:nvPr/>
        </p:nvSpPr>
        <p:spPr>
          <a:xfrm>
            <a:off x="10652760" y="6473952"/>
            <a:ext cx="914400" cy="201168"/>
          </a:xfrm>
          <a:prstGeom prst="rect">
            <a:avLst/>
          </a:prstGeom>
          <a:noFill/>
          <a:ln/>
        </p:spPr>
        <p:txBody>
          <a:bodyPr wrap="square" lIns="0" tIns="0" rIns="0" bIns="0" rtlCol="0" anchor="ctr">
            <a:normAutofit/>
          </a:bodyPr>
          <a:lstStyle/>
          <a:p>
            <a:pPr algn="r" indent="0" marL="0">
              <a:lnSpc>
                <a:spcPct val="100000"/>
              </a:lnSpc>
              <a:buNone/>
            </a:pPr>
            <a:r>
              <a:rPr lang="en-US" sz="910" b="1" dirty="0">
                <a:solidFill>
                  <a:srgbClr val="627889"/>
                </a:solidFill>
                <a:latin typeface="Aptos" pitchFamily="34" charset="0"/>
                <a:ea typeface="Aptos" pitchFamily="34" charset="-122"/>
                <a:cs typeface="Aptos" pitchFamily="34" charset="-120"/>
              </a:rPr>
              <a:t>03 / 09</a:t>
            </a:r>
            <a:endParaRPr lang="en-US" sz="910" dirty="0"/>
          </a:p>
        </p:txBody>
      </p:sp>
      <p:sp>
        <p:nvSpPr>
          <p:cNvPr id="10" name="Shape 8"/>
          <p:cNvSpPr/>
          <p:nvPr/>
        </p:nvSpPr>
        <p:spPr>
          <a:xfrm>
            <a:off x="589788" y="1932127"/>
            <a:ext cx="1901952" cy="3346704"/>
          </a:xfrm>
          <a:prstGeom prst="roundRect">
            <a:avLst>
              <a:gd name="adj" fmla="val 5769"/>
            </a:avLst>
          </a:prstGeom>
          <a:solidFill>
            <a:srgbClr val="DCE7EC">
              <a:alpha val="50000"/>
            </a:srgbClr>
          </a:solidFill>
          <a:ln w="12700">
            <a:solidFill>
              <a:srgbClr val="DCE7EC">
                <a:alpha val="0"/>
              </a:srgbClr>
            </a:solidFill>
            <a:prstDash val="solid"/>
          </a:ln>
        </p:spPr>
      </p:sp>
      <p:sp>
        <p:nvSpPr>
          <p:cNvPr id="11" name="Shape 9"/>
          <p:cNvSpPr/>
          <p:nvPr/>
        </p:nvSpPr>
        <p:spPr>
          <a:xfrm>
            <a:off x="566928" y="1892808"/>
            <a:ext cx="1901952" cy="3346704"/>
          </a:xfrm>
          <a:prstGeom prst="roundRect">
            <a:avLst>
              <a:gd name="adj" fmla="val 5769"/>
            </a:avLst>
          </a:prstGeom>
          <a:solidFill>
            <a:srgbClr val="FFFFFF"/>
          </a:solidFill>
          <a:ln w="8890">
            <a:solidFill>
              <a:srgbClr val="DCE6ED"/>
            </a:solidFill>
            <a:prstDash val="solid"/>
          </a:ln>
        </p:spPr>
      </p:sp>
      <p:sp>
        <p:nvSpPr>
          <p:cNvPr id="12" name="Shape 10"/>
          <p:cNvSpPr/>
          <p:nvPr/>
        </p:nvSpPr>
        <p:spPr>
          <a:xfrm>
            <a:off x="566928" y="1892808"/>
            <a:ext cx="1901952" cy="77724"/>
          </a:xfrm>
          <a:prstGeom prst="rect">
            <a:avLst>
              <a:gd name="adj" fmla="val 141176"/>
            </a:avLst>
          </a:prstGeom>
          <a:solidFill>
            <a:srgbClr val="4074E8"/>
          </a:solidFill>
          <a:ln w="12700">
            <a:solidFill>
              <a:srgbClr val="4074E8">
                <a:alpha val="0"/>
              </a:srgbClr>
            </a:solidFill>
            <a:prstDash val="solid"/>
          </a:ln>
        </p:spPr>
      </p:sp>
      <p:sp>
        <p:nvSpPr>
          <p:cNvPr id="13" name="Text 11"/>
          <p:cNvSpPr/>
          <p:nvPr/>
        </p:nvSpPr>
        <p:spPr>
          <a:xfrm>
            <a:off x="804672" y="2093976"/>
            <a:ext cx="1389888" cy="219456"/>
          </a:xfrm>
          <a:prstGeom prst="rect">
            <a:avLst/>
          </a:prstGeom>
          <a:noFill/>
          <a:ln/>
        </p:spPr>
        <p:txBody>
          <a:bodyPr wrap="square" lIns="0" tIns="0" rIns="0" bIns="0" rtlCol="0" anchor="ctr">
            <a:normAutofit/>
          </a:bodyPr>
          <a:lstStyle/>
          <a:p>
            <a:pPr algn="l" indent="0" marL="0">
              <a:lnSpc>
                <a:spcPct val="100000"/>
              </a:lnSpc>
              <a:buNone/>
            </a:pPr>
            <a:r>
              <a:rPr lang="en-US" sz="900" b="1" spc="145" kern="0" dirty="0">
                <a:solidFill>
                  <a:srgbClr val="4074E8"/>
                </a:solidFill>
                <a:latin typeface="Aptos" pitchFamily="34" charset="0"/>
                <a:ea typeface="Aptos" pitchFamily="34" charset="-122"/>
                <a:cs typeface="Aptos" pitchFamily="34" charset="-120"/>
              </a:rPr>
              <a:t>01 / INGEST</a:t>
            </a:r>
            <a:endParaRPr lang="en-US" sz="900" dirty="0"/>
          </a:p>
        </p:txBody>
      </p:sp>
      <p:sp>
        <p:nvSpPr>
          <p:cNvPr id="14" name="Text 12"/>
          <p:cNvSpPr/>
          <p:nvPr/>
        </p:nvSpPr>
        <p:spPr>
          <a:xfrm>
            <a:off x="804672" y="2395728"/>
            <a:ext cx="1490472" cy="411480"/>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102738"/>
                </a:solidFill>
                <a:latin typeface="Aptos" pitchFamily="34" charset="0"/>
                <a:ea typeface="Aptos" pitchFamily="34" charset="-122"/>
                <a:cs typeface="Aptos" pitchFamily="34" charset="-120"/>
              </a:rPr>
              <a:t>Source extracts</a:t>
            </a:r>
            <a:endParaRPr lang="en-US" sz="1800" dirty="0"/>
          </a:p>
        </p:txBody>
      </p:sp>
      <p:sp>
        <p:nvSpPr>
          <p:cNvPr id="15" name="Shape 13"/>
          <p:cNvSpPr/>
          <p:nvPr/>
        </p:nvSpPr>
        <p:spPr>
          <a:xfrm>
            <a:off x="795528" y="3044952"/>
            <a:ext cx="1417320" cy="466344"/>
          </a:xfrm>
          <a:prstGeom prst="roundRect">
            <a:avLst>
              <a:gd name="adj" fmla="val 23529"/>
            </a:avLst>
          </a:prstGeom>
          <a:solidFill>
            <a:srgbClr val="F5F8FB"/>
          </a:solidFill>
          <a:ln w="9525">
            <a:solidFill>
              <a:srgbClr val="DCE6ED"/>
            </a:solidFill>
            <a:prstDash val="solid"/>
          </a:ln>
        </p:spPr>
      </p:sp>
      <p:sp>
        <p:nvSpPr>
          <p:cNvPr id="16" name="Shape 14"/>
          <p:cNvSpPr/>
          <p:nvPr/>
        </p:nvSpPr>
        <p:spPr>
          <a:xfrm>
            <a:off x="932688" y="3209544"/>
            <a:ext cx="118872" cy="118872"/>
          </a:xfrm>
          <a:prstGeom prst="ellipse">
            <a:avLst/>
          </a:prstGeom>
          <a:solidFill>
            <a:srgbClr val="4074E8"/>
          </a:solidFill>
          <a:ln w="12700">
            <a:solidFill>
              <a:srgbClr val="4074E8">
                <a:alpha val="0"/>
              </a:srgbClr>
            </a:solidFill>
            <a:prstDash val="solid"/>
          </a:ln>
        </p:spPr>
      </p:sp>
      <p:sp>
        <p:nvSpPr>
          <p:cNvPr id="17" name="Text 15"/>
          <p:cNvSpPr/>
          <p:nvPr/>
        </p:nvSpPr>
        <p:spPr>
          <a:xfrm>
            <a:off x="1143000" y="3163824"/>
            <a:ext cx="969264" cy="201168"/>
          </a:xfrm>
          <a:prstGeom prst="rect">
            <a:avLst/>
          </a:prstGeom>
          <a:noFill/>
          <a:ln/>
        </p:spPr>
        <p:txBody>
          <a:bodyPr wrap="square" lIns="0" tIns="0" rIns="0" bIns="0" rtlCol="0" anchor="ctr">
            <a:normAutofit/>
          </a:bodyPr>
          <a:lstStyle/>
          <a:p>
            <a:pPr algn="l" indent="0" marL="0">
              <a:lnSpc>
                <a:spcPct val="100000"/>
              </a:lnSpc>
              <a:buNone/>
            </a:pPr>
            <a:r>
              <a:rPr lang="en-US" sz="1170" b="1" dirty="0">
                <a:solidFill>
                  <a:srgbClr val="183548"/>
                </a:solidFill>
                <a:latin typeface="Aptos" pitchFamily="34" charset="0"/>
                <a:ea typeface="Aptos" pitchFamily="34" charset="-122"/>
                <a:cs typeface="Aptos" pitchFamily="34" charset="-120"/>
              </a:rPr>
              <a:t>SAP ERP</a:t>
            </a:r>
            <a:endParaRPr lang="en-US" sz="1170" dirty="0"/>
          </a:p>
        </p:txBody>
      </p:sp>
      <p:sp>
        <p:nvSpPr>
          <p:cNvPr id="18" name="Shape 16"/>
          <p:cNvSpPr/>
          <p:nvPr/>
        </p:nvSpPr>
        <p:spPr>
          <a:xfrm>
            <a:off x="795528" y="3703320"/>
            <a:ext cx="1417320" cy="466344"/>
          </a:xfrm>
          <a:prstGeom prst="roundRect">
            <a:avLst>
              <a:gd name="adj" fmla="val 23529"/>
            </a:avLst>
          </a:prstGeom>
          <a:solidFill>
            <a:srgbClr val="F5F8FB"/>
          </a:solidFill>
          <a:ln w="9525">
            <a:solidFill>
              <a:srgbClr val="DCE6ED"/>
            </a:solidFill>
            <a:prstDash val="solid"/>
          </a:ln>
        </p:spPr>
      </p:sp>
      <p:sp>
        <p:nvSpPr>
          <p:cNvPr id="19" name="Shape 17"/>
          <p:cNvSpPr/>
          <p:nvPr/>
        </p:nvSpPr>
        <p:spPr>
          <a:xfrm>
            <a:off x="932688" y="3867912"/>
            <a:ext cx="118872" cy="118872"/>
          </a:xfrm>
          <a:prstGeom prst="ellipse">
            <a:avLst/>
          </a:prstGeom>
          <a:solidFill>
            <a:srgbClr val="078E96"/>
          </a:solidFill>
          <a:ln w="12700">
            <a:solidFill>
              <a:srgbClr val="078E96">
                <a:alpha val="0"/>
              </a:srgbClr>
            </a:solidFill>
            <a:prstDash val="solid"/>
          </a:ln>
        </p:spPr>
      </p:sp>
      <p:sp>
        <p:nvSpPr>
          <p:cNvPr id="20" name="Text 18"/>
          <p:cNvSpPr/>
          <p:nvPr/>
        </p:nvSpPr>
        <p:spPr>
          <a:xfrm>
            <a:off x="1143000" y="3822192"/>
            <a:ext cx="969264" cy="201168"/>
          </a:xfrm>
          <a:prstGeom prst="rect">
            <a:avLst/>
          </a:prstGeom>
          <a:noFill/>
          <a:ln/>
        </p:spPr>
        <p:txBody>
          <a:bodyPr wrap="square" lIns="0" tIns="0" rIns="0" bIns="0" rtlCol="0" anchor="ctr">
            <a:normAutofit/>
          </a:bodyPr>
          <a:lstStyle/>
          <a:p>
            <a:pPr algn="l" indent="0" marL="0">
              <a:lnSpc>
                <a:spcPct val="100000"/>
              </a:lnSpc>
              <a:buNone/>
            </a:pPr>
            <a:r>
              <a:rPr lang="en-US" sz="1170" b="1" dirty="0">
                <a:solidFill>
                  <a:srgbClr val="183548"/>
                </a:solidFill>
                <a:latin typeface="Aptos" pitchFamily="34" charset="0"/>
                <a:ea typeface="Aptos" pitchFamily="34" charset="-122"/>
                <a:cs typeface="Aptos" pitchFamily="34" charset="-120"/>
              </a:rPr>
              <a:t>MES</a:t>
            </a:r>
            <a:endParaRPr lang="en-US" sz="1170" dirty="0"/>
          </a:p>
        </p:txBody>
      </p:sp>
      <p:sp>
        <p:nvSpPr>
          <p:cNvPr id="21" name="Shape 19"/>
          <p:cNvSpPr/>
          <p:nvPr/>
        </p:nvSpPr>
        <p:spPr>
          <a:xfrm>
            <a:off x="795528" y="4361688"/>
            <a:ext cx="1417320" cy="466344"/>
          </a:xfrm>
          <a:prstGeom prst="roundRect">
            <a:avLst>
              <a:gd name="adj" fmla="val 23529"/>
            </a:avLst>
          </a:prstGeom>
          <a:solidFill>
            <a:srgbClr val="F5F8FB"/>
          </a:solidFill>
          <a:ln w="9525">
            <a:solidFill>
              <a:srgbClr val="DCE6ED"/>
            </a:solidFill>
            <a:prstDash val="solid"/>
          </a:ln>
        </p:spPr>
      </p:sp>
      <p:sp>
        <p:nvSpPr>
          <p:cNvPr id="22" name="Shape 20"/>
          <p:cNvSpPr/>
          <p:nvPr/>
        </p:nvSpPr>
        <p:spPr>
          <a:xfrm>
            <a:off x="932688" y="4526280"/>
            <a:ext cx="118872" cy="118872"/>
          </a:xfrm>
          <a:prstGeom prst="ellipse">
            <a:avLst/>
          </a:prstGeom>
          <a:solidFill>
            <a:srgbClr val="E7A03E"/>
          </a:solidFill>
          <a:ln w="12700">
            <a:solidFill>
              <a:srgbClr val="E7A03E">
                <a:alpha val="0"/>
              </a:srgbClr>
            </a:solidFill>
            <a:prstDash val="solid"/>
          </a:ln>
        </p:spPr>
      </p:sp>
      <p:sp>
        <p:nvSpPr>
          <p:cNvPr id="23" name="Text 21"/>
          <p:cNvSpPr/>
          <p:nvPr/>
        </p:nvSpPr>
        <p:spPr>
          <a:xfrm>
            <a:off x="1143000" y="4480560"/>
            <a:ext cx="969264" cy="201168"/>
          </a:xfrm>
          <a:prstGeom prst="rect">
            <a:avLst/>
          </a:prstGeom>
          <a:noFill/>
          <a:ln/>
        </p:spPr>
        <p:txBody>
          <a:bodyPr wrap="square" lIns="0" tIns="0" rIns="0" bIns="0" rtlCol="0" anchor="ctr">
            <a:normAutofit/>
          </a:bodyPr>
          <a:lstStyle/>
          <a:p>
            <a:pPr algn="l" indent="0" marL="0">
              <a:lnSpc>
                <a:spcPct val="100000"/>
              </a:lnSpc>
              <a:buNone/>
            </a:pPr>
            <a:r>
              <a:rPr lang="en-US" sz="1170" b="1" dirty="0">
                <a:solidFill>
                  <a:srgbClr val="183548"/>
                </a:solidFill>
                <a:latin typeface="Aptos" pitchFamily="34" charset="0"/>
                <a:ea typeface="Aptos" pitchFamily="34" charset="-122"/>
                <a:cs typeface="Aptos" pitchFamily="34" charset="-120"/>
              </a:rPr>
              <a:t>ENERGY</a:t>
            </a:r>
            <a:endParaRPr lang="en-US" sz="1170" dirty="0"/>
          </a:p>
        </p:txBody>
      </p:sp>
      <p:sp>
        <p:nvSpPr>
          <p:cNvPr id="24" name="Shape 22"/>
          <p:cNvSpPr/>
          <p:nvPr/>
        </p:nvSpPr>
        <p:spPr>
          <a:xfrm>
            <a:off x="2793492" y="1932127"/>
            <a:ext cx="2157984" cy="3346704"/>
          </a:xfrm>
          <a:prstGeom prst="roundRect">
            <a:avLst>
              <a:gd name="adj" fmla="val 5085"/>
            </a:avLst>
          </a:prstGeom>
          <a:solidFill>
            <a:srgbClr val="DCE7EC">
              <a:alpha val="50000"/>
            </a:srgbClr>
          </a:solidFill>
          <a:ln w="12700">
            <a:solidFill>
              <a:srgbClr val="DCE7EC">
                <a:alpha val="0"/>
              </a:srgbClr>
            </a:solidFill>
            <a:prstDash val="solid"/>
          </a:ln>
        </p:spPr>
      </p:sp>
      <p:sp>
        <p:nvSpPr>
          <p:cNvPr id="25" name="Shape 23"/>
          <p:cNvSpPr/>
          <p:nvPr/>
        </p:nvSpPr>
        <p:spPr>
          <a:xfrm>
            <a:off x="2770632" y="1892808"/>
            <a:ext cx="2157984" cy="3346704"/>
          </a:xfrm>
          <a:prstGeom prst="roundRect">
            <a:avLst>
              <a:gd name="adj" fmla="val 5085"/>
            </a:avLst>
          </a:prstGeom>
          <a:solidFill>
            <a:srgbClr val="FFFFFF"/>
          </a:solidFill>
          <a:ln w="8890">
            <a:solidFill>
              <a:srgbClr val="DCE6ED"/>
            </a:solidFill>
            <a:prstDash val="solid"/>
          </a:ln>
        </p:spPr>
      </p:sp>
      <p:sp>
        <p:nvSpPr>
          <p:cNvPr id="26" name="Shape 24"/>
          <p:cNvSpPr/>
          <p:nvPr/>
        </p:nvSpPr>
        <p:spPr>
          <a:xfrm>
            <a:off x="2770632" y="1892808"/>
            <a:ext cx="2157984" cy="77724"/>
          </a:xfrm>
          <a:prstGeom prst="rect">
            <a:avLst>
              <a:gd name="adj" fmla="val 141176"/>
            </a:avLst>
          </a:prstGeom>
          <a:solidFill>
            <a:srgbClr val="078E96"/>
          </a:solidFill>
          <a:ln w="12700">
            <a:solidFill>
              <a:srgbClr val="078E96">
                <a:alpha val="0"/>
              </a:srgbClr>
            </a:solidFill>
            <a:prstDash val="solid"/>
          </a:ln>
        </p:spPr>
      </p:sp>
      <p:sp>
        <p:nvSpPr>
          <p:cNvPr id="27" name="Text 25"/>
          <p:cNvSpPr/>
          <p:nvPr/>
        </p:nvSpPr>
        <p:spPr>
          <a:xfrm>
            <a:off x="3026664" y="2093976"/>
            <a:ext cx="1655064" cy="219456"/>
          </a:xfrm>
          <a:prstGeom prst="rect">
            <a:avLst/>
          </a:prstGeom>
          <a:noFill/>
          <a:ln/>
        </p:spPr>
        <p:txBody>
          <a:bodyPr wrap="square" lIns="0" tIns="0" rIns="0" bIns="0" rtlCol="0" anchor="ctr">
            <a:normAutofit/>
          </a:bodyPr>
          <a:lstStyle/>
          <a:p>
            <a:pPr algn="l" indent="0" marL="0">
              <a:lnSpc>
                <a:spcPct val="100000"/>
              </a:lnSpc>
              <a:buNone/>
            </a:pPr>
            <a:r>
              <a:rPr lang="en-US" sz="900" b="1" spc="145" kern="0" dirty="0">
                <a:solidFill>
                  <a:srgbClr val="078E96"/>
                </a:solidFill>
                <a:latin typeface="Aptos" pitchFamily="34" charset="0"/>
                <a:ea typeface="Aptos" pitchFamily="34" charset="-122"/>
                <a:cs typeface="Aptos" pitchFamily="34" charset="-120"/>
              </a:rPr>
              <a:t>02 / VERIFY</a:t>
            </a:r>
            <a:endParaRPr lang="en-US" sz="900" dirty="0"/>
          </a:p>
        </p:txBody>
      </p:sp>
      <p:sp>
        <p:nvSpPr>
          <p:cNvPr id="28" name="Text 26"/>
          <p:cNvSpPr/>
          <p:nvPr/>
        </p:nvSpPr>
        <p:spPr>
          <a:xfrm>
            <a:off x="3017520" y="2404872"/>
            <a:ext cx="1728216" cy="384048"/>
          </a:xfrm>
          <a:prstGeom prst="rect">
            <a:avLst/>
          </a:prstGeom>
          <a:noFill/>
          <a:ln/>
        </p:spPr>
        <p:txBody>
          <a:bodyPr wrap="square" lIns="0" tIns="0" rIns="0" bIns="0" rtlCol="0" anchor="ctr">
            <a:normAutofit/>
          </a:bodyPr>
          <a:lstStyle/>
          <a:p>
            <a:pPr algn="l" indent="0" marL="0">
              <a:lnSpc>
                <a:spcPct val="100000"/>
              </a:lnSpc>
              <a:buNone/>
            </a:pPr>
            <a:r>
              <a:rPr lang="en-US" sz="1720" b="1" dirty="0">
                <a:solidFill>
                  <a:srgbClr val="102738"/>
                </a:solidFill>
                <a:latin typeface="Aptos" pitchFamily="34" charset="0"/>
                <a:ea typeface="Aptos" pitchFamily="34" charset="-122"/>
                <a:cs typeface="Aptos" pitchFamily="34" charset="-120"/>
              </a:rPr>
              <a:t>Source contract</a:t>
            </a:r>
            <a:endParaRPr lang="en-US" sz="1720" dirty="0"/>
          </a:p>
        </p:txBody>
      </p:sp>
      <p:sp>
        <p:nvSpPr>
          <p:cNvPr id="29" name="Text 27"/>
          <p:cNvSpPr/>
          <p:nvPr/>
        </p:nvSpPr>
        <p:spPr>
          <a:xfrm>
            <a:off x="3017520" y="2761488"/>
            <a:ext cx="1728216" cy="347472"/>
          </a:xfrm>
          <a:prstGeom prst="rect">
            <a:avLst/>
          </a:prstGeom>
          <a:noFill/>
          <a:ln/>
        </p:spPr>
        <p:txBody>
          <a:bodyPr wrap="square" lIns="0" tIns="0" rIns="0" bIns="0" rtlCol="0" anchor="ctr">
            <a:normAutofit/>
          </a:bodyPr>
          <a:lstStyle/>
          <a:p>
            <a:pPr algn="l" indent="0" marL="0">
              <a:lnSpc>
                <a:spcPct val="100000"/>
              </a:lnSpc>
              <a:buNone/>
            </a:pPr>
            <a:r>
              <a:rPr lang="en-US" sz="1720" b="1" dirty="0">
                <a:solidFill>
                  <a:srgbClr val="102738"/>
                </a:solidFill>
                <a:latin typeface="Aptos" pitchFamily="34" charset="0"/>
                <a:ea typeface="Aptos" pitchFamily="34" charset="-122"/>
                <a:cs typeface="Aptos" pitchFamily="34" charset="-120"/>
              </a:rPr>
              <a:t>&amp; quality gate</a:t>
            </a:r>
            <a:endParaRPr lang="en-US" sz="1720" dirty="0"/>
          </a:p>
        </p:txBody>
      </p:sp>
      <p:sp>
        <p:nvSpPr>
          <p:cNvPr id="30" name="Shape 28"/>
          <p:cNvSpPr/>
          <p:nvPr/>
        </p:nvSpPr>
        <p:spPr>
          <a:xfrm>
            <a:off x="3054096" y="3392424"/>
            <a:ext cx="128016" cy="128016"/>
          </a:xfrm>
          <a:prstGeom prst="ellipse">
            <a:avLst/>
          </a:prstGeom>
          <a:solidFill>
            <a:srgbClr val="078E96"/>
          </a:solidFill>
          <a:ln w="12700">
            <a:solidFill>
              <a:srgbClr val="078E96">
                <a:alpha val="0"/>
              </a:srgbClr>
            </a:solidFill>
            <a:prstDash val="solid"/>
          </a:ln>
        </p:spPr>
      </p:sp>
      <p:sp>
        <p:nvSpPr>
          <p:cNvPr id="31" name="Text 29"/>
          <p:cNvSpPr/>
          <p:nvPr/>
        </p:nvSpPr>
        <p:spPr>
          <a:xfrm>
            <a:off x="3072384" y="3383280"/>
            <a:ext cx="91440" cy="128016"/>
          </a:xfrm>
          <a:prstGeom prst="rect">
            <a:avLst/>
          </a:prstGeom>
          <a:noFill/>
          <a:ln/>
        </p:spPr>
        <p:txBody>
          <a:bodyPr wrap="square" lIns="0" tIns="0" rIns="0" bIns="0" rtlCol="0" anchor="ctr">
            <a:normAutofit/>
          </a:bodyPr>
          <a:lstStyle/>
          <a:p>
            <a:pPr algn="ctr" indent="0" marL="0">
              <a:lnSpc>
                <a:spcPct val="100000"/>
              </a:lnSpc>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32" name="Text 30"/>
          <p:cNvSpPr/>
          <p:nvPr/>
        </p:nvSpPr>
        <p:spPr>
          <a:xfrm>
            <a:off x="3273552" y="3328416"/>
            <a:ext cx="1435608" cy="256032"/>
          </a:xfrm>
          <a:prstGeom prst="rect">
            <a:avLst/>
          </a:prstGeom>
          <a:noFill/>
          <a:ln/>
        </p:spPr>
        <p:txBody>
          <a:bodyPr wrap="square" lIns="0" tIns="0" rIns="0" bIns="0" rtlCol="0" anchor="ctr">
            <a:normAutofit/>
          </a:bodyPr>
          <a:lstStyle/>
          <a:p>
            <a:pPr algn="l" indent="0" marL="0">
              <a:lnSpc>
                <a:spcPct val="100000"/>
              </a:lnSpc>
              <a:buNone/>
            </a:pPr>
            <a:r>
              <a:rPr lang="en-US" sz="1080" dirty="0">
                <a:solidFill>
                  <a:srgbClr val="244354"/>
                </a:solidFill>
                <a:latin typeface="Aptos" pitchFamily="34" charset="0"/>
                <a:ea typeface="Aptos" pitchFamily="34" charset="-122"/>
                <a:cs typeface="Aptos" pitchFamily="34" charset="-120"/>
              </a:rPr>
              <a:t>Required schema</a:t>
            </a:r>
            <a:endParaRPr lang="en-US" sz="1080" dirty="0"/>
          </a:p>
        </p:txBody>
      </p:sp>
      <p:sp>
        <p:nvSpPr>
          <p:cNvPr id="33" name="Shape 31"/>
          <p:cNvSpPr/>
          <p:nvPr/>
        </p:nvSpPr>
        <p:spPr>
          <a:xfrm>
            <a:off x="3054096" y="3758184"/>
            <a:ext cx="128016" cy="128016"/>
          </a:xfrm>
          <a:prstGeom prst="ellipse">
            <a:avLst/>
          </a:prstGeom>
          <a:solidFill>
            <a:srgbClr val="078E96"/>
          </a:solidFill>
          <a:ln w="12700">
            <a:solidFill>
              <a:srgbClr val="078E96">
                <a:alpha val="0"/>
              </a:srgbClr>
            </a:solidFill>
            <a:prstDash val="solid"/>
          </a:ln>
        </p:spPr>
      </p:sp>
      <p:sp>
        <p:nvSpPr>
          <p:cNvPr id="34" name="Text 32"/>
          <p:cNvSpPr/>
          <p:nvPr/>
        </p:nvSpPr>
        <p:spPr>
          <a:xfrm>
            <a:off x="3072384" y="3749040"/>
            <a:ext cx="91440" cy="128016"/>
          </a:xfrm>
          <a:prstGeom prst="rect">
            <a:avLst/>
          </a:prstGeom>
          <a:noFill/>
          <a:ln/>
        </p:spPr>
        <p:txBody>
          <a:bodyPr wrap="square" lIns="0" tIns="0" rIns="0" bIns="0" rtlCol="0" anchor="ctr">
            <a:normAutofit/>
          </a:bodyPr>
          <a:lstStyle/>
          <a:p>
            <a:pPr algn="ctr" indent="0" marL="0">
              <a:lnSpc>
                <a:spcPct val="100000"/>
              </a:lnSpc>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35" name="Text 33"/>
          <p:cNvSpPr/>
          <p:nvPr/>
        </p:nvSpPr>
        <p:spPr>
          <a:xfrm>
            <a:off x="3273552" y="3694176"/>
            <a:ext cx="1435608" cy="256032"/>
          </a:xfrm>
          <a:prstGeom prst="rect">
            <a:avLst/>
          </a:prstGeom>
          <a:noFill/>
          <a:ln/>
        </p:spPr>
        <p:txBody>
          <a:bodyPr wrap="square" lIns="0" tIns="0" rIns="0" bIns="0" rtlCol="0" anchor="ctr">
            <a:normAutofit/>
          </a:bodyPr>
          <a:lstStyle/>
          <a:p>
            <a:pPr algn="l" indent="0" marL="0">
              <a:lnSpc>
                <a:spcPct val="100000"/>
              </a:lnSpc>
              <a:buNone/>
            </a:pPr>
            <a:r>
              <a:rPr lang="en-US" sz="1080" dirty="0">
                <a:solidFill>
                  <a:srgbClr val="244354"/>
                </a:solidFill>
                <a:latin typeface="Aptos" pitchFamily="34" charset="0"/>
                <a:ea typeface="Aptos" pitchFamily="34" charset="-122"/>
                <a:cs typeface="Aptos" pitchFamily="34" charset="-120"/>
              </a:rPr>
              <a:t>Keys &amp; duplicates</a:t>
            </a:r>
            <a:endParaRPr lang="en-US" sz="1080" dirty="0"/>
          </a:p>
        </p:txBody>
      </p:sp>
      <p:sp>
        <p:nvSpPr>
          <p:cNvPr id="36" name="Shape 34"/>
          <p:cNvSpPr/>
          <p:nvPr/>
        </p:nvSpPr>
        <p:spPr>
          <a:xfrm>
            <a:off x="3054096" y="4123944"/>
            <a:ext cx="128016" cy="128016"/>
          </a:xfrm>
          <a:prstGeom prst="ellipse">
            <a:avLst/>
          </a:prstGeom>
          <a:solidFill>
            <a:srgbClr val="078E96"/>
          </a:solidFill>
          <a:ln w="12700">
            <a:solidFill>
              <a:srgbClr val="078E96">
                <a:alpha val="0"/>
              </a:srgbClr>
            </a:solidFill>
            <a:prstDash val="solid"/>
          </a:ln>
        </p:spPr>
      </p:sp>
      <p:sp>
        <p:nvSpPr>
          <p:cNvPr id="37" name="Text 35"/>
          <p:cNvSpPr/>
          <p:nvPr/>
        </p:nvSpPr>
        <p:spPr>
          <a:xfrm>
            <a:off x="3072384" y="4114800"/>
            <a:ext cx="91440" cy="128016"/>
          </a:xfrm>
          <a:prstGeom prst="rect">
            <a:avLst/>
          </a:prstGeom>
          <a:noFill/>
          <a:ln/>
        </p:spPr>
        <p:txBody>
          <a:bodyPr wrap="square" lIns="0" tIns="0" rIns="0" bIns="0" rtlCol="0" anchor="ctr">
            <a:normAutofit/>
          </a:bodyPr>
          <a:lstStyle/>
          <a:p>
            <a:pPr algn="ctr" indent="0" marL="0">
              <a:lnSpc>
                <a:spcPct val="100000"/>
              </a:lnSpc>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38" name="Text 36"/>
          <p:cNvSpPr/>
          <p:nvPr/>
        </p:nvSpPr>
        <p:spPr>
          <a:xfrm>
            <a:off x="3273552" y="4059936"/>
            <a:ext cx="1435608" cy="256032"/>
          </a:xfrm>
          <a:prstGeom prst="rect">
            <a:avLst/>
          </a:prstGeom>
          <a:noFill/>
          <a:ln/>
        </p:spPr>
        <p:txBody>
          <a:bodyPr wrap="square" lIns="0" tIns="0" rIns="0" bIns="0" rtlCol="0" anchor="ctr">
            <a:normAutofit/>
          </a:bodyPr>
          <a:lstStyle/>
          <a:p>
            <a:pPr algn="l" indent="0" marL="0">
              <a:lnSpc>
                <a:spcPct val="100000"/>
              </a:lnSpc>
              <a:buNone/>
            </a:pPr>
            <a:r>
              <a:rPr lang="en-US" sz="1080" dirty="0">
                <a:solidFill>
                  <a:srgbClr val="244354"/>
                </a:solidFill>
                <a:latin typeface="Aptos" pitchFamily="34" charset="0"/>
                <a:ea typeface="Aptos" pitchFamily="34" charset="-122"/>
                <a:cs typeface="Aptos" pitchFamily="34" charset="-120"/>
              </a:rPr>
              <a:t>Measures &amp; dates</a:t>
            </a:r>
            <a:endParaRPr lang="en-US" sz="1080" dirty="0"/>
          </a:p>
        </p:txBody>
      </p:sp>
      <p:sp>
        <p:nvSpPr>
          <p:cNvPr id="39" name="Shape 37"/>
          <p:cNvSpPr/>
          <p:nvPr/>
        </p:nvSpPr>
        <p:spPr>
          <a:xfrm>
            <a:off x="3054096" y="4489704"/>
            <a:ext cx="128016" cy="128016"/>
          </a:xfrm>
          <a:prstGeom prst="ellipse">
            <a:avLst/>
          </a:prstGeom>
          <a:solidFill>
            <a:srgbClr val="078E96"/>
          </a:solidFill>
          <a:ln w="12700">
            <a:solidFill>
              <a:srgbClr val="078E96">
                <a:alpha val="0"/>
              </a:srgbClr>
            </a:solidFill>
            <a:prstDash val="solid"/>
          </a:ln>
        </p:spPr>
      </p:sp>
      <p:sp>
        <p:nvSpPr>
          <p:cNvPr id="40" name="Text 38"/>
          <p:cNvSpPr/>
          <p:nvPr/>
        </p:nvSpPr>
        <p:spPr>
          <a:xfrm>
            <a:off x="3072384" y="4480560"/>
            <a:ext cx="91440" cy="128016"/>
          </a:xfrm>
          <a:prstGeom prst="rect">
            <a:avLst/>
          </a:prstGeom>
          <a:noFill/>
          <a:ln/>
        </p:spPr>
        <p:txBody>
          <a:bodyPr wrap="square" lIns="0" tIns="0" rIns="0" bIns="0" rtlCol="0" anchor="ctr">
            <a:normAutofit/>
          </a:bodyPr>
          <a:lstStyle/>
          <a:p>
            <a:pPr algn="ctr" indent="0" marL="0">
              <a:lnSpc>
                <a:spcPct val="100000"/>
              </a:lnSpc>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41" name="Text 39"/>
          <p:cNvSpPr/>
          <p:nvPr/>
        </p:nvSpPr>
        <p:spPr>
          <a:xfrm>
            <a:off x="3273552" y="4425696"/>
            <a:ext cx="1435608" cy="256032"/>
          </a:xfrm>
          <a:prstGeom prst="rect">
            <a:avLst/>
          </a:prstGeom>
          <a:noFill/>
          <a:ln/>
        </p:spPr>
        <p:txBody>
          <a:bodyPr wrap="square" lIns="0" tIns="0" rIns="0" bIns="0" rtlCol="0" anchor="ctr">
            <a:normAutofit/>
          </a:bodyPr>
          <a:lstStyle/>
          <a:p>
            <a:pPr algn="l" indent="0" marL="0">
              <a:lnSpc>
                <a:spcPct val="100000"/>
              </a:lnSpc>
              <a:buNone/>
            </a:pPr>
            <a:r>
              <a:rPr lang="en-US" sz="1080" dirty="0">
                <a:solidFill>
                  <a:srgbClr val="244354"/>
                </a:solidFill>
                <a:latin typeface="Aptos" pitchFamily="34" charset="0"/>
                <a:ea typeface="Aptos" pitchFamily="34" charset="-122"/>
                <a:cs typeface="Aptos" pitchFamily="34" charset="-120"/>
              </a:rPr>
              <a:t>Reference lookups</a:t>
            </a:r>
            <a:endParaRPr lang="en-US" sz="1080" dirty="0"/>
          </a:p>
        </p:txBody>
      </p:sp>
      <p:sp>
        <p:nvSpPr>
          <p:cNvPr id="42" name="Shape 40"/>
          <p:cNvSpPr/>
          <p:nvPr/>
        </p:nvSpPr>
        <p:spPr>
          <a:xfrm>
            <a:off x="5280660" y="1730959"/>
            <a:ext cx="4142232" cy="3749040"/>
          </a:xfrm>
          <a:prstGeom prst="roundRect">
            <a:avLst>
              <a:gd name="adj" fmla="val 2927"/>
            </a:avLst>
          </a:prstGeom>
          <a:solidFill>
            <a:srgbClr val="DCE7EC">
              <a:alpha val="50000"/>
            </a:srgbClr>
          </a:solidFill>
          <a:ln w="12700">
            <a:solidFill>
              <a:srgbClr val="DCE7EC">
                <a:alpha val="0"/>
              </a:srgbClr>
            </a:solidFill>
            <a:prstDash val="solid"/>
          </a:ln>
        </p:spPr>
      </p:sp>
      <p:sp>
        <p:nvSpPr>
          <p:cNvPr id="43" name="Shape 41"/>
          <p:cNvSpPr/>
          <p:nvPr/>
        </p:nvSpPr>
        <p:spPr>
          <a:xfrm>
            <a:off x="5257800" y="1691640"/>
            <a:ext cx="4142232" cy="3749040"/>
          </a:xfrm>
          <a:prstGeom prst="roundRect">
            <a:avLst>
              <a:gd name="adj" fmla="val 2927"/>
            </a:avLst>
          </a:prstGeom>
          <a:solidFill>
            <a:srgbClr val="FFFFFF"/>
          </a:solidFill>
          <a:ln w="8890">
            <a:solidFill>
              <a:srgbClr val="DCE6ED"/>
            </a:solidFill>
            <a:prstDash val="solid"/>
          </a:ln>
        </p:spPr>
      </p:sp>
      <p:sp>
        <p:nvSpPr>
          <p:cNvPr id="44" name="Shape 42"/>
          <p:cNvSpPr/>
          <p:nvPr/>
        </p:nvSpPr>
        <p:spPr>
          <a:xfrm>
            <a:off x="5257800" y="1691640"/>
            <a:ext cx="4142232" cy="77724"/>
          </a:xfrm>
          <a:prstGeom prst="rect">
            <a:avLst>
              <a:gd name="adj" fmla="val 141176"/>
            </a:avLst>
          </a:prstGeom>
          <a:solidFill>
            <a:srgbClr val="102738"/>
          </a:solidFill>
          <a:ln w="12700">
            <a:solidFill>
              <a:srgbClr val="102738">
                <a:alpha val="0"/>
              </a:srgbClr>
            </a:solidFill>
            <a:prstDash val="solid"/>
          </a:ln>
        </p:spPr>
      </p:sp>
      <p:sp>
        <p:nvSpPr>
          <p:cNvPr id="45" name="Text 43"/>
          <p:cNvSpPr/>
          <p:nvPr/>
        </p:nvSpPr>
        <p:spPr>
          <a:xfrm>
            <a:off x="5522976" y="1911096"/>
            <a:ext cx="2423160" cy="219456"/>
          </a:xfrm>
          <a:prstGeom prst="rect">
            <a:avLst/>
          </a:prstGeom>
          <a:noFill/>
          <a:ln/>
        </p:spPr>
        <p:txBody>
          <a:bodyPr wrap="square" lIns="0" tIns="0" rIns="0" bIns="0" rtlCol="0" anchor="ctr">
            <a:normAutofit/>
          </a:bodyPr>
          <a:lstStyle/>
          <a:p>
            <a:pPr algn="l" indent="0" marL="0">
              <a:lnSpc>
                <a:spcPct val="100000"/>
              </a:lnSpc>
              <a:buNone/>
            </a:pPr>
            <a:r>
              <a:rPr lang="en-US" sz="900" b="1" spc="145" kern="0" dirty="0">
                <a:solidFill>
                  <a:srgbClr val="4074E8"/>
                </a:solidFill>
                <a:latin typeface="Aptos" pitchFamily="34" charset="0"/>
                <a:ea typeface="Aptos" pitchFamily="34" charset="-122"/>
                <a:cs typeface="Aptos" pitchFamily="34" charset="-120"/>
              </a:rPr>
              <a:t>03 / LOAD &amp; MODEL</a:t>
            </a:r>
            <a:endParaRPr lang="en-US" sz="900" dirty="0"/>
          </a:p>
        </p:txBody>
      </p:sp>
      <p:sp>
        <p:nvSpPr>
          <p:cNvPr id="46" name="Text 44"/>
          <p:cNvSpPr/>
          <p:nvPr/>
        </p:nvSpPr>
        <p:spPr>
          <a:xfrm>
            <a:off x="5522976" y="2212848"/>
            <a:ext cx="3502152" cy="374904"/>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102738"/>
                </a:solidFill>
                <a:latin typeface="Aptos" pitchFamily="34" charset="0"/>
                <a:ea typeface="Aptos" pitchFamily="34" charset="-122"/>
                <a:cs typeface="Aptos" pitchFamily="34" charset="-120"/>
              </a:rPr>
              <a:t>DuckDB  /  warehouse</a:t>
            </a:r>
            <a:endParaRPr lang="en-US" sz="1900" dirty="0"/>
          </a:p>
        </p:txBody>
      </p:sp>
      <p:sp>
        <p:nvSpPr>
          <p:cNvPr id="47" name="Shape 45"/>
          <p:cNvSpPr/>
          <p:nvPr/>
        </p:nvSpPr>
        <p:spPr>
          <a:xfrm>
            <a:off x="5559552" y="2807208"/>
            <a:ext cx="3511296" cy="557784"/>
          </a:xfrm>
          <a:prstGeom prst="roundRect">
            <a:avLst>
              <a:gd name="adj" fmla="val 19672"/>
            </a:avLst>
          </a:prstGeom>
          <a:solidFill>
            <a:srgbClr val="EAF1FE"/>
          </a:solidFill>
          <a:ln w="9525">
            <a:solidFill>
              <a:srgbClr val="C9DBF6"/>
            </a:solidFill>
            <a:prstDash val="solid"/>
          </a:ln>
        </p:spPr>
      </p:sp>
      <p:sp>
        <p:nvSpPr>
          <p:cNvPr id="48" name="Text 46"/>
          <p:cNvSpPr/>
          <p:nvPr/>
        </p:nvSpPr>
        <p:spPr>
          <a:xfrm>
            <a:off x="5760720" y="2971800"/>
            <a:ext cx="2642616" cy="192024"/>
          </a:xfrm>
          <a:prstGeom prst="rect">
            <a:avLst/>
          </a:prstGeom>
          <a:noFill/>
          <a:ln/>
        </p:spPr>
        <p:txBody>
          <a:bodyPr wrap="square" lIns="0" tIns="0" rIns="0" bIns="0" rtlCol="0" anchor="ctr">
            <a:normAutofit/>
          </a:bodyPr>
          <a:lstStyle/>
          <a:p>
            <a:pPr algn="l" indent="0" marL="0">
              <a:lnSpc>
                <a:spcPct val="100000"/>
              </a:lnSpc>
              <a:buNone/>
            </a:pPr>
            <a:r>
              <a:rPr lang="en-US" sz="1200" b="1" spc="70" kern="0" dirty="0">
                <a:solidFill>
                  <a:srgbClr val="4074E8"/>
                </a:solidFill>
                <a:latin typeface="Aptos" pitchFamily="34" charset="0"/>
                <a:ea typeface="Aptos" pitchFamily="34" charset="-122"/>
                <a:cs typeface="Aptos" pitchFamily="34" charset="-120"/>
              </a:rPr>
              <a:t>RAW TABLES</a:t>
            </a:r>
            <a:endParaRPr lang="en-US" sz="1200" dirty="0"/>
          </a:p>
        </p:txBody>
      </p:sp>
      <p:sp>
        <p:nvSpPr>
          <p:cNvPr id="49" name="Shape 47"/>
          <p:cNvSpPr/>
          <p:nvPr/>
        </p:nvSpPr>
        <p:spPr>
          <a:xfrm>
            <a:off x="7315200" y="3410712"/>
            <a:ext cx="0" cy="256032"/>
          </a:xfrm>
          <a:prstGeom prst="line">
            <a:avLst/>
          </a:prstGeom>
          <a:noFill/>
          <a:ln w="20955">
            <a:solidFill>
              <a:srgbClr val="8DA1AE"/>
            </a:solidFill>
            <a:prstDash val="solid"/>
            <a:tailEnd type="triangle"/>
          </a:ln>
        </p:spPr>
      </p:sp>
      <p:sp>
        <p:nvSpPr>
          <p:cNvPr id="50" name="Shape 48"/>
          <p:cNvSpPr/>
          <p:nvPr/>
        </p:nvSpPr>
        <p:spPr>
          <a:xfrm>
            <a:off x="5559552" y="3758184"/>
            <a:ext cx="1655064" cy="786384"/>
          </a:xfrm>
          <a:prstGeom prst="roundRect">
            <a:avLst>
              <a:gd name="adj" fmla="val 13953"/>
            </a:avLst>
          </a:prstGeom>
          <a:solidFill>
            <a:srgbClr val="E7F8F5"/>
          </a:solidFill>
          <a:ln w="9525">
            <a:solidFill>
              <a:srgbClr val="CAE9E3"/>
            </a:solidFill>
            <a:prstDash val="solid"/>
          </a:ln>
        </p:spPr>
      </p:sp>
      <p:sp>
        <p:nvSpPr>
          <p:cNvPr id="51" name="Text 49"/>
          <p:cNvSpPr/>
          <p:nvPr/>
        </p:nvSpPr>
        <p:spPr>
          <a:xfrm>
            <a:off x="5733288" y="3904488"/>
            <a:ext cx="1371600" cy="265176"/>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078E96"/>
                </a:solidFill>
                <a:latin typeface="Aptos" pitchFamily="34" charset="0"/>
                <a:ea typeface="Aptos" pitchFamily="34" charset="-122"/>
                <a:cs typeface="Aptos" pitchFamily="34" charset="-120"/>
              </a:rPr>
              <a:t>FACT TABLES</a:t>
            </a:r>
            <a:endParaRPr lang="en-US" sz="1300" dirty="0"/>
          </a:p>
        </p:txBody>
      </p:sp>
      <p:sp>
        <p:nvSpPr>
          <p:cNvPr id="52" name="Text 50"/>
          <p:cNvSpPr/>
          <p:nvPr/>
        </p:nvSpPr>
        <p:spPr>
          <a:xfrm>
            <a:off x="5733288" y="4206240"/>
            <a:ext cx="1399032" cy="173736"/>
          </a:xfrm>
          <a:prstGeom prst="rect">
            <a:avLst/>
          </a:prstGeom>
          <a:noFill/>
          <a:ln/>
        </p:spPr>
        <p:txBody>
          <a:bodyPr wrap="square" lIns="0" tIns="0" rIns="0" bIns="0" rtlCol="0" anchor="ctr">
            <a:normAutofit/>
          </a:bodyPr>
          <a:lstStyle/>
          <a:p>
            <a:pPr algn="l" indent="0" marL="0">
              <a:lnSpc>
                <a:spcPct val="100000"/>
              </a:lnSpc>
              <a:buNone/>
            </a:pPr>
            <a:r>
              <a:rPr lang="en-US" sz="900" dirty="0">
                <a:solidFill>
                  <a:srgbClr val="244354"/>
                </a:solidFill>
                <a:latin typeface="Aptos" pitchFamily="34" charset="0"/>
                <a:ea typeface="Aptos" pitchFamily="34" charset="-122"/>
                <a:cs typeface="Aptos" pitchFamily="34" charset="-120"/>
              </a:rPr>
              <a:t>Plan · output · energy</a:t>
            </a:r>
            <a:endParaRPr lang="en-US" sz="900" dirty="0"/>
          </a:p>
        </p:txBody>
      </p:sp>
      <p:sp>
        <p:nvSpPr>
          <p:cNvPr id="53" name="Shape 51"/>
          <p:cNvSpPr/>
          <p:nvPr/>
        </p:nvSpPr>
        <p:spPr>
          <a:xfrm>
            <a:off x="7388352" y="3758184"/>
            <a:ext cx="1682496" cy="786384"/>
          </a:xfrm>
          <a:prstGeom prst="roundRect">
            <a:avLst>
              <a:gd name="adj" fmla="val 13953"/>
            </a:avLst>
          </a:prstGeom>
          <a:solidFill>
            <a:srgbClr val="F0F3F7"/>
          </a:solidFill>
          <a:ln w="9525">
            <a:solidFill>
              <a:srgbClr val="DCE5EF"/>
            </a:solidFill>
            <a:prstDash val="solid"/>
          </a:ln>
        </p:spPr>
      </p:sp>
      <p:sp>
        <p:nvSpPr>
          <p:cNvPr id="54" name="Text 52"/>
          <p:cNvSpPr/>
          <p:nvPr/>
        </p:nvSpPr>
        <p:spPr>
          <a:xfrm>
            <a:off x="7562088" y="3904488"/>
            <a:ext cx="1380744" cy="265176"/>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244354"/>
                </a:solidFill>
                <a:latin typeface="Aptos" pitchFamily="34" charset="0"/>
                <a:ea typeface="Aptos" pitchFamily="34" charset="-122"/>
                <a:cs typeface="Aptos" pitchFamily="34" charset="-120"/>
              </a:rPr>
              <a:t>DIMENSIONS</a:t>
            </a:r>
            <a:endParaRPr lang="en-US" sz="1300" dirty="0"/>
          </a:p>
        </p:txBody>
      </p:sp>
      <p:sp>
        <p:nvSpPr>
          <p:cNvPr id="55" name="Text 53"/>
          <p:cNvSpPr/>
          <p:nvPr/>
        </p:nvSpPr>
        <p:spPr>
          <a:xfrm>
            <a:off x="7562088" y="4206240"/>
            <a:ext cx="1417320" cy="173736"/>
          </a:xfrm>
          <a:prstGeom prst="rect">
            <a:avLst/>
          </a:prstGeom>
          <a:noFill/>
          <a:ln/>
        </p:spPr>
        <p:txBody>
          <a:bodyPr wrap="square" lIns="0" tIns="0" rIns="0" bIns="0" rtlCol="0" anchor="ctr">
            <a:normAutofit/>
          </a:bodyPr>
          <a:lstStyle/>
          <a:p>
            <a:pPr algn="l" indent="0" marL="0">
              <a:lnSpc>
                <a:spcPct val="100000"/>
              </a:lnSpc>
              <a:buNone/>
            </a:pPr>
            <a:r>
              <a:rPr lang="en-US" sz="870" dirty="0">
                <a:solidFill>
                  <a:srgbClr val="627889"/>
                </a:solidFill>
                <a:latin typeface="Aptos" pitchFamily="34" charset="0"/>
                <a:ea typeface="Aptos" pitchFamily="34" charset="-122"/>
                <a:cs typeface="Aptos" pitchFamily="34" charset="-120"/>
              </a:rPr>
              <a:t>Factory · product · date</a:t>
            </a:r>
            <a:endParaRPr lang="en-US" sz="870" dirty="0"/>
          </a:p>
        </p:txBody>
      </p:sp>
      <p:sp>
        <p:nvSpPr>
          <p:cNvPr id="56" name="Shape 54"/>
          <p:cNvSpPr/>
          <p:nvPr/>
        </p:nvSpPr>
        <p:spPr>
          <a:xfrm>
            <a:off x="5559552" y="4754880"/>
            <a:ext cx="3511296" cy="411480"/>
          </a:xfrm>
          <a:prstGeom prst="roundRect">
            <a:avLst>
              <a:gd name="adj" fmla="val 26667"/>
            </a:avLst>
          </a:prstGeom>
          <a:solidFill>
            <a:srgbClr val="F5F8FB"/>
          </a:solidFill>
          <a:ln w="9525">
            <a:solidFill>
              <a:srgbClr val="DCE6ED"/>
            </a:solidFill>
            <a:prstDash val="solid"/>
          </a:ln>
        </p:spPr>
      </p:sp>
      <p:sp>
        <p:nvSpPr>
          <p:cNvPr id="57" name="Text 55"/>
          <p:cNvSpPr/>
          <p:nvPr/>
        </p:nvSpPr>
        <p:spPr>
          <a:xfrm>
            <a:off x="5715000" y="4864608"/>
            <a:ext cx="3191256" cy="201168"/>
          </a:xfrm>
          <a:prstGeom prst="rect">
            <a:avLst/>
          </a:prstGeom>
          <a:noFill/>
          <a:ln/>
        </p:spPr>
        <p:txBody>
          <a:bodyPr wrap="square" lIns="0" tIns="0" rIns="0" bIns="0" rtlCol="0" anchor="ctr">
            <a:normAutofit/>
          </a:bodyPr>
          <a:lstStyle/>
          <a:p>
            <a:pPr algn="ctr" indent="0" marL="0">
              <a:lnSpc>
                <a:spcPct val="100000"/>
              </a:lnSpc>
              <a:buNone/>
            </a:pPr>
            <a:r>
              <a:rPr lang="en-US" sz="1140" b="1" dirty="0">
                <a:solidFill>
                  <a:srgbClr val="244354"/>
                </a:solidFill>
                <a:latin typeface="Aptos" pitchFamily="34" charset="0"/>
                <a:ea typeface="Aptos" pitchFamily="34" charset="-122"/>
                <a:cs typeface="Aptos" pitchFamily="34" charset="-120"/>
              </a:rPr>
              <a:t>SQL transforms  ·  separate fact aggregation</a:t>
            </a:r>
            <a:endParaRPr lang="en-US" sz="1140" dirty="0"/>
          </a:p>
        </p:txBody>
      </p:sp>
      <p:sp>
        <p:nvSpPr>
          <p:cNvPr id="58" name="Shape 56"/>
          <p:cNvSpPr/>
          <p:nvPr/>
        </p:nvSpPr>
        <p:spPr>
          <a:xfrm>
            <a:off x="9752076" y="1932127"/>
            <a:ext cx="1892808" cy="3346704"/>
          </a:xfrm>
          <a:prstGeom prst="roundRect">
            <a:avLst>
              <a:gd name="adj" fmla="val 5797"/>
            </a:avLst>
          </a:prstGeom>
          <a:solidFill>
            <a:srgbClr val="DCE7EC">
              <a:alpha val="50000"/>
            </a:srgbClr>
          </a:solidFill>
          <a:ln w="12700">
            <a:solidFill>
              <a:srgbClr val="DCE7EC">
                <a:alpha val="0"/>
              </a:srgbClr>
            </a:solidFill>
            <a:prstDash val="solid"/>
          </a:ln>
        </p:spPr>
      </p:sp>
      <p:sp>
        <p:nvSpPr>
          <p:cNvPr id="59" name="Shape 57"/>
          <p:cNvSpPr/>
          <p:nvPr/>
        </p:nvSpPr>
        <p:spPr>
          <a:xfrm>
            <a:off x="9729216" y="1892808"/>
            <a:ext cx="1892808" cy="3346704"/>
          </a:xfrm>
          <a:prstGeom prst="roundRect">
            <a:avLst>
              <a:gd name="adj" fmla="val 5797"/>
            </a:avLst>
          </a:prstGeom>
          <a:solidFill>
            <a:srgbClr val="FFFFFF"/>
          </a:solidFill>
          <a:ln w="8890">
            <a:solidFill>
              <a:srgbClr val="DCE6ED"/>
            </a:solidFill>
            <a:prstDash val="solid"/>
          </a:ln>
        </p:spPr>
      </p:sp>
      <p:sp>
        <p:nvSpPr>
          <p:cNvPr id="60" name="Shape 58"/>
          <p:cNvSpPr/>
          <p:nvPr/>
        </p:nvSpPr>
        <p:spPr>
          <a:xfrm>
            <a:off x="9729216" y="1892808"/>
            <a:ext cx="1892808" cy="77724"/>
          </a:xfrm>
          <a:prstGeom prst="rect">
            <a:avLst>
              <a:gd name="adj" fmla="val 141176"/>
            </a:avLst>
          </a:prstGeom>
          <a:solidFill>
            <a:srgbClr val="E7A03E"/>
          </a:solidFill>
          <a:ln w="12700">
            <a:solidFill>
              <a:srgbClr val="E7A03E">
                <a:alpha val="0"/>
              </a:srgbClr>
            </a:solidFill>
            <a:prstDash val="solid"/>
          </a:ln>
        </p:spPr>
      </p:sp>
      <p:sp>
        <p:nvSpPr>
          <p:cNvPr id="61" name="Text 59"/>
          <p:cNvSpPr/>
          <p:nvPr/>
        </p:nvSpPr>
        <p:spPr>
          <a:xfrm>
            <a:off x="9966960" y="2093976"/>
            <a:ext cx="1444752" cy="219456"/>
          </a:xfrm>
          <a:prstGeom prst="rect">
            <a:avLst/>
          </a:prstGeom>
          <a:noFill/>
          <a:ln/>
        </p:spPr>
        <p:txBody>
          <a:bodyPr wrap="square" lIns="0" tIns="0" rIns="0" bIns="0" rtlCol="0" anchor="ctr">
            <a:normAutofit/>
          </a:bodyPr>
          <a:lstStyle/>
          <a:p>
            <a:pPr algn="l" indent="0" marL="0">
              <a:lnSpc>
                <a:spcPct val="100000"/>
              </a:lnSpc>
              <a:buNone/>
            </a:pPr>
            <a:r>
              <a:rPr lang="en-US" sz="900" b="1" spc="145" kern="0" dirty="0">
                <a:solidFill>
                  <a:srgbClr val="E7A03E"/>
                </a:solidFill>
                <a:latin typeface="Aptos" pitchFamily="34" charset="0"/>
                <a:ea typeface="Aptos" pitchFamily="34" charset="-122"/>
                <a:cs typeface="Aptos" pitchFamily="34" charset="-120"/>
              </a:rPr>
              <a:t>04 / SERVE</a:t>
            </a:r>
            <a:endParaRPr lang="en-US" sz="900" dirty="0"/>
          </a:p>
        </p:txBody>
      </p:sp>
      <p:sp>
        <p:nvSpPr>
          <p:cNvPr id="62" name="Shape 60"/>
          <p:cNvSpPr/>
          <p:nvPr/>
        </p:nvSpPr>
        <p:spPr>
          <a:xfrm>
            <a:off x="9957816" y="2642616"/>
            <a:ext cx="1463040" cy="768096"/>
          </a:xfrm>
          <a:prstGeom prst="roundRect">
            <a:avLst>
              <a:gd name="adj" fmla="val 14286"/>
            </a:avLst>
          </a:prstGeom>
          <a:solidFill>
            <a:srgbClr val="FFF3DF"/>
          </a:solidFill>
          <a:ln w="9525">
            <a:solidFill>
              <a:srgbClr val="E6D5B4"/>
            </a:solidFill>
            <a:prstDash val="solid"/>
          </a:ln>
        </p:spPr>
      </p:sp>
      <p:sp>
        <p:nvSpPr>
          <p:cNvPr id="63" name="Text 61"/>
          <p:cNvSpPr/>
          <p:nvPr/>
        </p:nvSpPr>
        <p:spPr>
          <a:xfrm>
            <a:off x="10094976" y="2779776"/>
            <a:ext cx="1179576" cy="228600"/>
          </a:xfrm>
          <a:prstGeom prst="rect">
            <a:avLst/>
          </a:prstGeom>
          <a:noFill/>
          <a:ln/>
        </p:spPr>
        <p:txBody>
          <a:bodyPr wrap="square" lIns="0" tIns="0" rIns="0" bIns="0" rtlCol="0" anchor="ctr">
            <a:normAutofit/>
          </a:bodyPr>
          <a:lstStyle/>
          <a:p>
            <a:pPr algn="ctr" indent="0" marL="0">
              <a:lnSpc>
                <a:spcPct val="100000"/>
              </a:lnSpc>
              <a:buNone/>
            </a:pPr>
            <a:r>
              <a:rPr lang="en-US" sz="1310" b="1" dirty="0">
                <a:solidFill>
                  <a:srgbClr val="102738"/>
                </a:solidFill>
                <a:latin typeface="Aptos" pitchFamily="34" charset="0"/>
                <a:ea typeface="Aptos" pitchFamily="34" charset="-122"/>
                <a:cs typeface="Aptos" pitchFamily="34" charset="-120"/>
              </a:rPr>
              <a:t>DATA MART</a:t>
            </a:r>
            <a:endParaRPr lang="en-US" sz="1310" dirty="0"/>
          </a:p>
        </p:txBody>
      </p:sp>
      <p:sp>
        <p:nvSpPr>
          <p:cNvPr id="64" name="Text 62"/>
          <p:cNvSpPr/>
          <p:nvPr/>
        </p:nvSpPr>
        <p:spPr>
          <a:xfrm>
            <a:off x="10067544" y="3081528"/>
            <a:ext cx="1243584" cy="164592"/>
          </a:xfrm>
          <a:prstGeom prst="rect">
            <a:avLst/>
          </a:prstGeom>
          <a:noFill/>
          <a:ln/>
        </p:spPr>
        <p:txBody>
          <a:bodyPr wrap="square" lIns="0" tIns="0" rIns="0" bIns="0" rtlCol="0" anchor="ctr">
            <a:normAutofit/>
          </a:bodyPr>
          <a:lstStyle/>
          <a:p>
            <a:pPr algn="ctr" indent="0" marL="0">
              <a:lnSpc>
                <a:spcPct val="100000"/>
              </a:lnSpc>
              <a:buNone/>
            </a:pPr>
            <a:r>
              <a:rPr lang="en-US" sz="900" dirty="0">
                <a:solidFill>
                  <a:srgbClr val="244354"/>
                </a:solidFill>
                <a:latin typeface="Aptos" pitchFamily="34" charset="0"/>
                <a:ea typeface="Aptos" pitchFamily="34" charset="-122"/>
                <a:cs typeface="Aptos" pitchFamily="34" charset="-120"/>
              </a:rPr>
              <a:t>factory + day</a:t>
            </a:r>
            <a:endParaRPr lang="en-US" sz="900" dirty="0"/>
          </a:p>
        </p:txBody>
      </p:sp>
      <p:sp>
        <p:nvSpPr>
          <p:cNvPr id="65" name="Shape 63"/>
          <p:cNvSpPr/>
          <p:nvPr/>
        </p:nvSpPr>
        <p:spPr>
          <a:xfrm>
            <a:off x="10689336" y="3529584"/>
            <a:ext cx="0" cy="329184"/>
          </a:xfrm>
          <a:prstGeom prst="line">
            <a:avLst/>
          </a:prstGeom>
          <a:noFill/>
          <a:ln w="21590">
            <a:solidFill>
              <a:srgbClr val="E7A03E"/>
            </a:solidFill>
            <a:prstDash val="solid"/>
            <a:tailEnd type="triangle"/>
          </a:ln>
        </p:spPr>
      </p:sp>
      <p:sp>
        <p:nvSpPr>
          <p:cNvPr id="66" name="Shape 64"/>
          <p:cNvSpPr/>
          <p:nvPr/>
        </p:nvSpPr>
        <p:spPr>
          <a:xfrm>
            <a:off x="9957816" y="3968496"/>
            <a:ext cx="1463040" cy="795528"/>
          </a:xfrm>
          <a:prstGeom prst="roundRect">
            <a:avLst>
              <a:gd name="adj" fmla="val 13793"/>
            </a:avLst>
          </a:prstGeom>
          <a:solidFill>
            <a:srgbClr val="E7F8F5"/>
          </a:solidFill>
          <a:ln w="9525">
            <a:solidFill>
              <a:srgbClr val="CBE7E7"/>
            </a:solidFill>
            <a:prstDash val="solid"/>
          </a:ln>
        </p:spPr>
      </p:sp>
      <p:sp>
        <p:nvSpPr>
          <p:cNvPr id="67" name="Text 65"/>
          <p:cNvSpPr/>
          <p:nvPr/>
        </p:nvSpPr>
        <p:spPr>
          <a:xfrm>
            <a:off x="10030968" y="4114800"/>
            <a:ext cx="1316736" cy="246888"/>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078E96"/>
                </a:solidFill>
                <a:latin typeface="Aptos" pitchFamily="34" charset="0"/>
                <a:ea typeface="Aptos" pitchFamily="34" charset="-122"/>
                <a:cs typeface="Aptos" pitchFamily="34" charset="-120"/>
              </a:rPr>
              <a:t>DASHBOARD</a:t>
            </a:r>
            <a:endParaRPr lang="en-US" sz="1300" dirty="0"/>
          </a:p>
        </p:txBody>
      </p:sp>
      <p:sp>
        <p:nvSpPr>
          <p:cNvPr id="68" name="Text 66"/>
          <p:cNvSpPr/>
          <p:nvPr/>
        </p:nvSpPr>
        <p:spPr>
          <a:xfrm>
            <a:off x="10067544" y="4425696"/>
            <a:ext cx="1234440" cy="182880"/>
          </a:xfrm>
          <a:prstGeom prst="rect">
            <a:avLst/>
          </a:prstGeom>
          <a:noFill/>
          <a:ln/>
        </p:spPr>
        <p:txBody>
          <a:bodyPr wrap="square" lIns="0" tIns="0" rIns="0" bIns="0" rtlCol="0" anchor="ctr">
            <a:normAutofit/>
          </a:bodyPr>
          <a:lstStyle/>
          <a:p>
            <a:pPr algn="ctr" indent="0" marL="0">
              <a:lnSpc>
                <a:spcPct val="100000"/>
              </a:lnSpc>
              <a:buNone/>
            </a:pPr>
            <a:r>
              <a:rPr lang="en-US" sz="900" dirty="0">
                <a:solidFill>
                  <a:srgbClr val="244354"/>
                </a:solidFill>
                <a:latin typeface="Aptos" pitchFamily="34" charset="0"/>
                <a:ea typeface="Aptos" pitchFamily="34" charset="-122"/>
                <a:cs typeface="Aptos" pitchFamily="34" charset="-120"/>
              </a:rPr>
              <a:t>business KPIs</a:t>
            </a:r>
            <a:endParaRPr lang="en-US" sz="900" dirty="0"/>
          </a:p>
        </p:txBody>
      </p:sp>
      <p:sp>
        <p:nvSpPr>
          <p:cNvPr id="69" name="Shape 67"/>
          <p:cNvSpPr/>
          <p:nvPr/>
        </p:nvSpPr>
        <p:spPr>
          <a:xfrm>
            <a:off x="2496312" y="3529584"/>
            <a:ext cx="246888" cy="0"/>
          </a:xfrm>
          <a:prstGeom prst="line">
            <a:avLst/>
          </a:prstGeom>
          <a:noFill/>
          <a:ln w="31750">
            <a:solidFill>
              <a:srgbClr val="8DA1AE"/>
            </a:solidFill>
            <a:prstDash val="solid"/>
            <a:tailEnd type="triangle"/>
          </a:ln>
        </p:spPr>
      </p:sp>
      <p:sp>
        <p:nvSpPr>
          <p:cNvPr id="70" name="Shape 68"/>
          <p:cNvSpPr/>
          <p:nvPr/>
        </p:nvSpPr>
        <p:spPr>
          <a:xfrm>
            <a:off x="4956048" y="3529584"/>
            <a:ext cx="265176" cy="0"/>
          </a:xfrm>
          <a:prstGeom prst="line">
            <a:avLst/>
          </a:prstGeom>
          <a:noFill/>
          <a:ln w="31750">
            <a:solidFill>
              <a:srgbClr val="8DA1AE"/>
            </a:solidFill>
            <a:prstDash val="solid"/>
            <a:tailEnd type="triangle"/>
          </a:ln>
        </p:spPr>
      </p:sp>
      <p:sp>
        <p:nvSpPr>
          <p:cNvPr id="71" name="Shape 69"/>
          <p:cNvSpPr/>
          <p:nvPr/>
        </p:nvSpPr>
        <p:spPr>
          <a:xfrm>
            <a:off x="9418320" y="3529584"/>
            <a:ext cx="265176" cy="0"/>
          </a:xfrm>
          <a:prstGeom prst="line">
            <a:avLst/>
          </a:prstGeom>
          <a:noFill/>
          <a:ln w="31750">
            <a:solidFill>
              <a:srgbClr val="8DA1AE"/>
            </a:solidFill>
            <a:prstDash val="solid"/>
            <a:tailEnd type="triangle"/>
          </a:ln>
        </p:spPr>
      </p:sp>
      <p:sp>
        <p:nvSpPr>
          <p:cNvPr id="72" name="Shape 70"/>
          <p:cNvSpPr/>
          <p:nvPr/>
        </p:nvSpPr>
        <p:spPr>
          <a:xfrm>
            <a:off x="612648" y="5687568"/>
            <a:ext cx="5321808" cy="438912"/>
          </a:xfrm>
          <a:prstGeom prst="roundRect">
            <a:avLst>
              <a:gd name="adj" fmla="val 25000"/>
            </a:avLst>
          </a:prstGeom>
          <a:solidFill>
            <a:srgbClr val="E8F7F0"/>
          </a:solidFill>
          <a:ln w="9525">
            <a:solidFill>
              <a:srgbClr val="BFE1D2"/>
            </a:solidFill>
            <a:prstDash val="solid"/>
          </a:ln>
        </p:spPr>
      </p:sp>
      <p:sp>
        <p:nvSpPr>
          <p:cNvPr id="73" name="Text 71"/>
          <p:cNvSpPr/>
          <p:nvPr/>
        </p:nvSpPr>
        <p:spPr>
          <a:xfrm>
            <a:off x="822960" y="5779008"/>
            <a:ext cx="4956048" cy="219456"/>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68363"/>
                </a:solidFill>
                <a:latin typeface="Aptos" pitchFamily="34" charset="0"/>
                <a:ea typeface="Aptos" pitchFamily="34" charset="-122"/>
                <a:cs typeface="Aptos" pitchFamily="34" charset="-120"/>
              </a:rPr>
              <a:t>✓  PASS  →  Load / refresh curated warehouse</a:t>
            </a:r>
            <a:endParaRPr lang="en-US" sz="1200" dirty="0"/>
          </a:p>
        </p:txBody>
      </p:sp>
      <p:sp>
        <p:nvSpPr>
          <p:cNvPr id="74" name="Shape 72"/>
          <p:cNvSpPr/>
          <p:nvPr/>
        </p:nvSpPr>
        <p:spPr>
          <a:xfrm>
            <a:off x="6135624" y="5687568"/>
            <a:ext cx="5468112" cy="438912"/>
          </a:xfrm>
          <a:prstGeom prst="roundRect">
            <a:avLst>
              <a:gd name="adj" fmla="val 25000"/>
            </a:avLst>
          </a:prstGeom>
          <a:solidFill>
            <a:srgbClr val="FBECEF"/>
          </a:solidFill>
          <a:ln w="9525">
            <a:solidFill>
              <a:srgbClr val="E9C9CF"/>
            </a:solidFill>
            <a:prstDash val="solid"/>
          </a:ln>
        </p:spPr>
      </p:sp>
      <p:sp>
        <p:nvSpPr>
          <p:cNvPr id="75" name="Text 73"/>
          <p:cNvSpPr/>
          <p:nvPr/>
        </p:nvSpPr>
        <p:spPr>
          <a:xfrm>
            <a:off x="6345936" y="5779008"/>
            <a:ext cx="5020056" cy="219456"/>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C84C52"/>
                </a:solidFill>
                <a:latin typeface="Aptos" pitchFamily="34" charset="0"/>
                <a:ea typeface="Aptos" pitchFamily="34" charset="-122"/>
                <a:cs typeface="Aptos" pitchFamily="34" charset="-120"/>
              </a:rPr>
              <a:t>×  FAIL  →  Block refresh, retain last trusted KPIs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gd name="adj" fmla="val 160000"/>
            </a:avLst>
          </a:prstGeom>
          <a:solidFill>
            <a:srgbClr val="102738"/>
          </a:solidFill>
          <a:ln w="12700">
            <a:solidFill>
              <a:srgbClr val="102738">
                <a:alpha val="0"/>
              </a:srgbClr>
            </a:solidFill>
            <a:prstDash val="solid"/>
          </a:ln>
        </p:spPr>
      </p:sp>
      <p:sp>
        <p:nvSpPr>
          <p:cNvPr id="3" name="Shape 1"/>
          <p:cNvSpPr/>
          <p:nvPr/>
        </p:nvSpPr>
        <p:spPr>
          <a:xfrm>
            <a:off x="0" y="0"/>
            <a:ext cx="5418531" cy="68580"/>
          </a:xfrm>
          <a:prstGeom prst="rect">
            <a:avLst>
              <a:gd name="adj" fmla="val 160000"/>
            </a:avLst>
          </a:prstGeom>
          <a:solidFill>
            <a:srgbClr val="17B8B3"/>
          </a:solidFill>
          <a:ln w="12700">
            <a:solidFill>
              <a:srgbClr val="17B8B3">
                <a:alpha val="0"/>
              </a:srgbClr>
            </a:solidFill>
            <a:prstDash val="solid"/>
          </a:ln>
        </p:spPr>
      </p:sp>
      <p:sp>
        <p:nvSpPr>
          <p:cNvPr id="4" name="Text 2"/>
          <p:cNvSpPr/>
          <p:nvPr/>
        </p:nvSpPr>
        <p:spPr>
          <a:xfrm>
            <a:off x="585216" y="256032"/>
            <a:ext cx="8686800" cy="219456"/>
          </a:xfrm>
          <a:prstGeom prst="rect">
            <a:avLst/>
          </a:prstGeom>
          <a:noFill/>
          <a:ln/>
        </p:spPr>
        <p:txBody>
          <a:bodyPr wrap="square" lIns="0" tIns="0" rIns="0" bIns="0" rtlCol="0" anchor="ctr">
            <a:normAutofit/>
          </a:bodyPr>
          <a:lstStyle/>
          <a:p>
            <a:pPr algn="l" indent="0" marL="0">
              <a:lnSpc>
                <a:spcPct val="100000"/>
              </a:lnSpc>
              <a:buNone/>
            </a:pPr>
            <a:r>
              <a:rPr lang="en-US" sz="910" b="1" spc="120" kern="0" dirty="0">
                <a:solidFill>
                  <a:srgbClr val="627889"/>
                </a:solidFill>
                <a:latin typeface="Aptos" pitchFamily="34" charset="0"/>
                <a:ea typeface="Aptos" pitchFamily="34" charset="-122"/>
                <a:cs typeface="Aptos" pitchFamily="34" charset="-120"/>
              </a:rPr>
              <a:t>GLASSOPS 360  /  WAREHOUSE MODEL</a:t>
            </a:r>
            <a:endParaRPr lang="en-US" sz="910" dirty="0"/>
          </a:p>
        </p:txBody>
      </p:sp>
      <p:sp>
        <p:nvSpPr>
          <p:cNvPr id="5" name="Text 3"/>
          <p:cNvSpPr/>
          <p:nvPr/>
        </p:nvSpPr>
        <p:spPr>
          <a:xfrm>
            <a:off x="594360" y="658368"/>
            <a:ext cx="10607040" cy="493776"/>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02738"/>
                </a:solidFill>
                <a:latin typeface="Aptos" pitchFamily="34" charset="0"/>
                <a:ea typeface="Aptos" pitchFamily="34" charset="-122"/>
                <a:cs typeface="Aptos" pitchFamily="34" charset="-120"/>
              </a:rPr>
              <a:t>Model facts at the right grain</a:t>
            </a:r>
            <a:endParaRPr lang="en-US" sz="3000" dirty="0"/>
          </a:p>
        </p:txBody>
      </p:sp>
      <p:sp>
        <p:nvSpPr>
          <p:cNvPr id="6" name="Text 4"/>
          <p:cNvSpPr/>
          <p:nvPr/>
        </p:nvSpPr>
        <p:spPr>
          <a:xfrm>
            <a:off x="603504" y="1225296"/>
            <a:ext cx="10927080" cy="329184"/>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627889"/>
                </a:solidFill>
                <a:latin typeface="Aptos" pitchFamily="34" charset="0"/>
                <a:ea typeface="Aptos" pitchFamily="34" charset="-122"/>
                <a:cs typeface="Aptos" pitchFamily="34" charset="-120"/>
              </a:rPr>
              <a:t>Keep each measure at its natural detail level; aggregate before combining systems.</a:t>
            </a:r>
            <a:endParaRPr lang="en-US" sz="1350" dirty="0"/>
          </a:p>
        </p:txBody>
      </p:sp>
      <p:sp>
        <p:nvSpPr>
          <p:cNvPr id="7" name="Shape 5"/>
          <p:cNvSpPr/>
          <p:nvPr/>
        </p:nvSpPr>
        <p:spPr>
          <a:xfrm>
            <a:off x="594360" y="6382512"/>
            <a:ext cx="11018520" cy="0"/>
          </a:xfrm>
          <a:prstGeom prst="line">
            <a:avLst/>
          </a:prstGeom>
          <a:noFill/>
          <a:ln w="11430">
            <a:solidFill>
              <a:srgbClr val="DCE6ED"/>
            </a:solidFill>
            <a:prstDash val="solid"/>
          </a:ln>
        </p:spPr>
      </p:sp>
      <p:sp>
        <p:nvSpPr>
          <p:cNvPr id="8" name="Text 6"/>
          <p:cNvSpPr/>
          <p:nvPr/>
        </p:nvSpPr>
        <p:spPr>
          <a:xfrm>
            <a:off x="594360" y="6492240"/>
            <a:ext cx="9784080" cy="164592"/>
          </a:xfrm>
          <a:prstGeom prst="rect">
            <a:avLst/>
          </a:prstGeom>
          <a:noFill/>
          <a:ln/>
        </p:spPr>
        <p:txBody>
          <a:bodyPr wrap="square" lIns="0" tIns="0" rIns="0" bIns="0" rtlCol="0" anchor="ctr">
            <a:normAutofit/>
          </a:bodyPr>
          <a:lstStyle/>
          <a:p>
            <a:pPr algn="l" indent="0" marL="0">
              <a:lnSpc>
                <a:spcPct val="100000"/>
              </a:lnSpc>
              <a:buNone/>
            </a:pPr>
            <a:r>
              <a:rPr lang="en-US" sz="830" dirty="0">
                <a:solidFill>
                  <a:srgbClr val="8DA1AE"/>
                </a:solidFill>
                <a:latin typeface="Aptos" pitchFamily="34" charset="0"/>
                <a:ea typeface="Aptos" pitchFamily="34" charset="-122"/>
                <a:cs typeface="Aptos" pitchFamily="34" charset="-120"/>
              </a:rPr>
              <a:t>SYNTHETIC PORTFOLIO DEMO  ·  NOT A REAL COMPANY OR SAP SYSTEM</a:t>
            </a:r>
            <a:endParaRPr lang="en-US" sz="830" dirty="0"/>
          </a:p>
        </p:txBody>
      </p:sp>
      <p:sp>
        <p:nvSpPr>
          <p:cNvPr id="9" name="Text 7"/>
          <p:cNvSpPr/>
          <p:nvPr/>
        </p:nvSpPr>
        <p:spPr>
          <a:xfrm>
            <a:off x="10652760" y="6473952"/>
            <a:ext cx="914400" cy="201168"/>
          </a:xfrm>
          <a:prstGeom prst="rect">
            <a:avLst/>
          </a:prstGeom>
          <a:noFill/>
          <a:ln/>
        </p:spPr>
        <p:txBody>
          <a:bodyPr wrap="square" lIns="0" tIns="0" rIns="0" bIns="0" rtlCol="0" anchor="ctr">
            <a:normAutofit/>
          </a:bodyPr>
          <a:lstStyle/>
          <a:p>
            <a:pPr algn="r" indent="0" marL="0">
              <a:lnSpc>
                <a:spcPct val="100000"/>
              </a:lnSpc>
              <a:buNone/>
            </a:pPr>
            <a:r>
              <a:rPr lang="en-US" sz="910" b="1" dirty="0">
                <a:solidFill>
                  <a:srgbClr val="627889"/>
                </a:solidFill>
                <a:latin typeface="Aptos" pitchFamily="34" charset="0"/>
                <a:ea typeface="Aptos" pitchFamily="34" charset="-122"/>
                <a:cs typeface="Aptos" pitchFamily="34" charset="-120"/>
              </a:rPr>
              <a:t>04 / 09</a:t>
            </a:r>
            <a:endParaRPr lang="en-US" sz="910" dirty="0"/>
          </a:p>
        </p:txBody>
      </p:sp>
      <p:sp>
        <p:nvSpPr>
          <p:cNvPr id="10" name="Shape 8"/>
          <p:cNvSpPr/>
          <p:nvPr/>
        </p:nvSpPr>
        <p:spPr>
          <a:xfrm>
            <a:off x="626364" y="1886407"/>
            <a:ext cx="3483864" cy="1874520"/>
          </a:xfrm>
          <a:prstGeom prst="roundRect">
            <a:avLst>
              <a:gd name="adj" fmla="val 5854"/>
            </a:avLst>
          </a:prstGeom>
          <a:solidFill>
            <a:srgbClr val="DCE7EC">
              <a:alpha val="50000"/>
            </a:srgbClr>
          </a:solidFill>
          <a:ln w="12700">
            <a:solidFill>
              <a:srgbClr val="DCE7EC">
                <a:alpha val="0"/>
              </a:srgbClr>
            </a:solidFill>
            <a:prstDash val="solid"/>
          </a:ln>
        </p:spPr>
      </p:sp>
      <p:sp>
        <p:nvSpPr>
          <p:cNvPr id="11" name="Shape 9"/>
          <p:cNvSpPr/>
          <p:nvPr/>
        </p:nvSpPr>
        <p:spPr>
          <a:xfrm>
            <a:off x="603504" y="1847088"/>
            <a:ext cx="3483864" cy="1874520"/>
          </a:xfrm>
          <a:prstGeom prst="roundRect">
            <a:avLst>
              <a:gd name="adj" fmla="val 5854"/>
            </a:avLst>
          </a:prstGeom>
          <a:solidFill>
            <a:srgbClr val="FFFFFF"/>
          </a:solidFill>
          <a:ln w="8890">
            <a:solidFill>
              <a:srgbClr val="DCE6ED"/>
            </a:solidFill>
            <a:prstDash val="solid"/>
          </a:ln>
        </p:spPr>
      </p:sp>
      <p:sp>
        <p:nvSpPr>
          <p:cNvPr id="12" name="Shape 10"/>
          <p:cNvSpPr/>
          <p:nvPr/>
        </p:nvSpPr>
        <p:spPr>
          <a:xfrm>
            <a:off x="603504" y="1847088"/>
            <a:ext cx="3483864" cy="77724"/>
          </a:xfrm>
          <a:prstGeom prst="rect">
            <a:avLst>
              <a:gd name="adj" fmla="val 141176"/>
            </a:avLst>
          </a:prstGeom>
          <a:solidFill>
            <a:srgbClr val="4074E8"/>
          </a:solidFill>
          <a:ln w="12700">
            <a:solidFill>
              <a:srgbClr val="4074E8">
                <a:alpha val="0"/>
              </a:srgbClr>
            </a:solidFill>
            <a:prstDash val="solid"/>
          </a:ln>
        </p:spPr>
      </p:sp>
      <p:sp>
        <p:nvSpPr>
          <p:cNvPr id="13" name="Shape 11"/>
          <p:cNvSpPr/>
          <p:nvPr/>
        </p:nvSpPr>
        <p:spPr>
          <a:xfrm>
            <a:off x="786384" y="2075688"/>
            <a:ext cx="722376" cy="265176"/>
          </a:xfrm>
          <a:prstGeom prst="roundRect">
            <a:avLst>
              <a:gd name="adj" fmla="val 41379"/>
            </a:avLst>
          </a:prstGeom>
          <a:solidFill>
            <a:srgbClr val="EAF1FE"/>
          </a:solidFill>
          <a:ln w="12700">
            <a:solidFill>
              <a:srgbClr val="EAF1FE">
                <a:alpha val="0"/>
              </a:srgbClr>
            </a:solidFill>
            <a:prstDash val="solid"/>
          </a:ln>
        </p:spPr>
      </p:sp>
      <p:sp>
        <p:nvSpPr>
          <p:cNvPr id="14" name="Text 12"/>
          <p:cNvSpPr/>
          <p:nvPr/>
        </p:nvSpPr>
        <p:spPr>
          <a:xfrm>
            <a:off x="896112" y="2084832"/>
            <a:ext cx="502920" cy="246888"/>
          </a:xfrm>
          <a:prstGeom prst="rect">
            <a:avLst/>
          </a:prstGeom>
          <a:noFill/>
          <a:ln/>
        </p:spPr>
        <p:txBody>
          <a:bodyPr wrap="square" lIns="0" tIns="0" rIns="0" bIns="0" rtlCol="0" anchor="ctr">
            <a:normAutofit/>
          </a:bodyPr>
          <a:lstStyle/>
          <a:p>
            <a:pPr algn="ctr" indent="0" marL="0">
              <a:lnSpc>
                <a:spcPct val="100000"/>
              </a:lnSpc>
              <a:buNone/>
            </a:pPr>
            <a:r>
              <a:rPr lang="en-US" sz="940" b="1" dirty="0">
                <a:solidFill>
                  <a:srgbClr val="4074E8"/>
                </a:solidFill>
                <a:latin typeface="Aptos" pitchFamily="34" charset="0"/>
                <a:ea typeface="Aptos" pitchFamily="34" charset="-122"/>
                <a:cs typeface="Aptos" pitchFamily="34" charset="-120"/>
              </a:rPr>
              <a:t>SAP</a:t>
            </a:r>
            <a:endParaRPr lang="en-US" sz="940" dirty="0"/>
          </a:p>
        </p:txBody>
      </p:sp>
      <p:sp>
        <p:nvSpPr>
          <p:cNvPr id="15" name="Text 13"/>
          <p:cNvSpPr/>
          <p:nvPr/>
        </p:nvSpPr>
        <p:spPr>
          <a:xfrm>
            <a:off x="813816" y="2487168"/>
            <a:ext cx="3081528" cy="301752"/>
          </a:xfrm>
          <a:prstGeom prst="rect">
            <a:avLst/>
          </a:prstGeom>
          <a:noFill/>
          <a:ln/>
        </p:spPr>
        <p:txBody>
          <a:bodyPr wrap="square" lIns="0" tIns="0" rIns="0" bIns="0" rtlCol="0" anchor="ctr">
            <a:normAutofit/>
          </a:bodyPr>
          <a:lstStyle/>
          <a:p>
            <a:pPr algn="l" indent="0" marL="0">
              <a:lnSpc>
                <a:spcPct val="100000"/>
              </a:lnSpc>
              <a:buNone/>
            </a:pPr>
            <a:r>
              <a:rPr lang="en-US" sz="1650" b="1" dirty="0">
                <a:solidFill>
                  <a:srgbClr val="102738"/>
                </a:solidFill>
                <a:latin typeface="Aptos" pitchFamily="34" charset="0"/>
                <a:ea typeface="Aptos" pitchFamily="34" charset="-122"/>
                <a:cs typeface="Aptos" pitchFamily="34" charset="-120"/>
              </a:rPr>
              <a:t>fact_production_plan</a:t>
            </a:r>
            <a:endParaRPr lang="en-US" sz="1650" dirty="0"/>
          </a:p>
        </p:txBody>
      </p:sp>
      <p:sp>
        <p:nvSpPr>
          <p:cNvPr id="16" name="Text 14"/>
          <p:cNvSpPr/>
          <p:nvPr/>
        </p:nvSpPr>
        <p:spPr>
          <a:xfrm>
            <a:off x="813816" y="2898648"/>
            <a:ext cx="914400" cy="219456"/>
          </a:xfrm>
          <a:prstGeom prst="rect">
            <a:avLst/>
          </a:prstGeom>
          <a:noFill/>
          <a:ln/>
        </p:spPr>
        <p:txBody>
          <a:bodyPr wrap="square" lIns="0" tIns="0" rIns="0" bIns="0" rtlCol="0" anchor="ctr">
            <a:normAutofit/>
          </a:bodyPr>
          <a:lstStyle/>
          <a:p>
            <a:pPr algn="l" indent="0" marL="0">
              <a:lnSpc>
                <a:spcPct val="100000"/>
              </a:lnSpc>
              <a:buNone/>
            </a:pPr>
            <a:r>
              <a:rPr lang="en-US" sz="880" b="1" spc="145" kern="0" dirty="0">
                <a:solidFill>
                  <a:srgbClr val="627889"/>
                </a:solidFill>
                <a:latin typeface="Aptos" pitchFamily="34" charset="0"/>
                <a:ea typeface="Aptos" pitchFamily="34" charset="-122"/>
                <a:cs typeface="Aptos" pitchFamily="34" charset="-120"/>
              </a:rPr>
              <a:t>GRAIN</a:t>
            </a:r>
            <a:endParaRPr lang="en-US" sz="880" dirty="0"/>
          </a:p>
        </p:txBody>
      </p:sp>
      <p:sp>
        <p:nvSpPr>
          <p:cNvPr id="17" name="Text 15"/>
          <p:cNvSpPr/>
          <p:nvPr/>
        </p:nvSpPr>
        <p:spPr>
          <a:xfrm>
            <a:off x="813816" y="3108960"/>
            <a:ext cx="3008376" cy="292608"/>
          </a:xfrm>
          <a:prstGeom prst="rect">
            <a:avLst/>
          </a:prstGeom>
          <a:noFill/>
          <a:ln/>
        </p:spPr>
        <p:txBody>
          <a:bodyPr wrap="square" lIns="0" tIns="0" rIns="0" bIns="0" rtlCol="0" anchor="ctr">
            <a:normAutofit/>
          </a:bodyPr>
          <a:lstStyle/>
          <a:p>
            <a:pPr algn="l" indent="0" marL="0">
              <a:lnSpc>
                <a:spcPct val="100000"/>
              </a:lnSpc>
              <a:buNone/>
            </a:pPr>
            <a:r>
              <a:rPr lang="en-US" sz="1060" b="1" dirty="0">
                <a:solidFill>
                  <a:srgbClr val="244354"/>
                </a:solidFill>
                <a:latin typeface="Aptos" pitchFamily="34" charset="0"/>
                <a:ea typeface="Aptos" pitchFamily="34" charset="-122"/>
                <a:cs typeface="Aptos" pitchFamily="34" charset="-120"/>
              </a:rPr>
              <a:t>Factory · date · line · product</a:t>
            </a:r>
            <a:endParaRPr lang="en-US" sz="1060" dirty="0"/>
          </a:p>
        </p:txBody>
      </p:sp>
      <p:sp>
        <p:nvSpPr>
          <p:cNvPr id="18" name="Text 16"/>
          <p:cNvSpPr/>
          <p:nvPr/>
        </p:nvSpPr>
        <p:spPr>
          <a:xfrm>
            <a:off x="813816" y="3456432"/>
            <a:ext cx="3108960" cy="201168"/>
          </a:xfrm>
          <a:prstGeom prst="rect">
            <a:avLst/>
          </a:prstGeom>
          <a:noFill/>
          <a:ln/>
        </p:spPr>
        <p:txBody>
          <a:bodyPr wrap="square" lIns="0" tIns="0" rIns="0" bIns="0" rtlCol="0" anchor="ctr">
            <a:normAutofit/>
          </a:bodyPr>
          <a:lstStyle/>
          <a:p>
            <a:pPr algn="l" indent="0" marL="0">
              <a:lnSpc>
                <a:spcPct val="100000"/>
              </a:lnSpc>
              <a:buNone/>
            </a:pPr>
            <a:r>
              <a:rPr lang="en-US" sz="1020" b="1" dirty="0">
                <a:solidFill>
                  <a:srgbClr val="4074E8"/>
                </a:solidFill>
                <a:latin typeface="Aptos" pitchFamily="34" charset="0"/>
                <a:ea typeface="Aptos" pitchFamily="34" charset="-122"/>
                <a:cs typeface="Aptos" pitchFamily="34" charset="-120"/>
              </a:rPr>
              <a:t>planned_tons</a:t>
            </a:r>
            <a:endParaRPr lang="en-US" sz="1020" dirty="0"/>
          </a:p>
        </p:txBody>
      </p:sp>
      <p:sp>
        <p:nvSpPr>
          <p:cNvPr id="19" name="Shape 17"/>
          <p:cNvSpPr/>
          <p:nvPr/>
        </p:nvSpPr>
        <p:spPr>
          <a:xfrm>
            <a:off x="4384548" y="1886407"/>
            <a:ext cx="3483864" cy="1874520"/>
          </a:xfrm>
          <a:prstGeom prst="roundRect">
            <a:avLst>
              <a:gd name="adj" fmla="val 5854"/>
            </a:avLst>
          </a:prstGeom>
          <a:solidFill>
            <a:srgbClr val="DCE7EC">
              <a:alpha val="50000"/>
            </a:srgbClr>
          </a:solidFill>
          <a:ln w="12700">
            <a:solidFill>
              <a:srgbClr val="DCE7EC">
                <a:alpha val="0"/>
              </a:srgbClr>
            </a:solidFill>
            <a:prstDash val="solid"/>
          </a:ln>
        </p:spPr>
      </p:sp>
      <p:sp>
        <p:nvSpPr>
          <p:cNvPr id="20" name="Shape 18"/>
          <p:cNvSpPr/>
          <p:nvPr/>
        </p:nvSpPr>
        <p:spPr>
          <a:xfrm>
            <a:off x="4361688" y="1847088"/>
            <a:ext cx="3483864" cy="1874520"/>
          </a:xfrm>
          <a:prstGeom prst="roundRect">
            <a:avLst>
              <a:gd name="adj" fmla="val 5854"/>
            </a:avLst>
          </a:prstGeom>
          <a:solidFill>
            <a:srgbClr val="FFFFFF"/>
          </a:solidFill>
          <a:ln w="8890">
            <a:solidFill>
              <a:srgbClr val="DCE6ED"/>
            </a:solidFill>
            <a:prstDash val="solid"/>
          </a:ln>
        </p:spPr>
      </p:sp>
      <p:sp>
        <p:nvSpPr>
          <p:cNvPr id="21" name="Shape 19"/>
          <p:cNvSpPr/>
          <p:nvPr/>
        </p:nvSpPr>
        <p:spPr>
          <a:xfrm>
            <a:off x="4361688" y="1847088"/>
            <a:ext cx="3483864" cy="77724"/>
          </a:xfrm>
          <a:prstGeom prst="rect">
            <a:avLst>
              <a:gd name="adj" fmla="val 141176"/>
            </a:avLst>
          </a:prstGeom>
          <a:solidFill>
            <a:srgbClr val="078E96"/>
          </a:solidFill>
          <a:ln w="12700">
            <a:solidFill>
              <a:srgbClr val="078E96">
                <a:alpha val="0"/>
              </a:srgbClr>
            </a:solidFill>
            <a:prstDash val="solid"/>
          </a:ln>
        </p:spPr>
      </p:sp>
      <p:sp>
        <p:nvSpPr>
          <p:cNvPr id="22" name="Shape 20"/>
          <p:cNvSpPr/>
          <p:nvPr/>
        </p:nvSpPr>
        <p:spPr>
          <a:xfrm>
            <a:off x="4544568" y="2075688"/>
            <a:ext cx="722376" cy="265176"/>
          </a:xfrm>
          <a:prstGeom prst="roundRect">
            <a:avLst>
              <a:gd name="adj" fmla="val 41379"/>
            </a:avLst>
          </a:prstGeom>
          <a:solidFill>
            <a:srgbClr val="E7F8F5"/>
          </a:solidFill>
          <a:ln w="12700">
            <a:solidFill>
              <a:srgbClr val="E7F8F5">
                <a:alpha val="0"/>
              </a:srgbClr>
            </a:solidFill>
            <a:prstDash val="solid"/>
          </a:ln>
        </p:spPr>
      </p:sp>
      <p:sp>
        <p:nvSpPr>
          <p:cNvPr id="23" name="Text 21"/>
          <p:cNvSpPr/>
          <p:nvPr/>
        </p:nvSpPr>
        <p:spPr>
          <a:xfrm>
            <a:off x="4654296" y="2084832"/>
            <a:ext cx="502920" cy="246888"/>
          </a:xfrm>
          <a:prstGeom prst="rect">
            <a:avLst/>
          </a:prstGeom>
          <a:noFill/>
          <a:ln/>
        </p:spPr>
        <p:txBody>
          <a:bodyPr wrap="square" lIns="0" tIns="0" rIns="0" bIns="0" rtlCol="0" anchor="ctr">
            <a:normAutofit/>
          </a:bodyPr>
          <a:lstStyle/>
          <a:p>
            <a:pPr algn="ctr" indent="0" marL="0">
              <a:lnSpc>
                <a:spcPct val="100000"/>
              </a:lnSpc>
              <a:buNone/>
            </a:pPr>
            <a:r>
              <a:rPr lang="en-US" sz="940" b="1" dirty="0">
                <a:solidFill>
                  <a:srgbClr val="078E96"/>
                </a:solidFill>
                <a:latin typeface="Aptos" pitchFamily="34" charset="0"/>
                <a:ea typeface="Aptos" pitchFamily="34" charset="-122"/>
                <a:cs typeface="Aptos" pitchFamily="34" charset="-120"/>
              </a:rPr>
              <a:t>MES</a:t>
            </a:r>
            <a:endParaRPr lang="en-US" sz="940" dirty="0"/>
          </a:p>
        </p:txBody>
      </p:sp>
      <p:sp>
        <p:nvSpPr>
          <p:cNvPr id="24" name="Text 22"/>
          <p:cNvSpPr/>
          <p:nvPr/>
        </p:nvSpPr>
        <p:spPr>
          <a:xfrm>
            <a:off x="4572000" y="2487168"/>
            <a:ext cx="3081528" cy="301752"/>
          </a:xfrm>
          <a:prstGeom prst="rect">
            <a:avLst/>
          </a:prstGeom>
          <a:noFill/>
          <a:ln/>
        </p:spPr>
        <p:txBody>
          <a:bodyPr wrap="square" lIns="0" tIns="0" rIns="0" bIns="0" rtlCol="0" anchor="ctr">
            <a:normAutofit/>
          </a:bodyPr>
          <a:lstStyle/>
          <a:p>
            <a:pPr algn="l" indent="0" marL="0">
              <a:lnSpc>
                <a:spcPct val="100000"/>
              </a:lnSpc>
              <a:buNone/>
            </a:pPr>
            <a:r>
              <a:rPr lang="en-US" sz="1650" b="1" dirty="0">
                <a:solidFill>
                  <a:srgbClr val="102738"/>
                </a:solidFill>
                <a:latin typeface="Aptos" pitchFamily="34" charset="0"/>
                <a:ea typeface="Aptos" pitchFamily="34" charset="-122"/>
                <a:cs typeface="Aptos" pitchFamily="34" charset="-120"/>
              </a:rPr>
              <a:t>fact_production</a:t>
            </a:r>
            <a:endParaRPr lang="en-US" sz="1650" dirty="0"/>
          </a:p>
        </p:txBody>
      </p:sp>
      <p:sp>
        <p:nvSpPr>
          <p:cNvPr id="25" name="Text 23"/>
          <p:cNvSpPr/>
          <p:nvPr/>
        </p:nvSpPr>
        <p:spPr>
          <a:xfrm>
            <a:off x="4572000" y="2898648"/>
            <a:ext cx="914400" cy="219456"/>
          </a:xfrm>
          <a:prstGeom prst="rect">
            <a:avLst/>
          </a:prstGeom>
          <a:noFill/>
          <a:ln/>
        </p:spPr>
        <p:txBody>
          <a:bodyPr wrap="square" lIns="0" tIns="0" rIns="0" bIns="0" rtlCol="0" anchor="ctr">
            <a:normAutofit/>
          </a:bodyPr>
          <a:lstStyle/>
          <a:p>
            <a:pPr algn="l" indent="0" marL="0">
              <a:lnSpc>
                <a:spcPct val="100000"/>
              </a:lnSpc>
              <a:buNone/>
            </a:pPr>
            <a:r>
              <a:rPr lang="en-US" sz="880" b="1" spc="145" kern="0" dirty="0">
                <a:solidFill>
                  <a:srgbClr val="627889"/>
                </a:solidFill>
                <a:latin typeface="Aptos" pitchFamily="34" charset="0"/>
                <a:ea typeface="Aptos" pitchFamily="34" charset="-122"/>
                <a:cs typeface="Aptos" pitchFamily="34" charset="-120"/>
              </a:rPr>
              <a:t>GRAIN</a:t>
            </a:r>
            <a:endParaRPr lang="en-US" sz="880" dirty="0"/>
          </a:p>
        </p:txBody>
      </p:sp>
      <p:sp>
        <p:nvSpPr>
          <p:cNvPr id="26" name="Text 24"/>
          <p:cNvSpPr/>
          <p:nvPr/>
        </p:nvSpPr>
        <p:spPr>
          <a:xfrm>
            <a:off x="4572000" y="3108960"/>
            <a:ext cx="3008376" cy="292608"/>
          </a:xfrm>
          <a:prstGeom prst="rect">
            <a:avLst/>
          </a:prstGeom>
          <a:noFill/>
          <a:ln/>
        </p:spPr>
        <p:txBody>
          <a:bodyPr wrap="square" lIns="0" tIns="0" rIns="0" bIns="0" rtlCol="0" anchor="ctr">
            <a:normAutofit/>
          </a:bodyPr>
          <a:lstStyle/>
          <a:p>
            <a:pPr algn="l" indent="0" marL="0">
              <a:lnSpc>
                <a:spcPct val="100000"/>
              </a:lnSpc>
              <a:buNone/>
            </a:pPr>
            <a:r>
              <a:rPr lang="en-US" sz="1060" b="1" dirty="0">
                <a:solidFill>
                  <a:srgbClr val="244354"/>
                </a:solidFill>
                <a:latin typeface="Aptos" pitchFamily="34" charset="0"/>
                <a:ea typeface="Aptos" pitchFamily="34" charset="-122"/>
                <a:cs typeface="Aptos" pitchFamily="34" charset="-120"/>
              </a:rPr>
              <a:t>Factory · date · line · product · shift</a:t>
            </a:r>
            <a:endParaRPr lang="en-US" sz="1060" dirty="0"/>
          </a:p>
        </p:txBody>
      </p:sp>
      <p:sp>
        <p:nvSpPr>
          <p:cNvPr id="27" name="Text 25"/>
          <p:cNvSpPr/>
          <p:nvPr/>
        </p:nvSpPr>
        <p:spPr>
          <a:xfrm>
            <a:off x="4572000" y="3456432"/>
            <a:ext cx="3108960" cy="201168"/>
          </a:xfrm>
          <a:prstGeom prst="rect">
            <a:avLst/>
          </a:prstGeom>
          <a:noFill/>
          <a:ln/>
        </p:spPr>
        <p:txBody>
          <a:bodyPr wrap="square" lIns="0" tIns="0" rIns="0" bIns="0" rtlCol="0" anchor="ctr">
            <a:normAutofit/>
          </a:bodyPr>
          <a:lstStyle/>
          <a:p>
            <a:pPr algn="l" indent="0" marL="0">
              <a:lnSpc>
                <a:spcPct val="100000"/>
              </a:lnSpc>
              <a:buNone/>
            </a:pPr>
            <a:r>
              <a:rPr lang="en-US" sz="1020" b="1" dirty="0">
                <a:solidFill>
                  <a:srgbClr val="078E96"/>
                </a:solidFill>
                <a:latin typeface="Aptos" pitchFamily="34" charset="0"/>
                <a:ea typeface="Aptos" pitchFamily="34" charset="-122"/>
                <a:cs typeface="Aptos" pitchFamily="34" charset="-120"/>
              </a:rPr>
              <a:t>good_tons   +   scrap_tons</a:t>
            </a:r>
            <a:endParaRPr lang="en-US" sz="1020" dirty="0"/>
          </a:p>
        </p:txBody>
      </p:sp>
      <p:sp>
        <p:nvSpPr>
          <p:cNvPr id="28" name="Shape 26"/>
          <p:cNvSpPr/>
          <p:nvPr/>
        </p:nvSpPr>
        <p:spPr>
          <a:xfrm>
            <a:off x="8133588" y="1886407"/>
            <a:ext cx="3483864" cy="1874520"/>
          </a:xfrm>
          <a:prstGeom prst="roundRect">
            <a:avLst>
              <a:gd name="adj" fmla="val 5854"/>
            </a:avLst>
          </a:prstGeom>
          <a:solidFill>
            <a:srgbClr val="DCE7EC">
              <a:alpha val="50000"/>
            </a:srgbClr>
          </a:solidFill>
          <a:ln w="12700">
            <a:solidFill>
              <a:srgbClr val="DCE7EC">
                <a:alpha val="0"/>
              </a:srgbClr>
            </a:solidFill>
            <a:prstDash val="solid"/>
          </a:ln>
        </p:spPr>
      </p:sp>
      <p:sp>
        <p:nvSpPr>
          <p:cNvPr id="29" name="Shape 27"/>
          <p:cNvSpPr/>
          <p:nvPr/>
        </p:nvSpPr>
        <p:spPr>
          <a:xfrm>
            <a:off x="8110728" y="1847088"/>
            <a:ext cx="3483864" cy="1874520"/>
          </a:xfrm>
          <a:prstGeom prst="roundRect">
            <a:avLst>
              <a:gd name="adj" fmla="val 5854"/>
            </a:avLst>
          </a:prstGeom>
          <a:solidFill>
            <a:srgbClr val="FFFFFF"/>
          </a:solidFill>
          <a:ln w="8890">
            <a:solidFill>
              <a:srgbClr val="DCE6ED"/>
            </a:solidFill>
            <a:prstDash val="solid"/>
          </a:ln>
        </p:spPr>
      </p:sp>
      <p:sp>
        <p:nvSpPr>
          <p:cNvPr id="30" name="Shape 28"/>
          <p:cNvSpPr/>
          <p:nvPr/>
        </p:nvSpPr>
        <p:spPr>
          <a:xfrm>
            <a:off x="8110728" y="1847088"/>
            <a:ext cx="3483864" cy="77724"/>
          </a:xfrm>
          <a:prstGeom prst="rect">
            <a:avLst>
              <a:gd name="adj" fmla="val 141176"/>
            </a:avLst>
          </a:prstGeom>
          <a:solidFill>
            <a:srgbClr val="E7A03E"/>
          </a:solidFill>
          <a:ln w="12700">
            <a:solidFill>
              <a:srgbClr val="E7A03E">
                <a:alpha val="0"/>
              </a:srgbClr>
            </a:solidFill>
            <a:prstDash val="solid"/>
          </a:ln>
        </p:spPr>
      </p:sp>
      <p:sp>
        <p:nvSpPr>
          <p:cNvPr id="31" name="Shape 29"/>
          <p:cNvSpPr/>
          <p:nvPr/>
        </p:nvSpPr>
        <p:spPr>
          <a:xfrm>
            <a:off x="8293608" y="2075688"/>
            <a:ext cx="722376" cy="265176"/>
          </a:xfrm>
          <a:prstGeom prst="roundRect">
            <a:avLst>
              <a:gd name="adj" fmla="val 41379"/>
            </a:avLst>
          </a:prstGeom>
          <a:solidFill>
            <a:srgbClr val="FFF3DF"/>
          </a:solidFill>
          <a:ln w="12700">
            <a:solidFill>
              <a:srgbClr val="FFF3DF">
                <a:alpha val="0"/>
              </a:srgbClr>
            </a:solidFill>
            <a:prstDash val="solid"/>
          </a:ln>
        </p:spPr>
      </p:sp>
      <p:sp>
        <p:nvSpPr>
          <p:cNvPr id="32" name="Text 30"/>
          <p:cNvSpPr/>
          <p:nvPr/>
        </p:nvSpPr>
        <p:spPr>
          <a:xfrm>
            <a:off x="8403336" y="2084832"/>
            <a:ext cx="502920" cy="246888"/>
          </a:xfrm>
          <a:prstGeom prst="rect">
            <a:avLst/>
          </a:prstGeom>
          <a:noFill/>
          <a:ln/>
        </p:spPr>
        <p:txBody>
          <a:bodyPr wrap="square" lIns="0" tIns="0" rIns="0" bIns="0" rtlCol="0" anchor="ctr">
            <a:normAutofit/>
          </a:bodyPr>
          <a:lstStyle/>
          <a:p>
            <a:pPr algn="ctr" indent="0" marL="0">
              <a:lnSpc>
                <a:spcPct val="100000"/>
              </a:lnSpc>
              <a:buNone/>
            </a:pPr>
            <a:r>
              <a:rPr lang="en-US" sz="940" b="1" dirty="0">
                <a:solidFill>
                  <a:srgbClr val="E7A03E"/>
                </a:solidFill>
                <a:latin typeface="Aptos" pitchFamily="34" charset="0"/>
                <a:ea typeface="Aptos" pitchFamily="34" charset="-122"/>
                <a:cs typeface="Aptos" pitchFamily="34" charset="-120"/>
              </a:rPr>
              <a:t>ENERGY</a:t>
            </a:r>
            <a:endParaRPr lang="en-US" sz="940" dirty="0"/>
          </a:p>
        </p:txBody>
      </p:sp>
      <p:sp>
        <p:nvSpPr>
          <p:cNvPr id="33" name="Text 31"/>
          <p:cNvSpPr/>
          <p:nvPr/>
        </p:nvSpPr>
        <p:spPr>
          <a:xfrm>
            <a:off x="8321040" y="2487168"/>
            <a:ext cx="3081528" cy="301752"/>
          </a:xfrm>
          <a:prstGeom prst="rect">
            <a:avLst/>
          </a:prstGeom>
          <a:noFill/>
          <a:ln/>
        </p:spPr>
        <p:txBody>
          <a:bodyPr wrap="square" lIns="0" tIns="0" rIns="0" bIns="0" rtlCol="0" anchor="ctr">
            <a:normAutofit/>
          </a:bodyPr>
          <a:lstStyle/>
          <a:p>
            <a:pPr algn="l" indent="0" marL="0">
              <a:lnSpc>
                <a:spcPct val="100000"/>
              </a:lnSpc>
              <a:buNone/>
            </a:pPr>
            <a:r>
              <a:rPr lang="en-US" sz="1650" b="1" dirty="0">
                <a:solidFill>
                  <a:srgbClr val="102738"/>
                </a:solidFill>
                <a:latin typeface="Aptos" pitchFamily="34" charset="0"/>
                <a:ea typeface="Aptos" pitchFamily="34" charset="-122"/>
                <a:cs typeface="Aptos" pitchFamily="34" charset="-120"/>
              </a:rPr>
              <a:t>fact_energy_consumption</a:t>
            </a:r>
            <a:endParaRPr lang="en-US" sz="1650" dirty="0"/>
          </a:p>
        </p:txBody>
      </p:sp>
      <p:sp>
        <p:nvSpPr>
          <p:cNvPr id="34" name="Text 32"/>
          <p:cNvSpPr/>
          <p:nvPr/>
        </p:nvSpPr>
        <p:spPr>
          <a:xfrm>
            <a:off x="8321040" y="2898648"/>
            <a:ext cx="914400" cy="219456"/>
          </a:xfrm>
          <a:prstGeom prst="rect">
            <a:avLst/>
          </a:prstGeom>
          <a:noFill/>
          <a:ln/>
        </p:spPr>
        <p:txBody>
          <a:bodyPr wrap="square" lIns="0" tIns="0" rIns="0" bIns="0" rtlCol="0" anchor="ctr">
            <a:normAutofit/>
          </a:bodyPr>
          <a:lstStyle/>
          <a:p>
            <a:pPr algn="l" indent="0" marL="0">
              <a:lnSpc>
                <a:spcPct val="100000"/>
              </a:lnSpc>
              <a:buNone/>
            </a:pPr>
            <a:r>
              <a:rPr lang="en-US" sz="880" b="1" spc="145" kern="0" dirty="0">
                <a:solidFill>
                  <a:srgbClr val="627889"/>
                </a:solidFill>
                <a:latin typeface="Aptos" pitchFamily="34" charset="0"/>
                <a:ea typeface="Aptos" pitchFamily="34" charset="-122"/>
                <a:cs typeface="Aptos" pitchFamily="34" charset="-120"/>
              </a:rPr>
              <a:t>GRAIN</a:t>
            </a:r>
            <a:endParaRPr lang="en-US" sz="880" dirty="0"/>
          </a:p>
        </p:txBody>
      </p:sp>
      <p:sp>
        <p:nvSpPr>
          <p:cNvPr id="35" name="Text 33"/>
          <p:cNvSpPr/>
          <p:nvPr/>
        </p:nvSpPr>
        <p:spPr>
          <a:xfrm>
            <a:off x="8321040" y="3108960"/>
            <a:ext cx="3008376" cy="292608"/>
          </a:xfrm>
          <a:prstGeom prst="rect">
            <a:avLst/>
          </a:prstGeom>
          <a:noFill/>
          <a:ln/>
        </p:spPr>
        <p:txBody>
          <a:bodyPr wrap="square" lIns="0" tIns="0" rIns="0" bIns="0" rtlCol="0" anchor="ctr">
            <a:normAutofit/>
          </a:bodyPr>
          <a:lstStyle/>
          <a:p>
            <a:pPr algn="l" indent="0" marL="0">
              <a:lnSpc>
                <a:spcPct val="100000"/>
              </a:lnSpc>
              <a:buNone/>
            </a:pPr>
            <a:r>
              <a:rPr lang="en-US" sz="1060" b="1" dirty="0">
                <a:solidFill>
                  <a:srgbClr val="244354"/>
                </a:solidFill>
                <a:latin typeface="Aptos" pitchFamily="34" charset="0"/>
                <a:ea typeface="Aptos" pitchFamily="34" charset="-122"/>
                <a:cs typeface="Aptos" pitchFamily="34" charset="-120"/>
              </a:rPr>
              <a:t>Factory · date</a:t>
            </a:r>
            <a:endParaRPr lang="en-US" sz="1060" dirty="0"/>
          </a:p>
        </p:txBody>
      </p:sp>
      <p:sp>
        <p:nvSpPr>
          <p:cNvPr id="36" name="Text 34"/>
          <p:cNvSpPr/>
          <p:nvPr/>
        </p:nvSpPr>
        <p:spPr>
          <a:xfrm>
            <a:off x="8321040" y="3456432"/>
            <a:ext cx="3108960" cy="201168"/>
          </a:xfrm>
          <a:prstGeom prst="rect">
            <a:avLst/>
          </a:prstGeom>
          <a:noFill/>
          <a:ln/>
        </p:spPr>
        <p:txBody>
          <a:bodyPr wrap="square" lIns="0" tIns="0" rIns="0" bIns="0" rtlCol="0" anchor="ctr">
            <a:normAutofit/>
          </a:bodyPr>
          <a:lstStyle/>
          <a:p>
            <a:pPr algn="l" indent="0" marL="0">
              <a:lnSpc>
                <a:spcPct val="100000"/>
              </a:lnSpc>
              <a:buNone/>
            </a:pPr>
            <a:r>
              <a:rPr lang="en-US" sz="1020" b="1" dirty="0">
                <a:solidFill>
                  <a:srgbClr val="E7A03E"/>
                </a:solidFill>
                <a:latin typeface="Aptos" pitchFamily="34" charset="0"/>
                <a:ea typeface="Aptos" pitchFamily="34" charset="-122"/>
                <a:cs typeface="Aptos" pitchFamily="34" charset="-120"/>
              </a:rPr>
              <a:t>energy_gj</a:t>
            </a:r>
            <a:endParaRPr lang="en-US" sz="1020" dirty="0"/>
          </a:p>
        </p:txBody>
      </p:sp>
      <p:sp>
        <p:nvSpPr>
          <p:cNvPr id="37" name="Text 35"/>
          <p:cNvSpPr/>
          <p:nvPr/>
        </p:nvSpPr>
        <p:spPr>
          <a:xfrm>
            <a:off x="640080" y="3977640"/>
            <a:ext cx="2103120" cy="219456"/>
          </a:xfrm>
          <a:prstGeom prst="rect">
            <a:avLst/>
          </a:prstGeom>
          <a:noFill/>
          <a:ln/>
        </p:spPr>
        <p:txBody>
          <a:bodyPr wrap="square" lIns="0" tIns="0" rIns="0" bIns="0" rtlCol="0" anchor="ctr">
            <a:normAutofit/>
          </a:bodyPr>
          <a:lstStyle/>
          <a:p>
            <a:pPr algn="l" indent="0" marL="0">
              <a:lnSpc>
                <a:spcPct val="100000"/>
              </a:lnSpc>
              <a:buNone/>
            </a:pPr>
            <a:r>
              <a:rPr lang="en-US" sz="950" b="1" spc="145" kern="0" dirty="0">
                <a:solidFill>
                  <a:srgbClr val="627889"/>
                </a:solidFill>
                <a:latin typeface="Aptos" pitchFamily="34" charset="0"/>
                <a:ea typeface="Aptos" pitchFamily="34" charset="-122"/>
                <a:cs typeface="Aptos" pitchFamily="34" charset="-120"/>
              </a:rPr>
              <a:t>SHARED DIMENSIONS</a:t>
            </a:r>
            <a:endParaRPr lang="en-US" sz="950" dirty="0"/>
          </a:p>
        </p:txBody>
      </p:sp>
      <p:sp>
        <p:nvSpPr>
          <p:cNvPr id="38" name="Shape 36"/>
          <p:cNvSpPr/>
          <p:nvPr/>
        </p:nvSpPr>
        <p:spPr>
          <a:xfrm>
            <a:off x="640080" y="4297680"/>
            <a:ext cx="2176272" cy="457200"/>
          </a:xfrm>
          <a:prstGeom prst="roundRect">
            <a:avLst>
              <a:gd name="adj" fmla="val 24000"/>
            </a:avLst>
          </a:prstGeom>
          <a:solidFill>
            <a:srgbClr val="FFFFFF"/>
          </a:solidFill>
          <a:ln w="9525">
            <a:solidFill>
              <a:srgbClr val="DCE6ED"/>
            </a:solidFill>
            <a:prstDash val="solid"/>
          </a:ln>
        </p:spPr>
      </p:sp>
      <p:sp>
        <p:nvSpPr>
          <p:cNvPr id="39" name="Text 37"/>
          <p:cNvSpPr/>
          <p:nvPr/>
        </p:nvSpPr>
        <p:spPr>
          <a:xfrm>
            <a:off x="713232" y="4407408"/>
            <a:ext cx="2029968" cy="210312"/>
          </a:xfrm>
          <a:prstGeom prst="rect">
            <a:avLst/>
          </a:prstGeom>
          <a:noFill/>
          <a:ln/>
        </p:spPr>
        <p:txBody>
          <a:bodyPr wrap="square" lIns="0" tIns="0" rIns="0" bIns="0" rtlCol="0" anchor="ctr">
            <a:normAutofit/>
          </a:bodyPr>
          <a:lstStyle/>
          <a:p>
            <a:pPr algn="ctr" indent="0" marL="0">
              <a:lnSpc>
                <a:spcPct val="100000"/>
              </a:lnSpc>
              <a:buNone/>
            </a:pPr>
            <a:r>
              <a:rPr lang="en-US" sz="1170" b="1" dirty="0">
                <a:solidFill>
                  <a:srgbClr val="244354"/>
                </a:solidFill>
                <a:latin typeface="Aptos" pitchFamily="34" charset="0"/>
                <a:ea typeface="Aptos" pitchFamily="34" charset="-122"/>
                <a:cs typeface="Aptos" pitchFamily="34" charset="-120"/>
              </a:rPr>
              <a:t>dim_factory</a:t>
            </a:r>
            <a:endParaRPr lang="en-US" sz="1170" dirty="0"/>
          </a:p>
        </p:txBody>
      </p:sp>
      <p:sp>
        <p:nvSpPr>
          <p:cNvPr id="40" name="Shape 38"/>
          <p:cNvSpPr/>
          <p:nvPr/>
        </p:nvSpPr>
        <p:spPr>
          <a:xfrm>
            <a:off x="2999232" y="4297680"/>
            <a:ext cx="2130552" cy="457200"/>
          </a:xfrm>
          <a:prstGeom prst="roundRect">
            <a:avLst>
              <a:gd name="adj" fmla="val 24000"/>
            </a:avLst>
          </a:prstGeom>
          <a:solidFill>
            <a:srgbClr val="FFFFFF"/>
          </a:solidFill>
          <a:ln w="9525">
            <a:solidFill>
              <a:srgbClr val="DCE6ED"/>
            </a:solidFill>
            <a:prstDash val="solid"/>
          </a:ln>
        </p:spPr>
      </p:sp>
      <p:sp>
        <p:nvSpPr>
          <p:cNvPr id="41" name="Text 39"/>
          <p:cNvSpPr/>
          <p:nvPr/>
        </p:nvSpPr>
        <p:spPr>
          <a:xfrm>
            <a:off x="3072384" y="4407408"/>
            <a:ext cx="1984248" cy="210312"/>
          </a:xfrm>
          <a:prstGeom prst="rect">
            <a:avLst/>
          </a:prstGeom>
          <a:noFill/>
          <a:ln/>
        </p:spPr>
        <p:txBody>
          <a:bodyPr wrap="square" lIns="0" tIns="0" rIns="0" bIns="0" rtlCol="0" anchor="ctr">
            <a:normAutofit/>
          </a:bodyPr>
          <a:lstStyle/>
          <a:p>
            <a:pPr algn="ctr" indent="0" marL="0">
              <a:lnSpc>
                <a:spcPct val="100000"/>
              </a:lnSpc>
              <a:buNone/>
            </a:pPr>
            <a:r>
              <a:rPr lang="en-US" sz="1170" b="1" dirty="0">
                <a:solidFill>
                  <a:srgbClr val="244354"/>
                </a:solidFill>
                <a:latin typeface="Aptos" pitchFamily="34" charset="0"/>
                <a:ea typeface="Aptos" pitchFamily="34" charset="-122"/>
                <a:cs typeface="Aptos" pitchFamily="34" charset="-120"/>
              </a:rPr>
              <a:t>dim_product</a:t>
            </a:r>
            <a:endParaRPr lang="en-US" sz="1170" dirty="0"/>
          </a:p>
        </p:txBody>
      </p:sp>
      <p:sp>
        <p:nvSpPr>
          <p:cNvPr id="42" name="Shape 40"/>
          <p:cNvSpPr/>
          <p:nvPr/>
        </p:nvSpPr>
        <p:spPr>
          <a:xfrm>
            <a:off x="5312664" y="4297680"/>
            <a:ext cx="2377440" cy="457200"/>
          </a:xfrm>
          <a:prstGeom prst="roundRect">
            <a:avLst>
              <a:gd name="adj" fmla="val 24000"/>
            </a:avLst>
          </a:prstGeom>
          <a:solidFill>
            <a:srgbClr val="FFFFFF"/>
          </a:solidFill>
          <a:ln w="9525">
            <a:solidFill>
              <a:srgbClr val="DCE6ED"/>
            </a:solidFill>
            <a:prstDash val="solid"/>
          </a:ln>
        </p:spPr>
      </p:sp>
      <p:sp>
        <p:nvSpPr>
          <p:cNvPr id="43" name="Text 41"/>
          <p:cNvSpPr/>
          <p:nvPr/>
        </p:nvSpPr>
        <p:spPr>
          <a:xfrm>
            <a:off x="5385816" y="4407408"/>
            <a:ext cx="2231136" cy="210312"/>
          </a:xfrm>
          <a:prstGeom prst="rect">
            <a:avLst/>
          </a:prstGeom>
          <a:noFill/>
          <a:ln/>
        </p:spPr>
        <p:txBody>
          <a:bodyPr wrap="square" lIns="0" tIns="0" rIns="0" bIns="0" rtlCol="0" anchor="ctr">
            <a:normAutofit/>
          </a:bodyPr>
          <a:lstStyle/>
          <a:p>
            <a:pPr algn="ctr" indent="0" marL="0">
              <a:lnSpc>
                <a:spcPct val="100000"/>
              </a:lnSpc>
              <a:buNone/>
            </a:pPr>
            <a:r>
              <a:rPr lang="en-US" sz="1170" b="1" dirty="0">
                <a:solidFill>
                  <a:srgbClr val="244354"/>
                </a:solidFill>
                <a:latin typeface="Aptos" pitchFamily="34" charset="0"/>
                <a:ea typeface="Aptos" pitchFamily="34" charset="-122"/>
                <a:cs typeface="Aptos" pitchFamily="34" charset="-120"/>
              </a:rPr>
              <a:t>dim_production_line</a:t>
            </a:r>
            <a:endParaRPr lang="en-US" sz="1170" dirty="0"/>
          </a:p>
        </p:txBody>
      </p:sp>
      <p:sp>
        <p:nvSpPr>
          <p:cNvPr id="44" name="Shape 42"/>
          <p:cNvSpPr/>
          <p:nvPr/>
        </p:nvSpPr>
        <p:spPr>
          <a:xfrm>
            <a:off x="7872984" y="4297680"/>
            <a:ext cx="1993392" cy="457200"/>
          </a:xfrm>
          <a:prstGeom prst="roundRect">
            <a:avLst>
              <a:gd name="adj" fmla="val 24000"/>
            </a:avLst>
          </a:prstGeom>
          <a:solidFill>
            <a:srgbClr val="FFFFFF"/>
          </a:solidFill>
          <a:ln w="9525">
            <a:solidFill>
              <a:srgbClr val="DCE6ED"/>
            </a:solidFill>
            <a:prstDash val="solid"/>
          </a:ln>
        </p:spPr>
      </p:sp>
      <p:sp>
        <p:nvSpPr>
          <p:cNvPr id="45" name="Text 43"/>
          <p:cNvSpPr/>
          <p:nvPr/>
        </p:nvSpPr>
        <p:spPr>
          <a:xfrm>
            <a:off x="7946136" y="4407408"/>
            <a:ext cx="1847088" cy="210312"/>
          </a:xfrm>
          <a:prstGeom prst="rect">
            <a:avLst/>
          </a:prstGeom>
          <a:noFill/>
          <a:ln/>
        </p:spPr>
        <p:txBody>
          <a:bodyPr wrap="square" lIns="0" tIns="0" rIns="0" bIns="0" rtlCol="0" anchor="ctr">
            <a:normAutofit/>
          </a:bodyPr>
          <a:lstStyle/>
          <a:p>
            <a:pPr algn="ctr" indent="0" marL="0">
              <a:lnSpc>
                <a:spcPct val="100000"/>
              </a:lnSpc>
              <a:buNone/>
            </a:pPr>
            <a:r>
              <a:rPr lang="en-US" sz="1170" b="1" dirty="0">
                <a:solidFill>
                  <a:srgbClr val="244354"/>
                </a:solidFill>
                <a:latin typeface="Aptos" pitchFamily="34" charset="0"/>
                <a:ea typeface="Aptos" pitchFamily="34" charset="-122"/>
                <a:cs typeface="Aptos" pitchFamily="34" charset="-120"/>
              </a:rPr>
              <a:t>dim_date</a:t>
            </a:r>
            <a:endParaRPr lang="en-US" sz="1170" dirty="0"/>
          </a:p>
        </p:txBody>
      </p:sp>
      <p:sp>
        <p:nvSpPr>
          <p:cNvPr id="46" name="Shape 44"/>
          <p:cNvSpPr/>
          <p:nvPr/>
        </p:nvSpPr>
        <p:spPr>
          <a:xfrm>
            <a:off x="612648" y="4956048"/>
            <a:ext cx="10972800" cy="804672"/>
          </a:xfrm>
          <a:prstGeom prst="roundRect">
            <a:avLst>
              <a:gd name="adj" fmla="val 13636"/>
            </a:avLst>
          </a:prstGeom>
          <a:solidFill>
            <a:srgbClr val="102738"/>
          </a:solidFill>
          <a:ln w="12700">
            <a:solidFill>
              <a:srgbClr val="102738">
                <a:alpha val="0"/>
              </a:srgbClr>
            </a:solidFill>
            <a:prstDash val="solid"/>
          </a:ln>
        </p:spPr>
      </p:sp>
      <p:sp>
        <p:nvSpPr>
          <p:cNvPr id="47" name="Text 45"/>
          <p:cNvSpPr/>
          <p:nvPr/>
        </p:nvSpPr>
        <p:spPr>
          <a:xfrm>
            <a:off x="896112" y="5111496"/>
            <a:ext cx="4050792" cy="228600"/>
          </a:xfrm>
          <a:prstGeom prst="rect">
            <a:avLst/>
          </a:prstGeom>
          <a:noFill/>
          <a:ln/>
        </p:spPr>
        <p:txBody>
          <a:bodyPr wrap="square" lIns="0" tIns="0" rIns="0" bIns="0" rtlCol="0" anchor="ctr">
            <a:normAutofit/>
          </a:bodyPr>
          <a:lstStyle/>
          <a:p>
            <a:pPr algn="l" indent="0" marL="0">
              <a:lnSpc>
                <a:spcPct val="100000"/>
              </a:lnSpc>
              <a:buNone/>
            </a:pPr>
            <a:r>
              <a:rPr lang="en-US" sz="1150" b="1" spc="110" kern="0" dirty="0">
                <a:solidFill>
                  <a:srgbClr val="17B8B3"/>
                </a:solidFill>
                <a:latin typeface="Aptos" pitchFamily="34" charset="0"/>
                <a:ea typeface="Aptos" pitchFamily="34" charset="-122"/>
                <a:cs typeface="Aptos" pitchFamily="34" charset="-120"/>
              </a:rPr>
              <a:t>AGGREGATE FACTS INDEPENDENTLY</a:t>
            </a:r>
            <a:endParaRPr lang="en-US" sz="1150" dirty="0"/>
          </a:p>
        </p:txBody>
      </p:sp>
      <p:sp>
        <p:nvSpPr>
          <p:cNvPr id="48" name="Text 46"/>
          <p:cNvSpPr/>
          <p:nvPr/>
        </p:nvSpPr>
        <p:spPr>
          <a:xfrm>
            <a:off x="4937760" y="5084064"/>
            <a:ext cx="2414016" cy="310896"/>
          </a:xfrm>
          <a:prstGeom prst="rect">
            <a:avLst/>
          </a:prstGeom>
          <a:noFill/>
          <a:ln/>
        </p:spPr>
        <p:txBody>
          <a:bodyPr wrap="square" lIns="0" tIns="0" rIns="0" bIns="0" rtlCol="0" anchor="ctr">
            <a:normAutofit/>
          </a:bodyPr>
          <a:lstStyle/>
          <a:p>
            <a:pPr algn="ctr" indent="0" marL="0">
              <a:lnSpc>
                <a:spcPct val="100000"/>
              </a:lnSpc>
              <a:buNone/>
            </a:pPr>
            <a:r>
              <a:rPr lang="en-US" sz="1900" b="1" dirty="0">
                <a:solidFill>
                  <a:srgbClr val="FFFFFF"/>
                </a:solidFill>
                <a:latin typeface="Aptos" pitchFamily="34" charset="0"/>
                <a:ea typeface="Aptos" pitchFamily="34" charset="-122"/>
                <a:cs typeface="Aptos" pitchFamily="34" charset="-120"/>
              </a:rPr>
              <a:t>factory + day</a:t>
            </a:r>
            <a:endParaRPr lang="en-US" sz="1900" dirty="0"/>
          </a:p>
        </p:txBody>
      </p:sp>
      <p:sp>
        <p:nvSpPr>
          <p:cNvPr id="49" name="Shape 47"/>
          <p:cNvSpPr/>
          <p:nvPr/>
        </p:nvSpPr>
        <p:spPr>
          <a:xfrm>
            <a:off x="7351776" y="5358384"/>
            <a:ext cx="566928" cy="0"/>
          </a:xfrm>
          <a:prstGeom prst="line">
            <a:avLst/>
          </a:prstGeom>
          <a:noFill/>
          <a:ln w="27940">
            <a:solidFill>
              <a:srgbClr val="17B8B3"/>
            </a:solidFill>
            <a:prstDash val="solid"/>
            <a:tailEnd type="triangle"/>
          </a:ln>
        </p:spPr>
      </p:sp>
      <p:sp>
        <p:nvSpPr>
          <p:cNvPr id="50" name="Shape 48"/>
          <p:cNvSpPr/>
          <p:nvPr/>
        </p:nvSpPr>
        <p:spPr>
          <a:xfrm>
            <a:off x="8065008" y="5129784"/>
            <a:ext cx="3218688" cy="457200"/>
          </a:xfrm>
          <a:prstGeom prst="roundRect">
            <a:avLst>
              <a:gd name="adj" fmla="val 24000"/>
            </a:avLst>
          </a:prstGeom>
          <a:solidFill>
            <a:srgbClr val="1D4552"/>
          </a:solidFill>
          <a:ln w="9525">
            <a:solidFill>
              <a:srgbClr val="376773"/>
            </a:solidFill>
            <a:prstDash val="solid"/>
          </a:ln>
        </p:spPr>
      </p:sp>
      <p:sp>
        <p:nvSpPr>
          <p:cNvPr id="51" name="Text 49"/>
          <p:cNvSpPr/>
          <p:nvPr/>
        </p:nvSpPr>
        <p:spPr>
          <a:xfrm>
            <a:off x="8257032" y="5221224"/>
            <a:ext cx="2798064" cy="256032"/>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Aptos" pitchFamily="34" charset="0"/>
                <a:ea typeface="Aptos" pitchFamily="34" charset="-122"/>
                <a:cs typeface="Aptos" pitchFamily="34" charset="-120"/>
              </a:rPr>
              <a:t>mart_factory_daily</a:t>
            </a:r>
            <a:endParaRPr lang="en-US" sz="1600" dirty="0"/>
          </a:p>
        </p:txBody>
      </p:sp>
      <p:sp>
        <p:nvSpPr>
          <p:cNvPr id="52" name="Text 50"/>
          <p:cNvSpPr/>
          <p:nvPr/>
        </p:nvSpPr>
        <p:spPr>
          <a:xfrm>
            <a:off x="649224" y="5934456"/>
            <a:ext cx="10817352" cy="292608"/>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C84C52"/>
                </a:solidFill>
                <a:latin typeface="Aptos" pitchFamily="34" charset="0"/>
                <a:ea typeface="Aptos" pitchFamily="34" charset="-122"/>
                <a:cs typeface="Aptos" pitchFamily="34" charset="-120"/>
              </a:rPr>
              <a:t>WHY IT MATTERS    Directly joining daily energy to shift-level MES rows would multiply energy totals.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gd name="adj" fmla="val 160000"/>
            </a:avLst>
          </a:prstGeom>
          <a:solidFill>
            <a:srgbClr val="102738"/>
          </a:solidFill>
          <a:ln w="12700">
            <a:solidFill>
              <a:srgbClr val="102738">
                <a:alpha val="0"/>
              </a:srgbClr>
            </a:solidFill>
            <a:prstDash val="solid"/>
          </a:ln>
        </p:spPr>
      </p:sp>
      <p:sp>
        <p:nvSpPr>
          <p:cNvPr id="3" name="Shape 1"/>
          <p:cNvSpPr/>
          <p:nvPr/>
        </p:nvSpPr>
        <p:spPr>
          <a:xfrm>
            <a:off x="0" y="0"/>
            <a:ext cx="6773164" cy="68580"/>
          </a:xfrm>
          <a:prstGeom prst="rect">
            <a:avLst>
              <a:gd name="adj" fmla="val 160000"/>
            </a:avLst>
          </a:prstGeom>
          <a:solidFill>
            <a:srgbClr val="17B8B3"/>
          </a:solidFill>
          <a:ln w="12700">
            <a:solidFill>
              <a:srgbClr val="17B8B3">
                <a:alpha val="0"/>
              </a:srgbClr>
            </a:solidFill>
            <a:prstDash val="solid"/>
          </a:ln>
        </p:spPr>
      </p:sp>
      <p:sp>
        <p:nvSpPr>
          <p:cNvPr id="4" name="Text 2"/>
          <p:cNvSpPr/>
          <p:nvPr/>
        </p:nvSpPr>
        <p:spPr>
          <a:xfrm>
            <a:off x="585216" y="256032"/>
            <a:ext cx="8686800" cy="219456"/>
          </a:xfrm>
          <a:prstGeom prst="rect">
            <a:avLst/>
          </a:prstGeom>
          <a:noFill/>
          <a:ln/>
        </p:spPr>
        <p:txBody>
          <a:bodyPr wrap="square" lIns="0" tIns="0" rIns="0" bIns="0" rtlCol="0" anchor="ctr">
            <a:normAutofit/>
          </a:bodyPr>
          <a:lstStyle/>
          <a:p>
            <a:pPr algn="l" indent="0" marL="0">
              <a:lnSpc>
                <a:spcPct val="100000"/>
              </a:lnSpc>
              <a:buNone/>
            </a:pPr>
            <a:r>
              <a:rPr lang="en-US" sz="910" b="1" spc="120" kern="0" dirty="0">
                <a:solidFill>
                  <a:srgbClr val="627889"/>
                </a:solidFill>
                <a:latin typeface="Aptos" pitchFamily="34" charset="0"/>
                <a:ea typeface="Aptos" pitchFamily="34" charset="-122"/>
                <a:cs typeface="Aptos" pitchFamily="34" charset="-120"/>
              </a:rPr>
              <a:t>GLASSOPS 360  /  BUSINESS OUTPUT</a:t>
            </a:r>
            <a:endParaRPr lang="en-US" sz="910" dirty="0"/>
          </a:p>
        </p:txBody>
      </p:sp>
      <p:sp>
        <p:nvSpPr>
          <p:cNvPr id="5" name="Text 3"/>
          <p:cNvSpPr/>
          <p:nvPr/>
        </p:nvSpPr>
        <p:spPr>
          <a:xfrm>
            <a:off x="594360" y="658368"/>
            <a:ext cx="10607040" cy="493776"/>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02738"/>
                </a:solidFill>
                <a:latin typeface="Aptos" pitchFamily="34" charset="0"/>
                <a:ea typeface="Aptos" pitchFamily="34" charset="-122"/>
                <a:cs typeface="Aptos" pitchFamily="34" charset="-120"/>
              </a:rPr>
              <a:t>Executive KPIs on a trusted reporting layer</a:t>
            </a:r>
            <a:endParaRPr lang="en-US" sz="3000" dirty="0"/>
          </a:p>
        </p:txBody>
      </p:sp>
      <p:sp>
        <p:nvSpPr>
          <p:cNvPr id="6" name="Text 4"/>
          <p:cNvSpPr/>
          <p:nvPr/>
        </p:nvSpPr>
        <p:spPr>
          <a:xfrm>
            <a:off x="603504" y="1225296"/>
            <a:ext cx="10927080" cy="329184"/>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627889"/>
                </a:solidFill>
                <a:latin typeface="Aptos" pitchFamily="34" charset="0"/>
                <a:ea typeface="Aptos" pitchFamily="34" charset="-122"/>
                <a:cs typeface="Aptos" pitchFamily="34" charset="-120"/>
              </a:rPr>
              <a:t>One consistent factory-day view — full 90-day synthetic sample, all three factories.</a:t>
            </a:r>
            <a:endParaRPr lang="en-US" sz="1350" dirty="0"/>
          </a:p>
        </p:txBody>
      </p:sp>
      <p:sp>
        <p:nvSpPr>
          <p:cNvPr id="7" name="Shape 5"/>
          <p:cNvSpPr/>
          <p:nvPr/>
        </p:nvSpPr>
        <p:spPr>
          <a:xfrm>
            <a:off x="594360" y="6382512"/>
            <a:ext cx="11018520" cy="0"/>
          </a:xfrm>
          <a:prstGeom prst="line">
            <a:avLst/>
          </a:prstGeom>
          <a:noFill/>
          <a:ln w="11430">
            <a:solidFill>
              <a:srgbClr val="DCE6ED"/>
            </a:solidFill>
            <a:prstDash val="solid"/>
          </a:ln>
        </p:spPr>
      </p:sp>
      <p:sp>
        <p:nvSpPr>
          <p:cNvPr id="8" name="Text 6"/>
          <p:cNvSpPr/>
          <p:nvPr/>
        </p:nvSpPr>
        <p:spPr>
          <a:xfrm>
            <a:off x="594360" y="6492240"/>
            <a:ext cx="9784080" cy="164592"/>
          </a:xfrm>
          <a:prstGeom prst="rect">
            <a:avLst/>
          </a:prstGeom>
          <a:noFill/>
          <a:ln/>
        </p:spPr>
        <p:txBody>
          <a:bodyPr wrap="square" lIns="0" tIns="0" rIns="0" bIns="0" rtlCol="0" anchor="ctr">
            <a:normAutofit/>
          </a:bodyPr>
          <a:lstStyle/>
          <a:p>
            <a:pPr algn="l" indent="0" marL="0">
              <a:lnSpc>
                <a:spcPct val="100000"/>
              </a:lnSpc>
              <a:buNone/>
            </a:pPr>
            <a:r>
              <a:rPr lang="en-US" sz="830" dirty="0">
                <a:solidFill>
                  <a:srgbClr val="8DA1AE"/>
                </a:solidFill>
                <a:latin typeface="Aptos" pitchFamily="34" charset="0"/>
                <a:ea typeface="Aptos" pitchFamily="34" charset="-122"/>
                <a:cs typeface="Aptos" pitchFamily="34" charset="-120"/>
              </a:rPr>
              <a:t>SYNTHETIC PORTFOLIO DEMO  ·  NOT A REAL COMPANY OR SAP SYSTEM</a:t>
            </a:r>
            <a:endParaRPr lang="en-US" sz="830" dirty="0"/>
          </a:p>
        </p:txBody>
      </p:sp>
      <p:sp>
        <p:nvSpPr>
          <p:cNvPr id="9" name="Text 7"/>
          <p:cNvSpPr/>
          <p:nvPr/>
        </p:nvSpPr>
        <p:spPr>
          <a:xfrm>
            <a:off x="10652760" y="6473952"/>
            <a:ext cx="914400" cy="201168"/>
          </a:xfrm>
          <a:prstGeom prst="rect">
            <a:avLst/>
          </a:prstGeom>
          <a:noFill/>
          <a:ln/>
        </p:spPr>
        <p:txBody>
          <a:bodyPr wrap="square" lIns="0" tIns="0" rIns="0" bIns="0" rtlCol="0" anchor="ctr">
            <a:normAutofit/>
          </a:bodyPr>
          <a:lstStyle/>
          <a:p>
            <a:pPr algn="r" indent="0" marL="0">
              <a:lnSpc>
                <a:spcPct val="100000"/>
              </a:lnSpc>
              <a:buNone/>
            </a:pPr>
            <a:r>
              <a:rPr lang="en-US" sz="910" b="1" dirty="0">
                <a:solidFill>
                  <a:srgbClr val="627889"/>
                </a:solidFill>
                <a:latin typeface="Aptos" pitchFamily="34" charset="0"/>
                <a:ea typeface="Aptos" pitchFamily="34" charset="-122"/>
                <a:cs typeface="Aptos" pitchFamily="34" charset="-120"/>
              </a:rPr>
              <a:t>05 / 09</a:t>
            </a:r>
            <a:endParaRPr lang="en-US" sz="910" dirty="0"/>
          </a:p>
        </p:txBody>
      </p:sp>
      <p:sp>
        <p:nvSpPr>
          <p:cNvPr id="10" name="Shape 8"/>
          <p:cNvSpPr/>
          <p:nvPr/>
        </p:nvSpPr>
        <p:spPr>
          <a:xfrm>
            <a:off x="626364" y="1886407"/>
            <a:ext cx="2048256" cy="1060704"/>
          </a:xfrm>
          <a:prstGeom prst="roundRect">
            <a:avLst>
              <a:gd name="adj" fmla="val 10345"/>
            </a:avLst>
          </a:prstGeom>
          <a:solidFill>
            <a:srgbClr val="DCE7EC">
              <a:alpha val="50000"/>
            </a:srgbClr>
          </a:solidFill>
          <a:ln w="12700">
            <a:solidFill>
              <a:srgbClr val="DCE7EC">
                <a:alpha val="0"/>
              </a:srgbClr>
            </a:solidFill>
            <a:prstDash val="solid"/>
          </a:ln>
        </p:spPr>
      </p:sp>
      <p:sp>
        <p:nvSpPr>
          <p:cNvPr id="11" name="Shape 9"/>
          <p:cNvSpPr/>
          <p:nvPr/>
        </p:nvSpPr>
        <p:spPr>
          <a:xfrm>
            <a:off x="603504" y="1847088"/>
            <a:ext cx="2048256" cy="1060704"/>
          </a:xfrm>
          <a:prstGeom prst="roundRect">
            <a:avLst>
              <a:gd name="adj" fmla="val 10345"/>
            </a:avLst>
          </a:prstGeom>
          <a:solidFill>
            <a:srgbClr val="FFFFFF"/>
          </a:solidFill>
          <a:ln w="8890">
            <a:solidFill>
              <a:srgbClr val="DCE6ED"/>
            </a:solidFill>
            <a:prstDash val="solid"/>
          </a:ln>
        </p:spPr>
      </p:sp>
      <p:sp>
        <p:nvSpPr>
          <p:cNvPr id="12" name="Shape 10"/>
          <p:cNvSpPr/>
          <p:nvPr/>
        </p:nvSpPr>
        <p:spPr>
          <a:xfrm>
            <a:off x="603504" y="1847088"/>
            <a:ext cx="2048256" cy="77724"/>
          </a:xfrm>
          <a:prstGeom prst="rect">
            <a:avLst>
              <a:gd name="adj" fmla="val 141176"/>
            </a:avLst>
          </a:prstGeom>
          <a:solidFill>
            <a:srgbClr val="078E96"/>
          </a:solidFill>
          <a:ln w="12700">
            <a:solidFill>
              <a:srgbClr val="078E96">
                <a:alpha val="0"/>
              </a:srgbClr>
            </a:solidFill>
            <a:prstDash val="solid"/>
          </a:ln>
        </p:spPr>
      </p:sp>
      <p:sp>
        <p:nvSpPr>
          <p:cNvPr id="13" name="Text 11"/>
          <p:cNvSpPr/>
          <p:nvPr/>
        </p:nvSpPr>
        <p:spPr>
          <a:xfrm>
            <a:off x="777240" y="2148840"/>
            <a:ext cx="1728216" cy="384048"/>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102738"/>
                </a:solidFill>
                <a:latin typeface="Aptos" pitchFamily="34" charset="0"/>
                <a:ea typeface="Aptos" pitchFamily="34" charset="-122"/>
                <a:cs typeface="Aptos" pitchFamily="34" charset="-120"/>
              </a:rPr>
              <a:t>31,540 t</a:t>
            </a:r>
            <a:endParaRPr lang="en-US" sz="2600" dirty="0"/>
          </a:p>
        </p:txBody>
      </p:sp>
      <p:sp>
        <p:nvSpPr>
          <p:cNvPr id="14" name="Text 12"/>
          <p:cNvSpPr/>
          <p:nvPr/>
        </p:nvSpPr>
        <p:spPr>
          <a:xfrm>
            <a:off x="777240" y="2633472"/>
            <a:ext cx="1728216" cy="155448"/>
          </a:xfrm>
          <a:prstGeom prst="rect">
            <a:avLst/>
          </a:prstGeom>
          <a:noFill/>
          <a:ln/>
        </p:spPr>
        <p:txBody>
          <a:bodyPr wrap="square" lIns="0" tIns="0" rIns="0" bIns="0" rtlCol="0" anchor="ctr">
            <a:normAutofit/>
          </a:bodyPr>
          <a:lstStyle/>
          <a:p>
            <a:pPr algn="l" indent="0" marL="0">
              <a:lnSpc>
                <a:spcPct val="100000"/>
              </a:lnSpc>
              <a:buNone/>
            </a:pPr>
            <a:r>
              <a:rPr lang="en-US" sz="950" b="1" spc="50" kern="0" dirty="0">
                <a:solidFill>
                  <a:srgbClr val="627889"/>
                </a:solidFill>
                <a:latin typeface="Aptos" pitchFamily="34" charset="0"/>
                <a:ea typeface="Aptos" pitchFamily="34" charset="-122"/>
                <a:cs typeface="Aptos" pitchFamily="34" charset="-120"/>
              </a:rPr>
              <a:t>GOOD PRODUCTION</a:t>
            </a:r>
            <a:endParaRPr lang="en-US" sz="950" dirty="0"/>
          </a:p>
        </p:txBody>
      </p:sp>
      <p:sp>
        <p:nvSpPr>
          <p:cNvPr id="15" name="Shape 13"/>
          <p:cNvSpPr/>
          <p:nvPr/>
        </p:nvSpPr>
        <p:spPr>
          <a:xfrm>
            <a:off x="2848356" y="1886407"/>
            <a:ext cx="2048256" cy="1060704"/>
          </a:xfrm>
          <a:prstGeom prst="roundRect">
            <a:avLst>
              <a:gd name="adj" fmla="val 10345"/>
            </a:avLst>
          </a:prstGeom>
          <a:solidFill>
            <a:srgbClr val="DCE7EC">
              <a:alpha val="50000"/>
            </a:srgbClr>
          </a:solidFill>
          <a:ln w="12700">
            <a:solidFill>
              <a:srgbClr val="DCE7EC">
                <a:alpha val="0"/>
              </a:srgbClr>
            </a:solidFill>
            <a:prstDash val="solid"/>
          </a:ln>
        </p:spPr>
      </p:sp>
      <p:sp>
        <p:nvSpPr>
          <p:cNvPr id="16" name="Shape 14"/>
          <p:cNvSpPr/>
          <p:nvPr/>
        </p:nvSpPr>
        <p:spPr>
          <a:xfrm>
            <a:off x="2825496" y="1847088"/>
            <a:ext cx="2048256" cy="1060704"/>
          </a:xfrm>
          <a:prstGeom prst="roundRect">
            <a:avLst>
              <a:gd name="adj" fmla="val 10345"/>
            </a:avLst>
          </a:prstGeom>
          <a:solidFill>
            <a:srgbClr val="FFFFFF"/>
          </a:solidFill>
          <a:ln w="8890">
            <a:solidFill>
              <a:srgbClr val="DCE6ED"/>
            </a:solidFill>
            <a:prstDash val="solid"/>
          </a:ln>
        </p:spPr>
      </p:sp>
      <p:sp>
        <p:nvSpPr>
          <p:cNvPr id="17" name="Shape 15"/>
          <p:cNvSpPr/>
          <p:nvPr/>
        </p:nvSpPr>
        <p:spPr>
          <a:xfrm>
            <a:off x="2825496" y="1847088"/>
            <a:ext cx="2048256" cy="77724"/>
          </a:xfrm>
          <a:prstGeom prst="rect">
            <a:avLst>
              <a:gd name="adj" fmla="val 141176"/>
            </a:avLst>
          </a:prstGeom>
          <a:solidFill>
            <a:srgbClr val="4074E8"/>
          </a:solidFill>
          <a:ln w="12700">
            <a:solidFill>
              <a:srgbClr val="4074E8">
                <a:alpha val="0"/>
              </a:srgbClr>
            </a:solidFill>
            <a:prstDash val="solid"/>
          </a:ln>
        </p:spPr>
      </p:sp>
      <p:sp>
        <p:nvSpPr>
          <p:cNvPr id="18" name="Text 16"/>
          <p:cNvSpPr/>
          <p:nvPr/>
        </p:nvSpPr>
        <p:spPr>
          <a:xfrm>
            <a:off x="2999232" y="2148840"/>
            <a:ext cx="1728216" cy="384048"/>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102738"/>
                </a:solidFill>
                <a:latin typeface="Aptos" pitchFamily="34" charset="0"/>
                <a:ea typeface="Aptos" pitchFamily="34" charset="-122"/>
                <a:cs typeface="Aptos" pitchFamily="34" charset="-120"/>
              </a:rPr>
              <a:t>88.4%</a:t>
            </a:r>
            <a:endParaRPr lang="en-US" sz="2600" dirty="0"/>
          </a:p>
        </p:txBody>
      </p:sp>
      <p:sp>
        <p:nvSpPr>
          <p:cNvPr id="19" name="Text 17"/>
          <p:cNvSpPr/>
          <p:nvPr/>
        </p:nvSpPr>
        <p:spPr>
          <a:xfrm>
            <a:off x="2999232" y="2633472"/>
            <a:ext cx="1728216" cy="155448"/>
          </a:xfrm>
          <a:prstGeom prst="rect">
            <a:avLst/>
          </a:prstGeom>
          <a:noFill/>
          <a:ln/>
        </p:spPr>
        <p:txBody>
          <a:bodyPr wrap="square" lIns="0" tIns="0" rIns="0" bIns="0" rtlCol="0" anchor="ctr">
            <a:normAutofit/>
          </a:bodyPr>
          <a:lstStyle/>
          <a:p>
            <a:pPr algn="l" indent="0" marL="0">
              <a:lnSpc>
                <a:spcPct val="100000"/>
              </a:lnSpc>
              <a:buNone/>
            </a:pPr>
            <a:r>
              <a:rPr lang="en-US" sz="950" b="1" spc="50" kern="0" dirty="0">
                <a:solidFill>
                  <a:srgbClr val="627889"/>
                </a:solidFill>
                <a:latin typeface="Aptos" pitchFamily="34" charset="0"/>
                <a:ea typeface="Aptos" pitchFamily="34" charset="-122"/>
                <a:cs typeface="Aptos" pitchFamily="34" charset="-120"/>
              </a:rPr>
              <a:t>TARGET ACHIEVEMENT</a:t>
            </a:r>
            <a:endParaRPr lang="en-US" sz="950" dirty="0"/>
          </a:p>
        </p:txBody>
      </p:sp>
      <p:sp>
        <p:nvSpPr>
          <p:cNvPr id="20" name="Shape 18"/>
          <p:cNvSpPr/>
          <p:nvPr/>
        </p:nvSpPr>
        <p:spPr>
          <a:xfrm>
            <a:off x="5070348" y="1886407"/>
            <a:ext cx="2048256" cy="1060704"/>
          </a:xfrm>
          <a:prstGeom prst="roundRect">
            <a:avLst>
              <a:gd name="adj" fmla="val 10345"/>
            </a:avLst>
          </a:prstGeom>
          <a:solidFill>
            <a:srgbClr val="DCE7EC">
              <a:alpha val="50000"/>
            </a:srgbClr>
          </a:solidFill>
          <a:ln w="12700">
            <a:solidFill>
              <a:srgbClr val="DCE7EC">
                <a:alpha val="0"/>
              </a:srgbClr>
            </a:solidFill>
            <a:prstDash val="solid"/>
          </a:ln>
        </p:spPr>
      </p:sp>
      <p:sp>
        <p:nvSpPr>
          <p:cNvPr id="21" name="Shape 19"/>
          <p:cNvSpPr/>
          <p:nvPr/>
        </p:nvSpPr>
        <p:spPr>
          <a:xfrm>
            <a:off x="5047488" y="1847088"/>
            <a:ext cx="2048256" cy="1060704"/>
          </a:xfrm>
          <a:prstGeom prst="roundRect">
            <a:avLst>
              <a:gd name="adj" fmla="val 10345"/>
            </a:avLst>
          </a:prstGeom>
          <a:solidFill>
            <a:srgbClr val="FFFFFF"/>
          </a:solidFill>
          <a:ln w="8890">
            <a:solidFill>
              <a:srgbClr val="DCE6ED"/>
            </a:solidFill>
            <a:prstDash val="solid"/>
          </a:ln>
        </p:spPr>
      </p:sp>
      <p:sp>
        <p:nvSpPr>
          <p:cNvPr id="22" name="Shape 20"/>
          <p:cNvSpPr/>
          <p:nvPr/>
        </p:nvSpPr>
        <p:spPr>
          <a:xfrm>
            <a:off x="5047488" y="1847088"/>
            <a:ext cx="2048256" cy="77724"/>
          </a:xfrm>
          <a:prstGeom prst="rect">
            <a:avLst>
              <a:gd name="adj" fmla="val 141176"/>
            </a:avLst>
          </a:prstGeom>
          <a:solidFill>
            <a:srgbClr val="168363"/>
          </a:solidFill>
          <a:ln w="12700">
            <a:solidFill>
              <a:srgbClr val="168363">
                <a:alpha val="0"/>
              </a:srgbClr>
            </a:solidFill>
            <a:prstDash val="solid"/>
          </a:ln>
        </p:spPr>
      </p:sp>
      <p:sp>
        <p:nvSpPr>
          <p:cNvPr id="23" name="Text 21"/>
          <p:cNvSpPr/>
          <p:nvPr/>
        </p:nvSpPr>
        <p:spPr>
          <a:xfrm>
            <a:off x="5221224" y="2148840"/>
            <a:ext cx="1728216" cy="384048"/>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102738"/>
                </a:solidFill>
                <a:latin typeface="Aptos" pitchFamily="34" charset="0"/>
                <a:ea typeface="Aptos" pitchFamily="34" charset="-122"/>
                <a:cs typeface="Aptos" pitchFamily="34" charset="-120"/>
              </a:rPr>
              <a:t>94.1%</a:t>
            </a:r>
            <a:endParaRPr lang="en-US" sz="2600" dirty="0"/>
          </a:p>
        </p:txBody>
      </p:sp>
      <p:sp>
        <p:nvSpPr>
          <p:cNvPr id="24" name="Text 22"/>
          <p:cNvSpPr/>
          <p:nvPr/>
        </p:nvSpPr>
        <p:spPr>
          <a:xfrm>
            <a:off x="5221224" y="2633472"/>
            <a:ext cx="1728216" cy="155448"/>
          </a:xfrm>
          <a:prstGeom prst="rect">
            <a:avLst/>
          </a:prstGeom>
          <a:noFill/>
          <a:ln/>
        </p:spPr>
        <p:txBody>
          <a:bodyPr wrap="square" lIns="0" tIns="0" rIns="0" bIns="0" rtlCol="0" anchor="ctr">
            <a:normAutofit/>
          </a:bodyPr>
          <a:lstStyle/>
          <a:p>
            <a:pPr algn="l" indent="0" marL="0">
              <a:lnSpc>
                <a:spcPct val="100000"/>
              </a:lnSpc>
              <a:buNone/>
            </a:pPr>
            <a:r>
              <a:rPr lang="en-US" sz="950" b="1" spc="50" kern="0" dirty="0">
                <a:solidFill>
                  <a:srgbClr val="627889"/>
                </a:solidFill>
                <a:latin typeface="Aptos" pitchFamily="34" charset="0"/>
                <a:ea typeface="Aptos" pitchFamily="34" charset="-122"/>
                <a:cs typeface="Aptos" pitchFamily="34" charset="-120"/>
              </a:rPr>
              <a:t>PRODUCTION YIELD</a:t>
            </a:r>
            <a:endParaRPr lang="en-US" sz="950" dirty="0"/>
          </a:p>
        </p:txBody>
      </p:sp>
      <p:sp>
        <p:nvSpPr>
          <p:cNvPr id="25" name="Shape 23"/>
          <p:cNvSpPr/>
          <p:nvPr/>
        </p:nvSpPr>
        <p:spPr>
          <a:xfrm>
            <a:off x="7292340" y="1886407"/>
            <a:ext cx="2048256" cy="1060704"/>
          </a:xfrm>
          <a:prstGeom prst="roundRect">
            <a:avLst>
              <a:gd name="adj" fmla="val 10345"/>
            </a:avLst>
          </a:prstGeom>
          <a:solidFill>
            <a:srgbClr val="DCE7EC">
              <a:alpha val="50000"/>
            </a:srgbClr>
          </a:solidFill>
          <a:ln w="12700">
            <a:solidFill>
              <a:srgbClr val="DCE7EC">
                <a:alpha val="0"/>
              </a:srgbClr>
            </a:solidFill>
            <a:prstDash val="solid"/>
          </a:ln>
        </p:spPr>
      </p:sp>
      <p:sp>
        <p:nvSpPr>
          <p:cNvPr id="26" name="Shape 24"/>
          <p:cNvSpPr/>
          <p:nvPr/>
        </p:nvSpPr>
        <p:spPr>
          <a:xfrm>
            <a:off x="7269480" y="1847088"/>
            <a:ext cx="2048256" cy="1060704"/>
          </a:xfrm>
          <a:prstGeom prst="roundRect">
            <a:avLst>
              <a:gd name="adj" fmla="val 10345"/>
            </a:avLst>
          </a:prstGeom>
          <a:solidFill>
            <a:srgbClr val="FFFFFF"/>
          </a:solidFill>
          <a:ln w="8890">
            <a:solidFill>
              <a:srgbClr val="DCE6ED"/>
            </a:solidFill>
            <a:prstDash val="solid"/>
          </a:ln>
        </p:spPr>
      </p:sp>
      <p:sp>
        <p:nvSpPr>
          <p:cNvPr id="27" name="Shape 25"/>
          <p:cNvSpPr/>
          <p:nvPr/>
        </p:nvSpPr>
        <p:spPr>
          <a:xfrm>
            <a:off x="7269480" y="1847088"/>
            <a:ext cx="2048256" cy="77724"/>
          </a:xfrm>
          <a:prstGeom prst="rect">
            <a:avLst>
              <a:gd name="adj" fmla="val 141176"/>
            </a:avLst>
          </a:prstGeom>
          <a:solidFill>
            <a:srgbClr val="C84C52"/>
          </a:solidFill>
          <a:ln w="12700">
            <a:solidFill>
              <a:srgbClr val="C84C52">
                <a:alpha val="0"/>
              </a:srgbClr>
            </a:solidFill>
            <a:prstDash val="solid"/>
          </a:ln>
        </p:spPr>
      </p:sp>
      <p:sp>
        <p:nvSpPr>
          <p:cNvPr id="28" name="Text 26"/>
          <p:cNvSpPr/>
          <p:nvPr/>
        </p:nvSpPr>
        <p:spPr>
          <a:xfrm>
            <a:off x="7443216" y="2148840"/>
            <a:ext cx="1728216" cy="384048"/>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102738"/>
                </a:solidFill>
                <a:latin typeface="Aptos" pitchFamily="34" charset="0"/>
                <a:ea typeface="Aptos" pitchFamily="34" charset="-122"/>
                <a:cs typeface="Aptos" pitchFamily="34" charset="-120"/>
              </a:rPr>
              <a:t>5.9%</a:t>
            </a:r>
            <a:endParaRPr lang="en-US" sz="2600" dirty="0"/>
          </a:p>
        </p:txBody>
      </p:sp>
      <p:sp>
        <p:nvSpPr>
          <p:cNvPr id="29" name="Text 27"/>
          <p:cNvSpPr/>
          <p:nvPr/>
        </p:nvSpPr>
        <p:spPr>
          <a:xfrm>
            <a:off x="7443216" y="2633472"/>
            <a:ext cx="1728216" cy="155448"/>
          </a:xfrm>
          <a:prstGeom prst="rect">
            <a:avLst/>
          </a:prstGeom>
          <a:noFill/>
          <a:ln/>
        </p:spPr>
        <p:txBody>
          <a:bodyPr wrap="square" lIns="0" tIns="0" rIns="0" bIns="0" rtlCol="0" anchor="ctr">
            <a:normAutofit/>
          </a:bodyPr>
          <a:lstStyle/>
          <a:p>
            <a:pPr algn="l" indent="0" marL="0">
              <a:lnSpc>
                <a:spcPct val="100000"/>
              </a:lnSpc>
              <a:buNone/>
            </a:pPr>
            <a:r>
              <a:rPr lang="en-US" sz="950" b="1" spc="50" kern="0" dirty="0">
                <a:solidFill>
                  <a:srgbClr val="627889"/>
                </a:solidFill>
                <a:latin typeface="Aptos" pitchFamily="34" charset="0"/>
                <a:ea typeface="Aptos" pitchFamily="34" charset="-122"/>
                <a:cs typeface="Aptos" pitchFamily="34" charset="-120"/>
              </a:rPr>
              <a:t>SCRAP RATE</a:t>
            </a:r>
            <a:endParaRPr lang="en-US" sz="950" dirty="0"/>
          </a:p>
        </p:txBody>
      </p:sp>
      <p:sp>
        <p:nvSpPr>
          <p:cNvPr id="30" name="Shape 28"/>
          <p:cNvSpPr/>
          <p:nvPr/>
        </p:nvSpPr>
        <p:spPr>
          <a:xfrm>
            <a:off x="9514332" y="1886407"/>
            <a:ext cx="2048256" cy="1060704"/>
          </a:xfrm>
          <a:prstGeom prst="roundRect">
            <a:avLst>
              <a:gd name="adj" fmla="val 10345"/>
            </a:avLst>
          </a:prstGeom>
          <a:solidFill>
            <a:srgbClr val="DCE7EC">
              <a:alpha val="50000"/>
            </a:srgbClr>
          </a:solidFill>
          <a:ln w="12700">
            <a:solidFill>
              <a:srgbClr val="DCE7EC">
                <a:alpha val="0"/>
              </a:srgbClr>
            </a:solidFill>
            <a:prstDash val="solid"/>
          </a:ln>
        </p:spPr>
      </p:sp>
      <p:sp>
        <p:nvSpPr>
          <p:cNvPr id="31" name="Shape 29"/>
          <p:cNvSpPr/>
          <p:nvPr/>
        </p:nvSpPr>
        <p:spPr>
          <a:xfrm>
            <a:off x="9491472" y="1847088"/>
            <a:ext cx="2048256" cy="1060704"/>
          </a:xfrm>
          <a:prstGeom prst="roundRect">
            <a:avLst>
              <a:gd name="adj" fmla="val 10345"/>
            </a:avLst>
          </a:prstGeom>
          <a:solidFill>
            <a:srgbClr val="FFFFFF"/>
          </a:solidFill>
          <a:ln w="8890">
            <a:solidFill>
              <a:srgbClr val="DCE6ED"/>
            </a:solidFill>
            <a:prstDash val="solid"/>
          </a:ln>
        </p:spPr>
      </p:sp>
      <p:sp>
        <p:nvSpPr>
          <p:cNvPr id="32" name="Shape 30"/>
          <p:cNvSpPr/>
          <p:nvPr/>
        </p:nvSpPr>
        <p:spPr>
          <a:xfrm>
            <a:off x="9491472" y="1847088"/>
            <a:ext cx="2048256" cy="77724"/>
          </a:xfrm>
          <a:prstGeom prst="rect">
            <a:avLst>
              <a:gd name="adj" fmla="val 141176"/>
            </a:avLst>
          </a:prstGeom>
          <a:solidFill>
            <a:srgbClr val="E7A03E"/>
          </a:solidFill>
          <a:ln w="12700">
            <a:solidFill>
              <a:srgbClr val="E7A03E">
                <a:alpha val="0"/>
              </a:srgbClr>
            </a:solidFill>
            <a:prstDash val="solid"/>
          </a:ln>
        </p:spPr>
      </p:sp>
      <p:sp>
        <p:nvSpPr>
          <p:cNvPr id="33" name="Text 31"/>
          <p:cNvSpPr/>
          <p:nvPr/>
        </p:nvSpPr>
        <p:spPr>
          <a:xfrm>
            <a:off x="9665208" y="2148840"/>
            <a:ext cx="1728216" cy="384048"/>
          </a:xfrm>
          <a:prstGeom prst="rect">
            <a:avLst/>
          </a:prstGeom>
          <a:noFill/>
          <a:ln/>
        </p:spPr>
        <p:txBody>
          <a:bodyPr wrap="square" lIns="0" tIns="0" rIns="0" bIns="0" rtlCol="0" anchor="ctr">
            <a:normAutofit/>
          </a:bodyPr>
          <a:lstStyle/>
          <a:p>
            <a:pPr algn="l" indent="0" marL="0">
              <a:lnSpc>
                <a:spcPct val="100000"/>
              </a:lnSpc>
              <a:buNone/>
            </a:pPr>
            <a:r>
              <a:rPr lang="en-US" sz="2220" b="1" dirty="0">
                <a:solidFill>
                  <a:srgbClr val="102738"/>
                </a:solidFill>
                <a:latin typeface="Aptos" pitchFamily="34" charset="0"/>
                <a:ea typeface="Aptos" pitchFamily="34" charset="-122"/>
                <a:cs typeface="Aptos" pitchFamily="34" charset="-120"/>
              </a:rPr>
              <a:t>6.02 GJ/t</a:t>
            </a:r>
            <a:endParaRPr lang="en-US" sz="2220" dirty="0"/>
          </a:p>
        </p:txBody>
      </p:sp>
      <p:sp>
        <p:nvSpPr>
          <p:cNvPr id="34" name="Text 32"/>
          <p:cNvSpPr/>
          <p:nvPr/>
        </p:nvSpPr>
        <p:spPr>
          <a:xfrm>
            <a:off x="9665208" y="2633472"/>
            <a:ext cx="1728216" cy="155448"/>
          </a:xfrm>
          <a:prstGeom prst="rect">
            <a:avLst/>
          </a:prstGeom>
          <a:noFill/>
          <a:ln/>
        </p:spPr>
        <p:txBody>
          <a:bodyPr wrap="square" lIns="0" tIns="0" rIns="0" bIns="0" rtlCol="0" anchor="ctr">
            <a:normAutofit/>
          </a:bodyPr>
          <a:lstStyle/>
          <a:p>
            <a:pPr algn="l" indent="0" marL="0">
              <a:lnSpc>
                <a:spcPct val="100000"/>
              </a:lnSpc>
              <a:buNone/>
            </a:pPr>
            <a:r>
              <a:rPr lang="en-US" sz="950" b="1" spc="50" kern="0" dirty="0">
                <a:solidFill>
                  <a:srgbClr val="627889"/>
                </a:solidFill>
                <a:latin typeface="Aptos" pitchFamily="34" charset="0"/>
                <a:ea typeface="Aptos" pitchFamily="34" charset="-122"/>
                <a:cs typeface="Aptos" pitchFamily="34" charset="-120"/>
              </a:rPr>
              <a:t>ENERGY INTENSITY</a:t>
            </a:r>
            <a:endParaRPr lang="en-US" sz="950" dirty="0"/>
          </a:p>
        </p:txBody>
      </p:sp>
      <p:sp>
        <p:nvSpPr>
          <p:cNvPr id="35" name="Shape 33"/>
          <p:cNvSpPr/>
          <p:nvPr/>
        </p:nvSpPr>
        <p:spPr>
          <a:xfrm>
            <a:off x="626364" y="3258007"/>
            <a:ext cx="6894576" cy="2770632"/>
          </a:xfrm>
          <a:prstGeom prst="roundRect">
            <a:avLst>
              <a:gd name="adj" fmla="val 3960"/>
            </a:avLst>
          </a:prstGeom>
          <a:solidFill>
            <a:srgbClr val="DCE7EC">
              <a:alpha val="50000"/>
            </a:srgbClr>
          </a:solidFill>
          <a:ln w="12700">
            <a:solidFill>
              <a:srgbClr val="DCE7EC">
                <a:alpha val="0"/>
              </a:srgbClr>
            </a:solidFill>
            <a:prstDash val="solid"/>
          </a:ln>
        </p:spPr>
      </p:sp>
      <p:sp>
        <p:nvSpPr>
          <p:cNvPr id="36" name="Shape 34"/>
          <p:cNvSpPr/>
          <p:nvPr/>
        </p:nvSpPr>
        <p:spPr>
          <a:xfrm>
            <a:off x="603504" y="3218688"/>
            <a:ext cx="6894576" cy="2770632"/>
          </a:xfrm>
          <a:prstGeom prst="roundRect">
            <a:avLst>
              <a:gd name="adj" fmla="val 3960"/>
            </a:avLst>
          </a:prstGeom>
          <a:solidFill>
            <a:srgbClr val="FFFFFF"/>
          </a:solidFill>
          <a:ln w="8890">
            <a:solidFill>
              <a:srgbClr val="DCE6ED"/>
            </a:solidFill>
            <a:prstDash val="solid"/>
          </a:ln>
        </p:spPr>
      </p:sp>
      <p:sp>
        <p:nvSpPr>
          <p:cNvPr id="37" name="Text 35"/>
          <p:cNvSpPr/>
          <p:nvPr/>
        </p:nvSpPr>
        <p:spPr>
          <a:xfrm>
            <a:off x="868680" y="3401568"/>
            <a:ext cx="4251960" cy="310896"/>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102738"/>
                </a:solidFill>
                <a:latin typeface="Aptos" pitchFamily="34" charset="0"/>
                <a:ea typeface="Aptos" pitchFamily="34" charset="-122"/>
                <a:cs typeface="Aptos" pitchFamily="34" charset="-120"/>
              </a:rPr>
              <a:t>Production plan vs good output</a:t>
            </a:r>
            <a:endParaRPr lang="en-US" sz="1800" dirty="0"/>
          </a:p>
        </p:txBody>
      </p:sp>
      <p:sp>
        <p:nvSpPr>
          <p:cNvPr id="38" name="Shape 36"/>
          <p:cNvSpPr/>
          <p:nvPr/>
        </p:nvSpPr>
        <p:spPr>
          <a:xfrm>
            <a:off x="5102352" y="3502152"/>
            <a:ext cx="128016" cy="128016"/>
          </a:xfrm>
          <a:prstGeom prst="ellipse">
            <a:avLst/>
          </a:prstGeom>
          <a:solidFill>
            <a:srgbClr val="4074E8"/>
          </a:solidFill>
          <a:ln w="12700">
            <a:solidFill>
              <a:srgbClr val="4074E8">
                <a:alpha val="0"/>
              </a:srgbClr>
            </a:solidFill>
            <a:prstDash val="solid"/>
          </a:ln>
        </p:spPr>
      </p:sp>
      <p:sp>
        <p:nvSpPr>
          <p:cNvPr id="39" name="Text 37"/>
          <p:cNvSpPr/>
          <p:nvPr/>
        </p:nvSpPr>
        <p:spPr>
          <a:xfrm>
            <a:off x="5294376" y="3438144"/>
            <a:ext cx="758952" cy="256032"/>
          </a:xfrm>
          <a:prstGeom prst="rect">
            <a:avLst/>
          </a:prstGeom>
          <a:noFill/>
          <a:ln/>
        </p:spPr>
        <p:txBody>
          <a:bodyPr wrap="square" lIns="0" tIns="0" rIns="0" bIns="0" rtlCol="0" anchor="ctr">
            <a:normAutofit/>
          </a:bodyPr>
          <a:lstStyle/>
          <a:p>
            <a:pPr algn="l" indent="0" marL="0">
              <a:lnSpc>
                <a:spcPct val="100000"/>
              </a:lnSpc>
              <a:buNone/>
            </a:pPr>
            <a:r>
              <a:rPr lang="en-US" sz="1040" dirty="0">
                <a:solidFill>
                  <a:srgbClr val="627889"/>
                </a:solidFill>
                <a:latin typeface="Aptos" pitchFamily="34" charset="0"/>
                <a:ea typeface="Aptos" pitchFamily="34" charset="-122"/>
                <a:cs typeface="Aptos" pitchFamily="34" charset="-120"/>
              </a:rPr>
              <a:t>Planned</a:t>
            </a:r>
            <a:endParaRPr lang="en-US" sz="1040" dirty="0"/>
          </a:p>
        </p:txBody>
      </p:sp>
      <p:sp>
        <p:nvSpPr>
          <p:cNvPr id="40" name="Shape 38"/>
          <p:cNvSpPr/>
          <p:nvPr/>
        </p:nvSpPr>
        <p:spPr>
          <a:xfrm>
            <a:off x="6117336" y="3502152"/>
            <a:ext cx="128016" cy="128016"/>
          </a:xfrm>
          <a:prstGeom prst="ellipse">
            <a:avLst/>
          </a:prstGeom>
          <a:solidFill>
            <a:srgbClr val="078E96"/>
          </a:solidFill>
          <a:ln w="12700">
            <a:solidFill>
              <a:srgbClr val="078E96">
                <a:alpha val="0"/>
              </a:srgbClr>
            </a:solidFill>
            <a:prstDash val="solid"/>
          </a:ln>
        </p:spPr>
      </p:sp>
      <p:sp>
        <p:nvSpPr>
          <p:cNvPr id="41" name="Text 39"/>
          <p:cNvSpPr/>
          <p:nvPr/>
        </p:nvSpPr>
        <p:spPr>
          <a:xfrm>
            <a:off x="6309360" y="3438144"/>
            <a:ext cx="731520" cy="256032"/>
          </a:xfrm>
          <a:prstGeom prst="rect">
            <a:avLst/>
          </a:prstGeom>
          <a:noFill/>
          <a:ln/>
        </p:spPr>
        <p:txBody>
          <a:bodyPr wrap="square" lIns="0" tIns="0" rIns="0" bIns="0" rtlCol="0" anchor="ctr">
            <a:normAutofit/>
          </a:bodyPr>
          <a:lstStyle/>
          <a:p>
            <a:pPr algn="l" indent="0" marL="0">
              <a:lnSpc>
                <a:spcPct val="100000"/>
              </a:lnSpc>
              <a:buNone/>
            </a:pPr>
            <a:r>
              <a:rPr lang="en-US" sz="1040" dirty="0">
                <a:solidFill>
                  <a:srgbClr val="627889"/>
                </a:solidFill>
                <a:latin typeface="Aptos" pitchFamily="34" charset="0"/>
                <a:ea typeface="Aptos" pitchFamily="34" charset="-122"/>
                <a:cs typeface="Aptos" pitchFamily="34" charset="-120"/>
              </a:rPr>
              <a:t>Good</a:t>
            </a:r>
            <a:endParaRPr lang="en-US" sz="1040" dirty="0"/>
          </a:p>
        </p:txBody>
      </p:sp>
      <p:sp>
        <p:nvSpPr>
          <p:cNvPr id="42" name="Shape 40"/>
          <p:cNvSpPr/>
          <p:nvPr/>
        </p:nvSpPr>
        <p:spPr>
          <a:xfrm>
            <a:off x="1124712" y="5541264"/>
            <a:ext cx="6053328" cy="0"/>
          </a:xfrm>
          <a:prstGeom prst="line">
            <a:avLst/>
          </a:prstGeom>
          <a:noFill/>
          <a:ln w="9144">
            <a:solidFill>
              <a:srgbClr val="E5EDF2"/>
            </a:solidFill>
            <a:prstDash val="solid"/>
          </a:ln>
        </p:spPr>
      </p:sp>
      <p:sp>
        <p:nvSpPr>
          <p:cNvPr id="43" name="Shape 41"/>
          <p:cNvSpPr/>
          <p:nvPr/>
        </p:nvSpPr>
        <p:spPr>
          <a:xfrm>
            <a:off x="1124712" y="4837176"/>
            <a:ext cx="6053328" cy="0"/>
          </a:xfrm>
          <a:prstGeom prst="line">
            <a:avLst/>
          </a:prstGeom>
          <a:noFill/>
          <a:ln w="9144">
            <a:solidFill>
              <a:srgbClr val="E5EDF2"/>
            </a:solidFill>
            <a:prstDash val="solid"/>
          </a:ln>
        </p:spPr>
      </p:sp>
      <p:sp>
        <p:nvSpPr>
          <p:cNvPr id="44" name="Shape 42"/>
          <p:cNvSpPr/>
          <p:nvPr/>
        </p:nvSpPr>
        <p:spPr>
          <a:xfrm>
            <a:off x="1124712" y="4133088"/>
            <a:ext cx="6053328" cy="0"/>
          </a:xfrm>
          <a:prstGeom prst="line">
            <a:avLst/>
          </a:prstGeom>
          <a:noFill/>
          <a:ln w="9144">
            <a:solidFill>
              <a:srgbClr val="E5EDF2"/>
            </a:solidFill>
            <a:prstDash val="solid"/>
          </a:ln>
        </p:spPr>
      </p:sp>
      <p:sp>
        <p:nvSpPr>
          <p:cNvPr id="45" name="Text 43"/>
          <p:cNvSpPr/>
          <p:nvPr/>
        </p:nvSpPr>
        <p:spPr>
          <a:xfrm>
            <a:off x="841248" y="4069080"/>
            <a:ext cx="265176" cy="192024"/>
          </a:xfrm>
          <a:prstGeom prst="rect">
            <a:avLst/>
          </a:prstGeom>
          <a:noFill/>
          <a:ln/>
        </p:spPr>
        <p:txBody>
          <a:bodyPr wrap="square" lIns="0" tIns="0" rIns="0" bIns="0" rtlCol="0" anchor="ctr">
            <a:normAutofit/>
          </a:bodyPr>
          <a:lstStyle/>
          <a:p>
            <a:pPr algn="l" indent="0" marL="0">
              <a:lnSpc>
                <a:spcPct val="100000"/>
              </a:lnSpc>
              <a:buNone/>
            </a:pPr>
            <a:r>
              <a:rPr lang="en-US" sz="900" dirty="0">
                <a:solidFill>
                  <a:srgbClr val="8DA1AE"/>
                </a:solidFill>
                <a:latin typeface="Aptos" pitchFamily="34" charset="0"/>
                <a:ea typeface="Aptos" pitchFamily="34" charset="-122"/>
                <a:cs typeface="Aptos" pitchFamily="34" charset="-120"/>
              </a:rPr>
              <a:t>12k</a:t>
            </a:r>
            <a:endParaRPr lang="en-US" sz="900" dirty="0"/>
          </a:p>
        </p:txBody>
      </p:sp>
      <p:sp>
        <p:nvSpPr>
          <p:cNvPr id="46" name="Text 44"/>
          <p:cNvSpPr/>
          <p:nvPr/>
        </p:nvSpPr>
        <p:spPr>
          <a:xfrm>
            <a:off x="896112" y="4764024"/>
            <a:ext cx="219456" cy="192024"/>
          </a:xfrm>
          <a:prstGeom prst="rect">
            <a:avLst/>
          </a:prstGeom>
          <a:noFill/>
          <a:ln/>
        </p:spPr>
        <p:txBody>
          <a:bodyPr wrap="square" lIns="0" tIns="0" rIns="0" bIns="0" rtlCol="0" anchor="ctr">
            <a:normAutofit/>
          </a:bodyPr>
          <a:lstStyle/>
          <a:p>
            <a:pPr algn="l" indent="0" marL="0">
              <a:lnSpc>
                <a:spcPct val="100000"/>
              </a:lnSpc>
              <a:buNone/>
            </a:pPr>
            <a:r>
              <a:rPr lang="en-US" sz="900" dirty="0">
                <a:solidFill>
                  <a:srgbClr val="8DA1AE"/>
                </a:solidFill>
                <a:latin typeface="Aptos" pitchFamily="34" charset="0"/>
                <a:ea typeface="Aptos" pitchFamily="34" charset="-122"/>
                <a:cs typeface="Aptos" pitchFamily="34" charset="-120"/>
              </a:rPr>
              <a:t>6k</a:t>
            </a:r>
            <a:endParaRPr lang="en-US" sz="900" dirty="0"/>
          </a:p>
        </p:txBody>
      </p:sp>
      <p:sp>
        <p:nvSpPr>
          <p:cNvPr id="47" name="Text 45"/>
          <p:cNvSpPr/>
          <p:nvPr/>
        </p:nvSpPr>
        <p:spPr>
          <a:xfrm>
            <a:off x="932688" y="5468112"/>
            <a:ext cx="182880" cy="182880"/>
          </a:xfrm>
          <a:prstGeom prst="rect">
            <a:avLst/>
          </a:prstGeom>
          <a:noFill/>
          <a:ln/>
        </p:spPr>
        <p:txBody>
          <a:bodyPr wrap="square" lIns="0" tIns="0" rIns="0" bIns="0" rtlCol="0" anchor="ctr">
            <a:normAutofit/>
          </a:bodyPr>
          <a:lstStyle/>
          <a:p>
            <a:pPr algn="l" indent="0" marL="0">
              <a:lnSpc>
                <a:spcPct val="100000"/>
              </a:lnSpc>
              <a:buNone/>
            </a:pPr>
            <a:r>
              <a:rPr lang="en-US" sz="900" dirty="0">
                <a:solidFill>
                  <a:srgbClr val="8DA1AE"/>
                </a:solidFill>
                <a:latin typeface="Aptos" pitchFamily="34" charset="0"/>
                <a:ea typeface="Aptos" pitchFamily="34" charset="-122"/>
                <a:cs typeface="Aptos" pitchFamily="34" charset="-120"/>
              </a:rPr>
              <a:t>0</a:t>
            </a:r>
            <a:endParaRPr lang="en-US" sz="900" dirty="0"/>
          </a:p>
        </p:txBody>
      </p:sp>
      <p:sp>
        <p:nvSpPr>
          <p:cNvPr id="48" name="Shape 46"/>
          <p:cNvSpPr/>
          <p:nvPr/>
        </p:nvSpPr>
        <p:spPr>
          <a:xfrm>
            <a:off x="1444752" y="4145406"/>
            <a:ext cx="475488" cy="1395858"/>
          </a:xfrm>
          <a:prstGeom prst="rect">
            <a:avLst>
              <a:gd name="adj" fmla="val 23077"/>
            </a:avLst>
          </a:prstGeom>
          <a:solidFill>
            <a:srgbClr val="4074E8"/>
          </a:solidFill>
          <a:ln w="12700">
            <a:solidFill>
              <a:srgbClr val="4074E8">
                <a:alpha val="0"/>
              </a:srgbClr>
            </a:solidFill>
            <a:prstDash val="solid"/>
          </a:ln>
        </p:spPr>
      </p:sp>
      <p:sp>
        <p:nvSpPr>
          <p:cNvPr id="49" name="Shape 47"/>
          <p:cNvSpPr/>
          <p:nvPr/>
        </p:nvSpPr>
        <p:spPr>
          <a:xfrm>
            <a:off x="2011680" y="4289317"/>
            <a:ext cx="475488" cy="1251947"/>
          </a:xfrm>
          <a:prstGeom prst="rect">
            <a:avLst>
              <a:gd name="adj" fmla="val 23077"/>
            </a:avLst>
          </a:prstGeom>
          <a:solidFill>
            <a:srgbClr val="078E96"/>
          </a:solidFill>
          <a:ln w="12700">
            <a:solidFill>
              <a:srgbClr val="078E96">
                <a:alpha val="0"/>
              </a:srgbClr>
            </a:solidFill>
            <a:prstDash val="solid"/>
          </a:ln>
        </p:spPr>
      </p:sp>
      <p:sp>
        <p:nvSpPr>
          <p:cNvPr id="50" name="Text 48"/>
          <p:cNvSpPr/>
          <p:nvPr/>
        </p:nvSpPr>
        <p:spPr>
          <a:xfrm>
            <a:off x="1417320" y="3889374"/>
            <a:ext cx="566928" cy="192024"/>
          </a:xfrm>
          <a:prstGeom prst="rect">
            <a:avLst/>
          </a:prstGeom>
          <a:noFill/>
          <a:ln/>
        </p:spPr>
        <p:txBody>
          <a:bodyPr wrap="square" lIns="0" tIns="0" rIns="0" bIns="0" rtlCol="0" anchor="ctr">
            <a:normAutofit/>
          </a:bodyPr>
          <a:lstStyle/>
          <a:p>
            <a:pPr algn="ctr" indent="0" marL="0">
              <a:lnSpc>
                <a:spcPct val="100000"/>
              </a:lnSpc>
              <a:buNone/>
            </a:pPr>
            <a:r>
              <a:rPr lang="en-US" sz="940" b="1" dirty="0">
                <a:solidFill>
                  <a:srgbClr val="4074E8"/>
                </a:solidFill>
                <a:latin typeface="Aptos" pitchFamily="34" charset="0"/>
                <a:ea typeface="Aptos" pitchFamily="34" charset="-122"/>
                <a:cs typeface="Aptos" pitchFamily="34" charset="-120"/>
              </a:rPr>
              <a:t>11.9k</a:t>
            </a:r>
            <a:endParaRPr lang="en-US" sz="940" dirty="0"/>
          </a:p>
        </p:txBody>
      </p:sp>
      <p:sp>
        <p:nvSpPr>
          <p:cNvPr id="51" name="Text 49"/>
          <p:cNvSpPr/>
          <p:nvPr/>
        </p:nvSpPr>
        <p:spPr>
          <a:xfrm>
            <a:off x="1984248" y="4033285"/>
            <a:ext cx="566928" cy="192024"/>
          </a:xfrm>
          <a:prstGeom prst="rect">
            <a:avLst/>
          </a:prstGeom>
          <a:noFill/>
          <a:ln/>
        </p:spPr>
        <p:txBody>
          <a:bodyPr wrap="square" lIns="0" tIns="0" rIns="0" bIns="0" rtlCol="0" anchor="ctr">
            <a:normAutofit/>
          </a:bodyPr>
          <a:lstStyle/>
          <a:p>
            <a:pPr algn="ctr" indent="0" marL="0">
              <a:lnSpc>
                <a:spcPct val="100000"/>
              </a:lnSpc>
              <a:buNone/>
            </a:pPr>
            <a:r>
              <a:rPr lang="en-US" sz="940" b="1" dirty="0">
                <a:solidFill>
                  <a:srgbClr val="078E96"/>
                </a:solidFill>
                <a:latin typeface="Aptos" pitchFamily="34" charset="0"/>
                <a:ea typeface="Aptos" pitchFamily="34" charset="-122"/>
                <a:cs typeface="Aptos" pitchFamily="34" charset="-120"/>
              </a:rPr>
              <a:t>10.7k</a:t>
            </a:r>
            <a:endParaRPr lang="en-US" sz="940" dirty="0"/>
          </a:p>
        </p:txBody>
      </p:sp>
      <p:sp>
        <p:nvSpPr>
          <p:cNvPr id="52" name="Text 50"/>
          <p:cNvSpPr/>
          <p:nvPr/>
        </p:nvSpPr>
        <p:spPr>
          <a:xfrm>
            <a:off x="1700784" y="5641848"/>
            <a:ext cx="621792" cy="210312"/>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244354"/>
                </a:solidFill>
                <a:latin typeface="Aptos" pitchFamily="34" charset="0"/>
                <a:ea typeface="Aptos" pitchFamily="34" charset="-122"/>
                <a:cs typeface="Aptos" pitchFamily="34" charset="-120"/>
              </a:rPr>
              <a:t>TR01</a:t>
            </a:r>
            <a:endParaRPr lang="en-US" sz="1130" dirty="0"/>
          </a:p>
        </p:txBody>
      </p:sp>
      <p:sp>
        <p:nvSpPr>
          <p:cNvPr id="53" name="Shape 51"/>
          <p:cNvSpPr/>
          <p:nvPr/>
        </p:nvSpPr>
        <p:spPr>
          <a:xfrm>
            <a:off x="3364992" y="4142715"/>
            <a:ext cx="475488" cy="1398549"/>
          </a:xfrm>
          <a:prstGeom prst="rect">
            <a:avLst>
              <a:gd name="adj" fmla="val 23077"/>
            </a:avLst>
          </a:prstGeom>
          <a:solidFill>
            <a:srgbClr val="4074E8"/>
          </a:solidFill>
          <a:ln w="12700">
            <a:solidFill>
              <a:srgbClr val="4074E8">
                <a:alpha val="0"/>
              </a:srgbClr>
            </a:solidFill>
            <a:prstDash val="solid"/>
          </a:ln>
        </p:spPr>
      </p:sp>
      <p:sp>
        <p:nvSpPr>
          <p:cNvPr id="54" name="Shape 52"/>
          <p:cNvSpPr/>
          <p:nvPr/>
        </p:nvSpPr>
        <p:spPr>
          <a:xfrm>
            <a:off x="3931920" y="4334644"/>
            <a:ext cx="475488" cy="1206620"/>
          </a:xfrm>
          <a:prstGeom prst="rect">
            <a:avLst>
              <a:gd name="adj" fmla="val 23077"/>
            </a:avLst>
          </a:prstGeom>
          <a:solidFill>
            <a:srgbClr val="078E96"/>
          </a:solidFill>
          <a:ln w="12700">
            <a:solidFill>
              <a:srgbClr val="078E96">
                <a:alpha val="0"/>
              </a:srgbClr>
            </a:solidFill>
            <a:prstDash val="solid"/>
          </a:ln>
        </p:spPr>
      </p:sp>
      <p:sp>
        <p:nvSpPr>
          <p:cNvPr id="55" name="Text 53"/>
          <p:cNvSpPr/>
          <p:nvPr/>
        </p:nvSpPr>
        <p:spPr>
          <a:xfrm>
            <a:off x="3337560" y="3886683"/>
            <a:ext cx="566928" cy="192024"/>
          </a:xfrm>
          <a:prstGeom prst="rect">
            <a:avLst/>
          </a:prstGeom>
          <a:noFill/>
          <a:ln/>
        </p:spPr>
        <p:txBody>
          <a:bodyPr wrap="square" lIns="0" tIns="0" rIns="0" bIns="0" rtlCol="0" anchor="ctr">
            <a:normAutofit/>
          </a:bodyPr>
          <a:lstStyle/>
          <a:p>
            <a:pPr algn="ctr" indent="0" marL="0">
              <a:lnSpc>
                <a:spcPct val="100000"/>
              </a:lnSpc>
              <a:buNone/>
            </a:pPr>
            <a:r>
              <a:rPr lang="en-US" sz="940" b="1" dirty="0">
                <a:solidFill>
                  <a:srgbClr val="4074E8"/>
                </a:solidFill>
                <a:latin typeface="Aptos" pitchFamily="34" charset="0"/>
                <a:ea typeface="Aptos" pitchFamily="34" charset="-122"/>
                <a:cs typeface="Aptos" pitchFamily="34" charset="-120"/>
              </a:rPr>
              <a:t>11.9k</a:t>
            </a:r>
            <a:endParaRPr lang="en-US" sz="940" dirty="0"/>
          </a:p>
        </p:txBody>
      </p:sp>
      <p:sp>
        <p:nvSpPr>
          <p:cNvPr id="56" name="Text 54"/>
          <p:cNvSpPr/>
          <p:nvPr/>
        </p:nvSpPr>
        <p:spPr>
          <a:xfrm>
            <a:off x="3904488" y="4078612"/>
            <a:ext cx="566928" cy="192024"/>
          </a:xfrm>
          <a:prstGeom prst="rect">
            <a:avLst/>
          </a:prstGeom>
          <a:noFill/>
          <a:ln/>
        </p:spPr>
        <p:txBody>
          <a:bodyPr wrap="square" lIns="0" tIns="0" rIns="0" bIns="0" rtlCol="0" anchor="ctr">
            <a:normAutofit/>
          </a:bodyPr>
          <a:lstStyle/>
          <a:p>
            <a:pPr algn="ctr" indent="0" marL="0">
              <a:lnSpc>
                <a:spcPct val="100000"/>
              </a:lnSpc>
              <a:buNone/>
            </a:pPr>
            <a:r>
              <a:rPr lang="en-US" sz="940" b="1" dirty="0">
                <a:solidFill>
                  <a:srgbClr val="078E96"/>
                </a:solidFill>
                <a:latin typeface="Aptos" pitchFamily="34" charset="0"/>
                <a:ea typeface="Aptos" pitchFamily="34" charset="-122"/>
                <a:cs typeface="Aptos" pitchFamily="34" charset="-120"/>
              </a:rPr>
              <a:t>10.3k</a:t>
            </a:r>
            <a:endParaRPr lang="en-US" sz="940" dirty="0"/>
          </a:p>
        </p:txBody>
      </p:sp>
      <p:sp>
        <p:nvSpPr>
          <p:cNvPr id="57" name="Text 55"/>
          <p:cNvSpPr/>
          <p:nvPr/>
        </p:nvSpPr>
        <p:spPr>
          <a:xfrm>
            <a:off x="3621024" y="5641848"/>
            <a:ext cx="621792" cy="210312"/>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244354"/>
                </a:solidFill>
                <a:latin typeface="Aptos" pitchFamily="34" charset="0"/>
                <a:ea typeface="Aptos" pitchFamily="34" charset="-122"/>
                <a:cs typeface="Aptos" pitchFamily="34" charset="-120"/>
              </a:rPr>
              <a:t>TR02</a:t>
            </a:r>
            <a:endParaRPr lang="en-US" sz="1130" dirty="0"/>
          </a:p>
        </p:txBody>
      </p:sp>
      <p:sp>
        <p:nvSpPr>
          <p:cNvPr id="58" name="Shape 56"/>
          <p:cNvSpPr/>
          <p:nvPr/>
        </p:nvSpPr>
        <p:spPr>
          <a:xfrm>
            <a:off x="5285232" y="4149609"/>
            <a:ext cx="475488" cy="1391655"/>
          </a:xfrm>
          <a:prstGeom prst="rect">
            <a:avLst>
              <a:gd name="adj" fmla="val 23077"/>
            </a:avLst>
          </a:prstGeom>
          <a:solidFill>
            <a:srgbClr val="4074E8"/>
          </a:solidFill>
          <a:ln w="12700">
            <a:solidFill>
              <a:srgbClr val="4074E8">
                <a:alpha val="0"/>
              </a:srgbClr>
            </a:solidFill>
            <a:prstDash val="solid"/>
          </a:ln>
        </p:spPr>
      </p:sp>
      <p:sp>
        <p:nvSpPr>
          <p:cNvPr id="59" name="Shape 57"/>
          <p:cNvSpPr/>
          <p:nvPr/>
        </p:nvSpPr>
        <p:spPr>
          <a:xfrm>
            <a:off x="5852160" y="4298625"/>
            <a:ext cx="475488" cy="1242639"/>
          </a:xfrm>
          <a:prstGeom prst="rect">
            <a:avLst>
              <a:gd name="adj" fmla="val 23077"/>
            </a:avLst>
          </a:prstGeom>
          <a:solidFill>
            <a:srgbClr val="078E96"/>
          </a:solidFill>
          <a:ln w="12700">
            <a:solidFill>
              <a:srgbClr val="078E96">
                <a:alpha val="0"/>
              </a:srgbClr>
            </a:solidFill>
            <a:prstDash val="solid"/>
          </a:ln>
        </p:spPr>
      </p:sp>
      <p:sp>
        <p:nvSpPr>
          <p:cNvPr id="60" name="Text 58"/>
          <p:cNvSpPr/>
          <p:nvPr/>
        </p:nvSpPr>
        <p:spPr>
          <a:xfrm>
            <a:off x="5257800" y="3893577"/>
            <a:ext cx="566928" cy="192024"/>
          </a:xfrm>
          <a:prstGeom prst="rect">
            <a:avLst/>
          </a:prstGeom>
          <a:noFill/>
          <a:ln/>
        </p:spPr>
        <p:txBody>
          <a:bodyPr wrap="square" lIns="0" tIns="0" rIns="0" bIns="0" rtlCol="0" anchor="ctr">
            <a:normAutofit/>
          </a:bodyPr>
          <a:lstStyle/>
          <a:p>
            <a:pPr algn="ctr" indent="0" marL="0">
              <a:lnSpc>
                <a:spcPct val="100000"/>
              </a:lnSpc>
              <a:buNone/>
            </a:pPr>
            <a:r>
              <a:rPr lang="en-US" sz="940" b="1" dirty="0">
                <a:solidFill>
                  <a:srgbClr val="4074E8"/>
                </a:solidFill>
                <a:latin typeface="Aptos" pitchFamily="34" charset="0"/>
                <a:ea typeface="Aptos" pitchFamily="34" charset="-122"/>
                <a:cs typeface="Aptos" pitchFamily="34" charset="-120"/>
              </a:rPr>
              <a:t>11.9k</a:t>
            </a:r>
            <a:endParaRPr lang="en-US" sz="940" dirty="0"/>
          </a:p>
        </p:txBody>
      </p:sp>
      <p:sp>
        <p:nvSpPr>
          <p:cNvPr id="61" name="Text 59"/>
          <p:cNvSpPr/>
          <p:nvPr/>
        </p:nvSpPr>
        <p:spPr>
          <a:xfrm>
            <a:off x="5824728" y="4042593"/>
            <a:ext cx="566928" cy="192024"/>
          </a:xfrm>
          <a:prstGeom prst="rect">
            <a:avLst/>
          </a:prstGeom>
          <a:noFill/>
          <a:ln/>
        </p:spPr>
        <p:txBody>
          <a:bodyPr wrap="square" lIns="0" tIns="0" rIns="0" bIns="0" rtlCol="0" anchor="ctr">
            <a:normAutofit/>
          </a:bodyPr>
          <a:lstStyle/>
          <a:p>
            <a:pPr algn="ctr" indent="0" marL="0">
              <a:lnSpc>
                <a:spcPct val="100000"/>
              </a:lnSpc>
              <a:buNone/>
            </a:pPr>
            <a:r>
              <a:rPr lang="en-US" sz="940" b="1" dirty="0">
                <a:solidFill>
                  <a:srgbClr val="078E96"/>
                </a:solidFill>
                <a:latin typeface="Aptos" pitchFamily="34" charset="0"/>
                <a:ea typeface="Aptos" pitchFamily="34" charset="-122"/>
                <a:cs typeface="Aptos" pitchFamily="34" charset="-120"/>
              </a:rPr>
              <a:t>10.6k</a:t>
            </a:r>
            <a:endParaRPr lang="en-US" sz="940" dirty="0"/>
          </a:p>
        </p:txBody>
      </p:sp>
      <p:sp>
        <p:nvSpPr>
          <p:cNvPr id="62" name="Text 60"/>
          <p:cNvSpPr/>
          <p:nvPr/>
        </p:nvSpPr>
        <p:spPr>
          <a:xfrm>
            <a:off x="5541264" y="5641848"/>
            <a:ext cx="621792" cy="210312"/>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244354"/>
                </a:solidFill>
                <a:latin typeface="Aptos" pitchFamily="34" charset="0"/>
                <a:ea typeface="Aptos" pitchFamily="34" charset="-122"/>
                <a:cs typeface="Aptos" pitchFamily="34" charset="-120"/>
              </a:rPr>
              <a:t>TR03</a:t>
            </a:r>
            <a:endParaRPr lang="en-US" sz="1130" dirty="0"/>
          </a:p>
        </p:txBody>
      </p:sp>
      <p:sp>
        <p:nvSpPr>
          <p:cNvPr id="63" name="Shape 61"/>
          <p:cNvSpPr/>
          <p:nvPr/>
        </p:nvSpPr>
        <p:spPr>
          <a:xfrm>
            <a:off x="7767828" y="3258007"/>
            <a:ext cx="3831336" cy="2770632"/>
          </a:xfrm>
          <a:prstGeom prst="roundRect">
            <a:avLst>
              <a:gd name="adj" fmla="val 3960"/>
            </a:avLst>
          </a:prstGeom>
          <a:solidFill>
            <a:srgbClr val="DCE7EC">
              <a:alpha val="50000"/>
            </a:srgbClr>
          </a:solidFill>
          <a:ln w="12700">
            <a:solidFill>
              <a:srgbClr val="DCE7EC">
                <a:alpha val="0"/>
              </a:srgbClr>
            </a:solidFill>
            <a:prstDash val="solid"/>
          </a:ln>
        </p:spPr>
      </p:sp>
      <p:sp>
        <p:nvSpPr>
          <p:cNvPr id="64" name="Shape 62"/>
          <p:cNvSpPr/>
          <p:nvPr/>
        </p:nvSpPr>
        <p:spPr>
          <a:xfrm>
            <a:off x="7744968" y="3218688"/>
            <a:ext cx="3831336" cy="2770632"/>
          </a:xfrm>
          <a:prstGeom prst="roundRect">
            <a:avLst>
              <a:gd name="adj" fmla="val 3960"/>
            </a:avLst>
          </a:prstGeom>
          <a:solidFill>
            <a:srgbClr val="FFFFFF"/>
          </a:solidFill>
          <a:ln w="8890">
            <a:solidFill>
              <a:srgbClr val="DCE6ED"/>
            </a:solidFill>
            <a:prstDash val="solid"/>
          </a:ln>
        </p:spPr>
      </p:sp>
      <p:sp>
        <p:nvSpPr>
          <p:cNvPr id="65" name="Text 63"/>
          <p:cNvSpPr/>
          <p:nvPr/>
        </p:nvSpPr>
        <p:spPr>
          <a:xfrm>
            <a:off x="8001000" y="3419856"/>
            <a:ext cx="3218688" cy="310896"/>
          </a:xfrm>
          <a:prstGeom prst="rect">
            <a:avLst/>
          </a:prstGeom>
          <a:noFill/>
          <a:ln/>
        </p:spPr>
        <p:txBody>
          <a:bodyPr wrap="square" lIns="0" tIns="0" rIns="0" bIns="0" rtlCol="0" anchor="ctr">
            <a:normAutofit/>
          </a:bodyPr>
          <a:lstStyle/>
          <a:p>
            <a:pPr algn="l" indent="0" marL="0">
              <a:lnSpc>
                <a:spcPct val="100000"/>
              </a:lnSpc>
              <a:buNone/>
            </a:pPr>
            <a:r>
              <a:rPr lang="en-US" sz="1720" b="1" dirty="0">
                <a:solidFill>
                  <a:srgbClr val="102738"/>
                </a:solidFill>
                <a:latin typeface="Aptos" pitchFamily="34" charset="0"/>
                <a:ea typeface="Aptos" pitchFamily="34" charset="-122"/>
                <a:cs typeface="Aptos" pitchFamily="34" charset="-120"/>
              </a:rPr>
              <a:t>What each metric answers</a:t>
            </a:r>
            <a:endParaRPr lang="en-US" sz="1720" dirty="0"/>
          </a:p>
        </p:txBody>
      </p:sp>
      <p:sp>
        <p:nvSpPr>
          <p:cNvPr id="66" name="Shape 64"/>
          <p:cNvSpPr/>
          <p:nvPr/>
        </p:nvSpPr>
        <p:spPr>
          <a:xfrm>
            <a:off x="8001000" y="4023360"/>
            <a:ext cx="109728" cy="109728"/>
          </a:xfrm>
          <a:prstGeom prst="ellipse">
            <a:avLst/>
          </a:prstGeom>
          <a:solidFill>
            <a:srgbClr val="4074E8"/>
          </a:solidFill>
          <a:ln w="12700">
            <a:solidFill>
              <a:srgbClr val="4074E8">
                <a:alpha val="0"/>
              </a:srgbClr>
            </a:solidFill>
            <a:prstDash val="solid"/>
          </a:ln>
        </p:spPr>
      </p:sp>
      <p:sp>
        <p:nvSpPr>
          <p:cNvPr id="67" name="Text 65"/>
          <p:cNvSpPr/>
          <p:nvPr/>
        </p:nvSpPr>
        <p:spPr>
          <a:xfrm>
            <a:off x="8193024" y="3904488"/>
            <a:ext cx="996696" cy="219456"/>
          </a:xfrm>
          <a:prstGeom prst="rect">
            <a:avLst/>
          </a:prstGeom>
          <a:noFill/>
          <a:ln/>
        </p:spPr>
        <p:txBody>
          <a:bodyPr wrap="square" lIns="0" tIns="0" rIns="0" bIns="0" rtlCol="0" anchor="ctr">
            <a:normAutofit/>
          </a:bodyPr>
          <a:lstStyle/>
          <a:p>
            <a:pPr algn="l" indent="0" marL="0">
              <a:lnSpc>
                <a:spcPct val="100000"/>
              </a:lnSpc>
              <a:buNone/>
            </a:pPr>
            <a:r>
              <a:rPr lang="en-US" sz="830" b="1" spc="80" kern="0" dirty="0">
                <a:solidFill>
                  <a:srgbClr val="627889"/>
                </a:solidFill>
                <a:latin typeface="Aptos" pitchFamily="34" charset="0"/>
                <a:ea typeface="Aptos" pitchFamily="34" charset="-122"/>
                <a:cs typeface="Aptos" pitchFamily="34" charset="-120"/>
              </a:rPr>
              <a:t>TARGET</a:t>
            </a:r>
            <a:endParaRPr lang="en-US" sz="830" dirty="0"/>
          </a:p>
        </p:txBody>
      </p:sp>
      <p:sp>
        <p:nvSpPr>
          <p:cNvPr id="68" name="Text 66"/>
          <p:cNvSpPr/>
          <p:nvPr/>
        </p:nvSpPr>
        <p:spPr>
          <a:xfrm>
            <a:off x="9208008" y="3895344"/>
            <a:ext cx="2020824" cy="219456"/>
          </a:xfrm>
          <a:prstGeom prst="rect">
            <a:avLst/>
          </a:prstGeom>
          <a:noFill/>
          <a:ln/>
        </p:spPr>
        <p:txBody>
          <a:bodyPr wrap="square" lIns="0" tIns="0" rIns="0" bIns="0" rtlCol="0" anchor="ctr">
            <a:normAutofit/>
          </a:bodyPr>
          <a:lstStyle/>
          <a:p>
            <a:pPr algn="l" indent="0" marL="0">
              <a:lnSpc>
                <a:spcPct val="100000"/>
              </a:lnSpc>
              <a:buNone/>
            </a:pPr>
            <a:r>
              <a:rPr lang="en-US" sz="1280" b="1" dirty="0">
                <a:solidFill>
                  <a:srgbClr val="102738"/>
                </a:solidFill>
                <a:latin typeface="Aptos" pitchFamily="34" charset="0"/>
                <a:ea typeface="Aptos" pitchFamily="34" charset="-122"/>
                <a:cs typeface="Aptos" pitchFamily="34" charset="-120"/>
              </a:rPr>
              <a:t>Good / planned</a:t>
            </a:r>
            <a:endParaRPr lang="en-US" sz="1280" dirty="0"/>
          </a:p>
        </p:txBody>
      </p:sp>
      <p:sp>
        <p:nvSpPr>
          <p:cNvPr id="69" name="Text 67"/>
          <p:cNvSpPr/>
          <p:nvPr/>
        </p:nvSpPr>
        <p:spPr>
          <a:xfrm>
            <a:off x="8193024" y="4151376"/>
            <a:ext cx="2825496" cy="182880"/>
          </a:xfrm>
          <a:prstGeom prst="rect">
            <a:avLst/>
          </a:prstGeom>
          <a:noFill/>
          <a:ln/>
        </p:spPr>
        <p:txBody>
          <a:bodyPr wrap="square" lIns="0" tIns="0" rIns="0" bIns="0" rtlCol="0" anchor="ctr">
            <a:normAutofit/>
          </a:bodyPr>
          <a:lstStyle/>
          <a:p>
            <a:pPr algn="l" indent="0" marL="0">
              <a:lnSpc>
                <a:spcPct val="100000"/>
              </a:lnSpc>
              <a:buNone/>
            </a:pPr>
            <a:r>
              <a:rPr lang="en-US" sz="1010" dirty="0">
                <a:solidFill>
                  <a:srgbClr val="627889"/>
                </a:solidFill>
                <a:latin typeface="Aptos" pitchFamily="34" charset="0"/>
                <a:ea typeface="Aptos" pitchFamily="34" charset="-122"/>
                <a:cs typeface="Aptos" pitchFamily="34" charset="-120"/>
              </a:rPr>
              <a:t>Are we meeting the plan?</a:t>
            </a:r>
            <a:endParaRPr lang="en-US" sz="1010" dirty="0"/>
          </a:p>
        </p:txBody>
      </p:sp>
      <p:sp>
        <p:nvSpPr>
          <p:cNvPr id="70" name="Shape 68"/>
          <p:cNvSpPr/>
          <p:nvPr/>
        </p:nvSpPr>
        <p:spPr>
          <a:xfrm>
            <a:off x="8001000" y="4599432"/>
            <a:ext cx="109728" cy="109728"/>
          </a:xfrm>
          <a:prstGeom prst="ellipse">
            <a:avLst/>
          </a:prstGeom>
          <a:solidFill>
            <a:srgbClr val="168363"/>
          </a:solidFill>
          <a:ln w="12700">
            <a:solidFill>
              <a:srgbClr val="168363">
                <a:alpha val="0"/>
              </a:srgbClr>
            </a:solidFill>
            <a:prstDash val="solid"/>
          </a:ln>
        </p:spPr>
      </p:sp>
      <p:sp>
        <p:nvSpPr>
          <p:cNvPr id="71" name="Text 69"/>
          <p:cNvSpPr/>
          <p:nvPr/>
        </p:nvSpPr>
        <p:spPr>
          <a:xfrm>
            <a:off x="8193024" y="4480560"/>
            <a:ext cx="996696" cy="219456"/>
          </a:xfrm>
          <a:prstGeom prst="rect">
            <a:avLst/>
          </a:prstGeom>
          <a:noFill/>
          <a:ln/>
        </p:spPr>
        <p:txBody>
          <a:bodyPr wrap="square" lIns="0" tIns="0" rIns="0" bIns="0" rtlCol="0" anchor="ctr">
            <a:normAutofit/>
          </a:bodyPr>
          <a:lstStyle/>
          <a:p>
            <a:pPr algn="l" indent="0" marL="0">
              <a:lnSpc>
                <a:spcPct val="100000"/>
              </a:lnSpc>
              <a:buNone/>
            </a:pPr>
            <a:r>
              <a:rPr lang="en-US" sz="830" b="1" spc="80" kern="0" dirty="0">
                <a:solidFill>
                  <a:srgbClr val="627889"/>
                </a:solidFill>
                <a:latin typeface="Aptos" pitchFamily="34" charset="0"/>
                <a:ea typeface="Aptos" pitchFamily="34" charset="-122"/>
                <a:cs typeface="Aptos" pitchFamily="34" charset="-120"/>
              </a:rPr>
              <a:t>QUALITY</a:t>
            </a:r>
            <a:endParaRPr lang="en-US" sz="830" dirty="0"/>
          </a:p>
        </p:txBody>
      </p:sp>
      <p:sp>
        <p:nvSpPr>
          <p:cNvPr id="72" name="Text 70"/>
          <p:cNvSpPr/>
          <p:nvPr/>
        </p:nvSpPr>
        <p:spPr>
          <a:xfrm>
            <a:off x="9208008" y="4471416"/>
            <a:ext cx="2020824" cy="219456"/>
          </a:xfrm>
          <a:prstGeom prst="rect">
            <a:avLst/>
          </a:prstGeom>
          <a:noFill/>
          <a:ln/>
        </p:spPr>
        <p:txBody>
          <a:bodyPr wrap="square" lIns="0" tIns="0" rIns="0" bIns="0" rtlCol="0" anchor="ctr">
            <a:normAutofit/>
          </a:bodyPr>
          <a:lstStyle/>
          <a:p>
            <a:pPr algn="l" indent="0" marL="0">
              <a:lnSpc>
                <a:spcPct val="100000"/>
              </a:lnSpc>
              <a:buNone/>
            </a:pPr>
            <a:r>
              <a:rPr lang="en-US" sz="1280" b="1" dirty="0">
                <a:solidFill>
                  <a:srgbClr val="102738"/>
                </a:solidFill>
                <a:latin typeface="Aptos" pitchFamily="34" charset="0"/>
                <a:ea typeface="Aptos" pitchFamily="34" charset="-122"/>
                <a:cs typeface="Aptos" pitchFamily="34" charset="-120"/>
              </a:rPr>
              <a:t>Good &amp; scrap / gross</a:t>
            </a:r>
            <a:endParaRPr lang="en-US" sz="1280" dirty="0"/>
          </a:p>
        </p:txBody>
      </p:sp>
      <p:sp>
        <p:nvSpPr>
          <p:cNvPr id="73" name="Text 71"/>
          <p:cNvSpPr/>
          <p:nvPr/>
        </p:nvSpPr>
        <p:spPr>
          <a:xfrm>
            <a:off x="8193024" y="4727448"/>
            <a:ext cx="2825496" cy="182880"/>
          </a:xfrm>
          <a:prstGeom prst="rect">
            <a:avLst/>
          </a:prstGeom>
          <a:noFill/>
          <a:ln/>
        </p:spPr>
        <p:txBody>
          <a:bodyPr wrap="square" lIns="0" tIns="0" rIns="0" bIns="0" rtlCol="0" anchor="ctr">
            <a:normAutofit/>
          </a:bodyPr>
          <a:lstStyle/>
          <a:p>
            <a:pPr algn="l" indent="0" marL="0">
              <a:lnSpc>
                <a:spcPct val="100000"/>
              </a:lnSpc>
              <a:buNone/>
            </a:pPr>
            <a:r>
              <a:rPr lang="en-US" sz="1010" dirty="0">
                <a:solidFill>
                  <a:srgbClr val="627889"/>
                </a:solidFill>
                <a:latin typeface="Aptos" pitchFamily="34" charset="0"/>
                <a:ea typeface="Aptos" pitchFamily="34" charset="-122"/>
                <a:cs typeface="Aptos" pitchFamily="34" charset="-120"/>
              </a:rPr>
              <a:t>How much output is usable?</a:t>
            </a:r>
            <a:endParaRPr lang="en-US" sz="1010" dirty="0"/>
          </a:p>
        </p:txBody>
      </p:sp>
      <p:sp>
        <p:nvSpPr>
          <p:cNvPr id="74" name="Shape 72"/>
          <p:cNvSpPr/>
          <p:nvPr/>
        </p:nvSpPr>
        <p:spPr>
          <a:xfrm>
            <a:off x="8001000" y="5175504"/>
            <a:ext cx="109728" cy="109728"/>
          </a:xfrm>
          <a:prstGeom prst="ellipse">
            <a:avLst/>
          </a:prstGeom>
          <a:solidFill>
            <a:srgbClr val="E7A03E"/>
          </a:solidFill>
          <a:ln w="12700">
            <a:solidFill>
              <a:srgbClr val="E7A03E">
                <a:alpha val="0"/>
              </a:srgbClr>
            </a:solidFill>
            <a:prstDash val="solid"/>
          </a:ln>
        </p:spPr>
      </p:sp>
      <p:sp>
        <p:nvSpPr>
          <p:cNvPr id="75" name="Text 73"/>
          <p:cNvSpPr/>
          <p:nvPr/>
        </p:nvSpPr>
        <p:spPr>
          <a:xfrm>
            <a:off x="8193024" y="5056632"/>
            <a:ext cx="996696" cy="219456"/>
          </a:xfrm>
          <a:prstGeom prst="rect">
            <a:avLst/>
          </a:prstGeom>
          <a:noFill/>
          <a:ln/>
        </p:spPr>
        <p:txBody>
          <a:bodyPr wrap="square" lIns="0" tIns="0" rIns="0" bIns="0" rtlCol="0" anchor="ctr">
            <a:normAutofit/>
          </a:bodyPr>
          <a:lstStyle/>
          <a:p>
            <a:pPr algn="l" indent="0" marL="0">
              <a:lnSpc>
                <a:spcPct val="100000"/>
              </a:lnSpc>
              <a:buNone/>
            </a:pPr>
            <a:r>
              <a:rPr lang="en-US" sz="830" b="1" spc="80" kern="0" dirty="0">
                <a:solidFill>
                  <a:srgbClr val="627889"/>
                </a:solidFill>
                <a:latin typeface="Aptos" pitchFamily="34" charset="0"/>
                <a:ea typeface="Aptos" pitchFamily="34" charset="-122"/>
                <a:cs typeface="Aptos" pitchFamily="34" charset="-120"/>
              </a:rPr>
              <a:t>ENERGY</a:t>
            </a:r>
            <a:endParaRPr lang="en-US" sz="830" dirty="0"/>
          </a:p>
        </p:txBody>
      </p:sp>
      <p:sp>
        <p:nvSpPr>
          <p:cNvPr id="76" name="Text 74"/>
          <p:cNvSpPr/>
          <p:nvPr/>
        </p:nvSpPr>
        <p:spPr>
          <a:xfrm>
            <a:off x="9208008" y="5047488"/>
            <a:ext cx="2020824" cy="219456"/>
          </a:xfrm>
          <a:prstGeom prst="rect">
            <a:avLst/>
          </a:prstGeom>
          <a:noFill/>
          <a:ln/>
        </p:spPr>
        <p:txBody>
          <a:bodyPr wrap="square" lIns="0" tIns="0" rIns="0" bIns="0" rtlCol="0" anchor="ctr">
            <a:normAutofit/>
          </a:bodyPr>
          <a:lstStyle/>
          <a:p>
            <a:pPr algn="l" indent="0" marL="0">
              <a:lnSpc>
                <a:spcPct val="100000"/>
              </a:lnSpc>
              <a:buNone/>
            </a:pPr>
            <a:r>
              <a:rPr lang="en-US" sz="1280" b="1" dirty="0">
                <a:solidFill>
                  <a:srgbClr val="102738"/>
                </a:solidFill>
                <a:latin typeface="Aptos" pitchFamily="34" charset="0"/>
                <a:ea typeface="Aptos" pitchFamily="34" charset="-122"/>
                <a:cs typeface="Aptos" pitchFamily="34" charset="-120"/>
              </a:rPr>
              <a:t>GJ / gross ton</a:t>
            </a:r>
            <a:endParaRPr lang="en-US" sz="1280" dirty="0"/>
          </a:p>
        </p:txBody>
      </p:sp>
      <p:sp>
        <p:nvSpPr>
          <p:cNvPr id="77" name="Text 75"/>
          <p:cNvSpPr/>
          <p:nvPr/>
        </p:nvSpPr>
        <p:spPr>
          <a:xfrm>
            <a:off x="8193024" y="5303520"/>
            <a:ext cx="2825496" cy="182880"/>
          </a:xfrm>
          <a:prstGeom prst="rect">
            <a:avLst/>
          </a:prstGeom>
          <a:noFill/>
          <a:ln/>
        </p:spPr>
        <p:txBody>
          <a:bodyPr wrap="square" lIns="0" tIns="0" rIns="0" bIns="0" rtlCol="0" anchor="ctr">
            <a:normAutofit/>
          </a:bodyPr>
          <a:lstStyle/>
          <a:p>
            <a:pPr algn="l" indent="0" marL="0">
              <a:lnSpc>
                <a:spcPct val="100000"/>
              </a:lnSpc>
              <a:buNone/>
            </a:pPr>
            <a:r>
              <a:rPr lang="en-US" sz="1010" dirty="0">
                <a:solidFill>
                  <a:srgbClr val="627889"/>
                </a:solidFill>
                <a:latin typeface="Aptos" pitchFamily="34" charset="0"/>
                <a:ea typeface="Aptos" pitchFamily="34" charset="-122"/>
                <a:cs typeface="Aptos" pitchFamily="34" charset="-120"/>
              </a:rPr>
              <a:t>What is the energy intensity?</a:t>
            </a:r>
            <a:endParaRPr lang="en-US" sz="1010" dirty="0"/>
          </a:p>
        </p:txBody>
      </p:sp>
      <p:sp>
        <p:nvSpPr>
          <p:cNvPr id="78" name="Shape 76"/>
          <p:cNvSpPr/>
          <p:nvPr/>
        </p:nvSpPr>
        <p:spPr>
          <a:xfrm>
            <a:off x="7991856" y="5650992"/>
            <a:ext cx="3328416" cy="237744"/>
          </a:xfrm>
          <a:prstGeom prst="roundRect">
            <a:avLst>
              <a:gd name="adj" fmla="val 46154"/>
            </a:avLst>
          </a:prstGeom>
          <a:solidFill>
            <a:srgbClr val="E7F8F5"/>
          </a:solidFill>
          <a:ln w="12700">
            <a:solidFill>
              <a:srgbClr val="E7F8F5">
                <a:alpha val="0"/>
              </a:srgbClr>
            </a:solidFill>
            <a:prstDash val="solid"/>
          </a:ln>
        </p:spPr>
      </p:sp>
      <p:sp>
        <p:nvSpPr>
          <p:cNvPr id="79" name="Text 77"/>
          <p:cNvSpPr/>
          <p:nvPr/>
        </p:nvSpPr>
        <p:spPr>
          <a:xfrm>
            <a:off x="8110728" y="5678424"/>
            <a:ext cx="3044952" cy="164592"/>
          </a:xfrm>
          <a:prstGeom prst="rect">
            <a:avLst/>
          </a:prstGeom>
          <a:noFill/>
          <a:ln/>
        </p:spPr>
        <p:txBody>
          <a:bodyPr wrap="square" lIns="0" tIns="0" rIns="0" bIns="0" rtlCol="0" anchor="ctr">
            <a:normAutofit/>
          </a:bodyPr>
          <a:lstStyle/>
          <a:p>
            <a:pPr algn="ctr" indent="0" marL="0">
              <a:lnSpc>
                <a:spcPct val="100000"/>
              </a:lnSpc>
              <a:buNone/>
            </a:pPr>
            <a:r>
              <a:rPr lang="en-US" sz="990" b="1" dirty="0">
                <a:solidFill>
                  <a:srgbClr val="078E96"/>
                </a:solidFill>
                <a:latin typeface="Aptos" pitchFamily="34" charset="0"/>
                <a:ea typeface="Aptos" pitchFamily="34" charset="-122"/>
                <a:cs typeface="Aptos" pitchFamily="34" charset="-120"/>
              </a:rPr>
              <a:t>Ratios use SUMs, never averaged daily %.</a:t>
            </a:r>
            <a:endParaRPr lang="en-US" sz="9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gd name="adj" fmla="val 160000"/>
            </a:avLst>
          </a:prstGeom>
          <a:solidFill>
            <a:srgbClr val="102738"/>
          </a:solidFill>
          <a:ln w="12700">
            <a:solidFill>
              <a:srgbClr val="102738">
                <a:alpha val="0"/>
              </a:srgbClr>
            </a:solidFill>
            <a:prstDash val="solid"/>
          </a:ln>
        </p:spPr>
      </p:sp>
      <p:sp>
        <p:nvSpPr>
          <p:cNvPr id="3" name="Shape 1"/>
          <p:cNvSpPr/>
          <p:nvPr/>
        </p:nvSpPr>
        <p:spPr>
          <a:xfrm>
            <a:off x="0" y="0"/>
            <a:ext cx="8127797" cy="68580"/>
          </a:xfrm>
          <a:prstGeom prst="rect">
            <a:avLst>
              <a:gd name="adj" fmla="val 160000"/>
            </a:avLst>
          </a:prstGeom>
          <a:solidFill>
            <a:srgbClr val="17B8B3"/>
          </a:solidFill>
          <a:ln w="12700">
            <a:solidFill>
              <a:srgbClr val="17B8B3">
                <a:alpha val="0"/>
              </a:srgbClr>
            </a:solidFill>
            <a:prstDash val="solid"/>
          </a:ln>
        </p:spPr>
      </p:sp>
      <p:sp>
        <p:nvSpPr>
          <p:cNvPr id="4" name="Text 2"/>
          <p:cNvSpPr/>
          <p:nvPr/>
        </p:nvSpPr>
        <p:spPr>
          <a:xfrm>
            <a:off x="585216" y="256032"/>
            <a:ext cx="8686800" cy="219456"/>
          </a:xfrm>
          <a:prstGeom prst="rect">
            <a:avLst/>
          </a:prstGeom>
          <a:noFill/>
          <a:ln/>
        </p:spPr>
        <p:txBody>
          <a:bodyPr wrap="square" lIns="0" tIns="0" rIns="0" bIns="0" rtlCol="0" anchor="ctr">
            <a:normAutofit/>
          </a:bodyPr>
          <a:lstStyle/>
          <a:p>
            <a:pPr algn="l" indent="0" marL="0">
              <a:lnSpc>
                <a:spcPct val="100000"/>
              </a:lnSpc>
              <a:buNone/>
            </a:pPr>
            <a:r>
              <a:rPr lang="en-US" sz="910" b="1" spc="120" kern="0" dirty="0">
                <a:solidFill>
                  <a:srgbClr val="627889"/>
                </a:solidFill>
                <a:latin typeface="Aptos" pitchFamily="34" charset="0"/>
                <a:ea typeface="Aptos" pitchFamily="34" charset="-122"/>
                <a:cs typeface="Aptos" pitchFamily="34" charset="-120"/>
              </a:rPr>
              <a:t>GLASSOPS 360  /  QUALITY GATE</a:t>
            </a:r>
            <a:endParaRPr lang="en-US" sz="910" dirty="0"/>
          </a:p>
        </p:txBody>
      </p:sp>
      <p:sp>
        <p:nvSpPr>
          <p:cNvPr id="5" name="Text 3"/>
          <p:cNvSpPr/>
          <p:nvPr/>
        </p:nvSpPr>
        <p:spPr>
          <a:xfrm>
            <a:off x="594360" y="658368"/>
            <a:ext cx="10607040" cy="493776"/>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02738"/>
                </a:solidFill>
                <a:latin typeface="Aptos" pitchFamily="34" charset="0"/>
                <a:ea typeface="Aptos" pitchFamily="34" charset="-122"/>
                <a:cs typeface="Aptos" pitchFamily="34" charset="-120"/>
              </a:rPr>
              <a:t>Data quality: verify or block</a:t>
            </a:r>
            <a:endParaRPr lang="en-US" sz="3000" dirty="0"/>
          </a:p>
        </p:txBody>
      </p:sp>
      <p:sp>
        <p:nvSpPr>
          <p:cNvPr id="6" name="Text 4"/>
          <p:cNvSpPr/>
          <p:nvPr/>
        </p:nvSpPr>
        <p:spPr>
          <a:xfrm>
            <a:off x="603504" y="1225296"/>
            <a:ext cx="10927080" cy="329184"/>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627889"/>
                </a:solidFill>
                <a:latin typeface="Aptos" pitchFamily="34" charset="0"/>
                <a:ea typeface="Aptos" pitchFamily="34" charset="-122"/>
                <a:cs typeface="Aptos" pitchFamily="34" charset="-120"/>
              </a:rPr>
              <a:t>Source contracts prevent invalid records from silently contaminating business KPIs.</a:t>
            </a:r>
            <a:endParaRPr lang="en-US" sz="1350" dirty="0"/>
          </a:p>
        </p:txBody>
      </p:sp>
      <p:sp>
        <p:nvSpPr>
          <p:cNvPr id="7" name="Shape 5"/>
          <p:cNvSpPr/>
          <p:nvPr/>
        </p:nvSpPr>
        <p:spPr>
          <a:xfrm>
            <a:off x="594360" y="6382512"/>
            <a:ext cx="11018520" cy="0"/>
          </a:xfrm>
          <a:prstGeom prst="line">
            <a:avLst/>
          </a:prstGeom>
          <a:noFill/>
          <a:ln w="11430">
            <a:solidFill>
              <a:srgbClr val="DCE6ED"/>
            </a:solidFill>
            <a:prstDash val="solid"/>
          </a:ln>
        </p:spPr>
      </p:sp>
      <p:sp>
        <p:nvSpPr>
          <p:cNvPr id="8" name="Text 6"/>
          <p:cNvSpPr/>
          <p:nvPr/>
        </p:nvSpPr>
        <p:spPr>
          <a:xfrm>
            <a:off x="594360" y="6492240"/>
            <a:ext cx="9784080" cy="164592"/>
          </a:xfrm>
          <a:prstGeom prst="rect">
            <a:avLst/>
          </a:prstGeom>
          <a:noFill/>
          <a:ln/>
        </p:spPr>
        <p:txBody>
          <a:bodyPr wrap="square" lIns="0" tIns="0" rIns="0" bIns="0" rtlCol="0" anchor="ctr">
            <a:normAutofit/>
          </a:bodyPr>
          <a:lstStyle/>
          <a:p>
            <a:pPr algn="l" indent="0" marL="0">
              <a:lnSpc>
                <a:spcPct val="100000"/>
              </a:lnSpc>
              <a:buNone/>
            </a:pPr>
            <a:r>
              <a:rPr lang="en-US" sz="830" dirty="0">
                <a:solidFill>
                  <a:srgbClr val="8DA1AE"/>
                </a:solidFill>
                <a:latin typeface="Aptos" pitchFamily="34" charset="0"/>
                <a:ea typeface="Aptos" pitchFamily="34" charset="-122"/>
                <a:cs typeface="Aptos" pitchFamily="34" charset="-120"/>
              </a:rPr>
              <a:t>SYNTHETIC PORTFOLIO DEMO  ·  NOT A REAL COMPANY OR SAP SYSTEM</a:t>
            </a:r>
            <a:endParaRPr lang="en-US" sz="830" dirty="0"/>
          </a:p>
        </p:txBody>
      </p:sp>
      <p:sp>
        <p:nvSpPr>
          <p:cNvPr id="9" name="Text 7"/>
          <p:cNvSpPr/>
          <p:nvPr/>
        </p:nvSpPr>
        <p:spPr>
          <a:xfrm>
            <a:off x="10652760" y="6473952"/>
            <a:ext cx="914400" cy="201168"/>
          </a:xfrm>
          <a:prstGeom prst="rect">
            <a:avLst/>
          </a:prstGeom>
          <a:noFill/>
          <a:ln/>
        </p:spPr>
        <p:txBody>
          <a:bodyPr wrap="square" lIns="0" tIns="0" rIns="0" bIns="0" rtlCol="0" anchor="ctr">
            <a:normAutofit/>
          </a:bodyPr>
          <a:lstStyle/>
          <a:p>
            <a:pPr algn="r" indent="0" marL="0">
              <a:lnSpc>
                <a:spcPct val="100000"/>
              </a:lnSpc>
              <a:buNone/>
            </a:pPr>
            <a:r>
              <a:rPr lang="en-US" sz="910" b="1" dirty="0">
                <a:solidFill>
                  <a:srgbClr val="627889"/>
                </a:solidFill>
                <a:latin typeface="Aptos" pitchFamily="34" charset="0"/>
                <a:ea typeface="Aptos" pitchFamily="34" charset="-122"/>
                <a:cs typeface="Aptos" pitchFamily="34" charset="-120"/>
              </a:rPr>
              <a:t>06 / 09</a:t>
            </a:r>
            <a:endParaRPr lang="en-US" sz="910" dirty="0"/>
          </a:p>
        </p:txBody>
      </p:sp>
      <p:sp>
        <p:nvSpPr>
          <p:cNvPr id="10" name="Shape 8"/>
          <p:cNvSpPr/>
          <p:nvPr/>
        </p:nvSpPr>
        <p:spPr>
          <a:xfrm>
            <a:off x="626364" y="1904695"/>
            <a:ext cx="4937760" cy="3163824"/>
          </a:xfrm>
          <a:prstGeom prst="roundRect">
            <a:avLst>
              <a:gd name="adj" fmla="val 3468"/>
            </a:avLst>
          </a:prstGeom>
          <a:solidFill>
            <a:srgbClr val="DCE7EC">
              <a:alpha val="50000"/>
            </a:srgbClr>
          </a:solidFill>
          <a:ln w="12700">
            <a:solidFill>
              <a:srgbClr val="DCE7EC">
                <a:alpha val="0"/>
              </a:srgbClr>
            </a:solidFill>
            <a:prstDash val="solid"/>
          </a:ln>
        </p:spPr>
      </p:sp>
      <p:sp>
        <p:nvSpPr>
          <p:cNvPr id="11" name="Shape 9"/>
          <p:cNvSpPr/>
          <p:nvPr/>
        </p:nvSpPr>
        <p:spPr>
          <a:xfrm>
            <a:off x="603504" y="1865376"/>
            <a:ext cx="4937760" cy="3163824"/>
          </a:xfrm>
          <a:prstGeom prst="roundRect">
            <a:avLst>
              <a:gd name="adj" fmla="val 3468"/>
            </a:avLst>
          </a:prstGeom>
          <a:solidFill>
            <a:srgbClr val="FFFFFF"/>
          </a:solidFill>
          <a:ln w="8890">
            <a:solidFill>
              <a:srgbClr val="DCE6ED"/>
            </a:solidFill>
            <a:prstDash val="solid"/>
          </a:ln>
        </p:spPr>
      </p:sp>
      <p:sp>
        <p:nvSpPr>
          <p:cNvPr id="12" name="Shape 10"/>
          <p:cNvSpPr/>
          <p:nvPr/>
        </p:nvSpPr>
        <p:spPr>
          <a:xfrm>
            <a:off x="603504" y="1865376"/>
            <a:ext cx="4937760" cy="77724"/>
          </a:xfrm>
          <a:prstGeom prst="rect">
            <a:avLst>
              <a:gd name="adj" fmla="val 141176"/>
            </a:avLst>
          </a:prstGeom>
          <a:solidFill>
            <a:srgbClr val="4074E8"/>
          </a:solidFill>
          <a:ln w="12700">
            <a:solidFill>
              <a:srgbClr val="4074E8">
                <a:alpha val="0"/>
              </a:srgbClr>
            </a:solidFill>
            <a:prstDash val="solid"/>
          </a:ln>
        </p:spPr>
      </p:sp>
      <p:sp>
        <p:nvSpPr>
          <p:cNvPr id="13" name="Text 11"/>
          <p:cNvSpPr/>
          <p:nvPr/>
        </p:nvSpPr>
        <p:spPr>
          <a:xfrm>
            <a:off x="877824" y="2121408"/>
            <a:ext cx="2761488" cy="219456"/>
          </a:xfrm>
          <a:prstGeom prst="rect">
            <a:avLst/>
          </a:prstGeom>
          <a:noFill/>
          <a:ln/>
        </p:spPr>
        <p:txBody>
          <a:bodyPr wrap="square" lIns="0" tIns="0" rIns="0" bIns="0" rtlCol="0" anchor="ctr">
            <a:normAutofit/>
          </a:bodyPr>
          <a:lstStyle/>
          <a:p>
            <a:pPr algn="l" indent="0" marL="0">
              <a:lnSpc>
                <a:spcPct val="100000"/>
              </a:lnSpc>
              <a:buNone/>
            </a:pPr>
            <a:r>
              <a:rPr lang="en-US" sz="1000" b="1" spc="145" kern="0" dirty="0">
                <a:solidFill>
                  <a:srgbClr val="4074E8"/>
                </a:solidFill>
                <a:latin typeface="Aptos" pitchFamily="34" charset="0"/>
                <a:ea typeface="Aptos" pitchFamily="34" charset="-122"/>
                <a:cs typeface="Aptos" pitchFamily="34" charset="-120"/>
              </a:rPr>
              <a:t>CONTRACT RULES</a:t>
            </a:r>
            <a:endParaRPr lang="en-US" sz="1000" dirty="0"/>
          </a:p>
        </p:txBody>
      </p:sp>
      <p:sp>
        <p:nvSpPr>
          <p:cNvPr id="14" name="Text 12"/>
          <p:cNvSpPr/>
          <p:nvPr/>
        </p:nvSpPr>
        <p:spPr>
          <a:xfrm>
            <a:off x="877824" y="2441448"/>
            <a:ext cx="4206240" cy="384048"/>
          </a:xfrm>
          <a:prstGeom prst="rect">
            <a:avLst/>
          </a:prstGeom>
          <a:noFill/>
          <a:ln/>
        </p:spPr>
        <p:txBody>
          <a:bodyPr wrap="square" lIns="0" tIns="0" rIns="0" bIns="0" rtlCol="0" anchor="ctr">
            <a:normAutofit/>
          </a:bodyPr>
          <a:lstStyle/>
          <a:p>
            <a:pPr algn="l" indent="0" marL="0">
              <a:lnSpc>
                <a:spcPct val="100000"/>
              </a:lnSpc>
              <a:buNone/>
            </a:pPr>
            <a:r>
              <a:rPr lang="en-US" sz="1940" b="1" dirty="0">
                <a:solidFill>
                  <a:srgbClr val="102738"/>
                </a:solidFill>
                <a:latin typeface="Aptos" pitchFamily="34" charset="0"/>
                <a:ea typeface="Aptos" pitchFamily="34" charset="-122"/>
                <a:cs typeface="Aptos" pitchFamily="34" charset="-120"/>
              </a:rPr>
              <a:t>What must the source guarantee?</a:t>
            </a:r>
            <a:endParaRPr lang="en-US" sz="1940" dirty="0"/>
          </a:p>
        </p:txBody>
      </p:sp>
      <p:sp>
        <p:nvSpPr>
          <p:cNvPr id="15" name="Shape 13"/>
          <p:cNvSpPr/>
          <p:nvPr/>
        </p:nvSpPr>
        <p:spPr>
          <a:xfrm>
            <a:off x="877824" y="3072384"/>
            <a:ext cx="219456" cy="219456"/>
          </a:xfrm>
          <a:prstGeom prst="ellipse">
            <a:avLst/>
          </a:prstGeom>
          <a:solidFill>
            <a:srgbClr val="4074E8"/>
          </a:solidFill>
          <a:ln w="12700">
            <a:solidFill>
              <a:srgbClr val="4074E8">
                <a:alpha val="0"/>
              </a:srgbClr>
            </a:solidFill>
            <a:prstDash val="solid"/>
          </a:ln>
        </p:spPr>
      </p:sp>
      <p:sp>
        <p:nvSpPr>
          <p:cNvPr id="16" name="Text 14"/>
          <p:cNvSpPr/>
          <p:nvPr/>
        </p:nvSpPr>
        <p:spPr>
          <a:xfrm>
            <a:off x="905256" y="3074213"/>
            <a:ext cx="164592" cy="210312"/>
          </a:xfrm>
          <a:prstGeom prst="rect">
            <a:avLst/>
          </a:prstGeom>
          <a:noFill/>
          <a:ln/>
        </p:spPr>
        <p:txBody>
          <a:bodyPr wrap="square" lIns="0" tIns="0" rIns="0" bIns="0" rtlCol="0" anchor="ctr">
            <a:normAutofit/>
          </a:bodyPr>
          <a:lstStyle/>
          <a:p>
            <a:pPr algn="ctr" indent="0" marL="0">
              <a:lnSpc>
                <a:spcPct val="100000"/>
              </a:lnSpc>
              <a:buNone/>
            </a:pPr>
            <a:r>
              <a:rPr lang="en-US" sz="504" b="1" dirty="0">
                <a:solidFill>
                  <a:srgbClr val="FFFFFF"/>
                </a:solidFill>
                <a:latin typeface="Aptos" pitchFamily="34" charset="0"/>
                <a:ea typeface="Aptos" pitchFamily="34" charset="-122"/>
                <a:cs typeface="Aptos" pitchFamily="34" charset="-120"/>
              </a:rPr>
              <a:t>✓</a:t>
            </a:r>
            <a:endParaRPr lang="en-US" sz="504" dirty="0"/>
          </a:p>
        </p:txBody>
      </p:sp>
      <p:sp>
        <p:nvSpPr>
          <p:cNvPr id="17" name="Text 15"/>
          <p:cNvSpPr/>
          <p:nvPr/>
        </p:nvSpPr>
        <p:spPr>
          <a:xfrm>
            <a:off x="1197864" y="3026664"/>
            <a:ext cx="1453896"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44354"/>
                </a:solidFill>
                <a:latin typeface="Aptos" pitchFamily="34" charset="0"/>
                <a:ea typeface="Aptos" pitchFamily="34" charset="-122"/>
                <a:cs typeface="Aptos" pitchFamily="34" charset="-120"/>
              </a:rPr>
              <a:t>Required columns</a:t>
            </a:r>
            <a:endParaRPr lang="en-US" sz="1200" dirty="0"/>
          </a:p>
        </p:txBody>
      </p:sp>
      <p:sp>
        <p:nvSpPr>
          <p:cNvPr id="18" name="Text 16"/>
          <p:cNvSpPr/>
          <p:nvPr/>
        </p:nvSpPr>
        <p:spPr>
          <a:xfrm>
            <a:off x="2697480" y="3026664"/>
            <a:ext cx="2487168" cy="256032"/>
          </a:xfrm>
          <a:prstGeom prst="rect">
            <a:avLst/>
          </a:prstGeom>
          <a:noFill/>
          <a:ln/>
        </p:spPr>
        <p:txBody>
          <a:bodyPr wrap="square" lIns="0" tIns="0" rIns="0" bIns="0" rtlCol="0" anchor="ctr">
            <a:normAutofit/>
          </a:bodyPr>
          <a:lstStyle/>
          <a:p>
            <a:pPr algn="l" indent="0" marL="0">
              <a:lnSpc>
                <a:spcPct val="100000"/>
              </a:lnSpc>
              <a:buNone/>
            </a:pPr>
            <a:r>
              <a:rPr lang="en-US" sz="1080" dirty="0">
                <a:solidFill>
                  <a:srgbClr val="627889"/>
                </a:solidFill>
                <a:latin typeface="Aptos" pitchFamily="34" charset="0"/>
                <a:ea typeface="Aptos" pitchFamily="34" charset="-122"/>
                <a:cs typeface="Aptos" pitchFamily="34" charset="-120"/>
              </a:rPr>
              <a:t>No missing contract fields</a:t>
            </a:r>
            <a:endParaRPr lang="en-US" sz="1080" dirty="0"/>
          </a:p>
        </p:txBody>
      </p:sp>
      <p:sp>
        <p:nvSpPr>
          <p:cNvPr id="19" name="Shape 17"/>
          <p:cNvSpPr/>
          <p:nvPr/>
        </p:nvSpPr>
        <p:spPr>
          <a:xfrm>
            <a:off x="877824" y="3520440"/>
            <a:ext cx="219456" cy="219456"/>
          </a:xfrm>
          <a:prstGeom prst="ellipse">
            <a:avLst/>
          </a:prstGeom>
          <a:solidFill>
            <a:srgbClr val="4074E8"/>
          </a:solidFill>
          <a:ln w="12700">
            <a:solidFill>
              <a:srgbClr val="4074E8">
                <a:alpha val="0"/>
              </a:srgbClr>
            </a:solidFill>
            <a:prstDash val="solid"/>
          </a:ln>
        </p:spPr>
      </p:sp>
      <p:sp>
        <p:nvSpPr>
          <p:cNvPr id="20" name="Text 18"/>
          <p:cNvSpPr/>
          <p:nvPr/>
        </p:nvSpPr>
        <p:spPr>
          <a:xfrm>
            <a:off x="905256" y="3522269"/>
            <a:ext cx="164592" cy="210312"/>
          </a:xfrm>
          <a:prstGeom prst="rect">
            <a:avLst/>
          </a:prstGeom>
          <a:noFill/>
          <a:ln/>
        </p:spPr>
        <p:txBody>
          <a:bodyPr wrap="square" lIns="0" tIns="0" rIns="0" bIns="0" rtlCol="0" anchor="ctr">
            <a:normAutofit/>
          </a:bodyPr>
          <a:lstStyle/>
          <a:p>
            <a:pPr algn="ctr" indent="0" marL="0">
              <a:lnSpc>
                <a:spcPct val="100000"/>
              </a:lnSpc>
              <a:buNone/>
            </a:pPr>
            <a:r>
              <a:rPr lang="en-US" sz="504" b="1" dirty="0">
                <a:solidFill>
                  <a:srgbClr val="FFFFFF"/>
                </a:solidFill>
                <a:latin typeface="Aptos" pitchFamily="34" charset="0"/>
                <a:ea typeface="Aptos" pitchFamily="34" charset="-122"/>
                <a:cs typeface="Aptos" pitchFamily="34" charset="-120"/>
              </a:rPr>
              <a:t>✓</a:t>
            </a:r>
            <a:endParaRPr lang="en-US" sz="504" dirty="0"/>
          </a:p>
        </p:txBody>
      </p:sp>
      <p:sp>
        <p:nvSpPr>
          <p:cNvPr id="21" name="Text 19"/>
          <p:cNvSpPr/>
          <p:nvPr/>
        </p:nvSpPr>
        <p:spPr>
          <a:xfrm>
            <a:off x="1197864" y="3474720"/>
            <a:ext cx="1453896"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44354"/>
                </a:solidFill>
                <a:latin typeface="Aptos" pitchFamily="34" charset="0"/>
                <a:ea typeface="Aptos" pitchFamily="34" charset="-122"/>
                <a:cs typeface="Aptos" pitchFamily="34" charset="-120"/>
              </a:rPr>
              <a:t>Business keys</a:t>
            </a:r>
            <a:endParaRPr lang="en-US" sz="1200" dirty="0"/>
          </a:p>
        </p:txBody>
      </p:sp>
      <p:sp>
        <p:nvSpPr>
          <p:cNvPr id="22" name="Text 20"/>
          <p:cNvSpPr/>
          <p:nvPr/>
        </p:nvSpPr>
        <p:spPr>
          <a:xfrm>
            <a:off x="2697480" y="3474720"/>
            <a:ext cx="2487168" cy="256032"/>
          </a:xfrm>
          <a:prstGeom prst="rect">
            <a:avLst/>
          </a:prstGeom>
          <a:noFill/>
          <a:ln/>
        </p:spPr>
        <p:txBody>
          <a:bodyPr wrap="square" lIns="0" tIns="0" rIns="0" bIns="0" rtlCol="0" anchor="ctr">
            <a:normAutofit/>
          </a:bodyPr>
          <a:lstStyle/>
          <a:p>
            <a:pPr algn="l" indent="0" marL="0">
              <a:lnSpc>
                <a:spcPct val="100000"/>
              </a:lnSpc>
              <a:buNone/>
            </a:pPr>
            <a:r>
              <a:rPr lang="en-US" sz="1080" dirty="0">
                <a:solidFill>
                  <a:srgbClr val="627889"/>
                </a:solidFill>
                <a:latin typeface="Aptos" pitchFamily="34" charset="0"/>
                <a:ea typeface="Aptos" pitchFamily="34" charset="-122"/>
                <a:cs typeface="Aptos" pitchFamily="34" charset="-120"/>
              </a:rPr>
              <a:t>Non-null and unique</a:t>
            </a:r>
            <a:endParaRPr lang="en-US" sz="1080" dirty="0"/>
          </a:p>
        </p:txBody>
      </p:sp>
      <p:sp>
        <p:nvSpPr>
          <p:cNvPr id="23" name="Shape 21"/>
          <p:cNvSpPr/>
          <p:nvPr/>
        </p:nvSpPr>
        <p:spPr>
          <a:xfrm>
            <a:off x="877824" y="3968496"/>
            <a:ext cx="219456" cy="219456"/>
          </a:xfrm>
          <a:prstGeom prst="ellipse">
            <a:avLst/>
          </a:prstGeom>
          <a:solidFill>
            <a:srgbClr val="4074E8"/>
          </a:solidFill>
          <a:ln w="12700">
            <a:solidFill>
              <a:srgbClr val="4074E8">
                <a:alpha val="0"/>
              </a:srgbClr>
            </a:solidFill>
            <a:prstDash val="solid"/>
          </a:ln>
        </p:spPr>
      </p:sp>
      <p:sp>
        <p:nvSpPr>
          <p:cNvPr id="24" name="Text 22"/>
          <p:cNvSpPr/>
          <p:nvPr/>
        </p:nvSpPr>
        <p:spPr>
          <a:xfrm>
            <a:off x="905256" y="3970325"/>
            <a:ext cx="164592" cy="210312"/>
          </a:xfrm>
          <a:prstGeom prst="rect">
            <a:avLst/>
          </a:prstGeom>
          <a:noFill/>
          <a:ln/>
        </p:spPr>
        <p:txBody>
          <a:bodyPr wrap="square" lIns="0" tIns="0" rIns="0" bIns="0" rtlCol="0" anchor="ctr">
            <a:normAutofit/>
          </a:bodyPr>
          <a:lstStyle/>
          <a:p>
            <a:pPr algn="ctr" indent="0" marL="0">
              <a:lnSpc>
                <a:spcPct val="100000"/>
              </a:lnSpc>
              <a:buNone/>
            </a:pPr>
            <a:r>
              <a:rPr lang="en-US" sz="504" b="1" dirty="0">
                <a:solidFill>
                  <a:srgbClr val="FFFFFF"/>
                </a:solidFill>
                <a:latin typeface="Aptos" pitchFamily="34" charset="0"/>
                <a:ea typeface="Aptos" pitchFamily="34" charset="-122"/>
                <a:cs typeface="Aptos" pitchFamily="34" charset="-120"/>
              </a:rPr>
              <a:t>✓</a:t>
            </a:r>
            <a:endParaRPr lang="en-US" sz="504" dirty="0"/>
          </a:p>
        </p:txBody>
      </p:sp>
      <p:sp>
        <p:nvSpPr>
          <p:cNvPr id="25" name="Text 23"/>
          <p:cNvSpPr/>
          <p:nvPr/>
        </p:nvSpPr>
        <p:spPr>
          <a:xfrm>
            <a:off x="1197864" y="3922776"/>
            <a:ext cx="1453896"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44354"/>
                </a:solidFill>
                <a:latin typeface="Aptos" pitchFamily="34" charset="0"/>
                <a:ea typeface="Aptos" pitchFamily="34" charset="-122"/>
                <a:cs typeface="Aptos" pitchFamily="34" charset="-120"/>
              </a:rPr>
              <a:t>Value checks</a:t>
            </a:r>
            <a:endParaRPr lang="en-US" sz="1200" dirty="0"/>
          </a:p>
        </p:txBody>
      </p:sp>
      <p:sp>
        <p:nvSpPr>
          <p:cNvPr id="26" name="Text 24"/>
          <p:cNvSpPr/>
          <p:nvPr/>
        </p:nvSpPr>
        <p:spPr>
          <a:xfrm>
            <a:off x="2697480" y="3922776"/>
            <a:ext cx="2487168" cy="256032"/>
          </a:xfrm>
          <a:prstGeom prst="rect">
            <a:avLst/>
          </a:prstGeom>
          <a:noFill/>
          <a:ln/>
        </p:spPr>
        <p:txBody>
          <a:bodyPr wrap="square" lIns="0" tIns="0" rIns="0" bIns="0" rtlCol="0" anchor="ctr">
            <a:normAutofit/>
          </a:bodyPr>
          <a:lstStyle/>
          <a:p>
            <a:pPr algn="l" indent="0" marL="0">
              <a:lnSpc>
                <a:spcPct val="100000"/>
              </a:lnSpc>
              <a:buNone/>
            </a:pPr>
            <a:r>
              <a:rPr lang="en-US" sz="1080" dirty="0">
                <a:solidFill>
                  <a:srgbClr val="627889"/>
                </a:solidFill>
                <a:latin typeface="Aptos" pitchFamily="34" charset="0"/>
                <a:ea typeface="Aptos" pitchFamily="34" charset="-122"/>
                <a:cs typeface="Aptos" pitchFamily="34" charset="-120"/>
              </a:rPr>
              <a:t>Valid dates, non-negative numbers</a:t>
            </a:r>
            <a:endParaRPr lang="en-US" sz="1080" dirty="0"/>
          </a:p>
        </p:txBody>
      </p:sp>
      <p:sp>
        <p:nvSpPr>
          <p:cNvPr id="27" name="Shape 25"/>
          <p:cNvSpPr/>
          <p:nvPr/>
        </p:nvSpPr>
        <p:spPr>
          <a:xfrm>
            <a:off x="877824" y="4416552"/>
            <a:ext cx="219456" cy="219456"/>
          </a:xfrm>
          <a:prstGeom prst="ellipse">
            <a:avLst/>
          </a:prstGeom>
          <a:solidFill>
            <a:srgbClr val="4074E8"/>
          </a:solidFill>
          <a:ln w="12700">
            <a:solidFill>
              <a:srgbClr val="4074E8">
                <a:alpha val="0"/>
              </a:srgbClr>
            </a:solidFill>
            <a:prstDash val="solid"/>
          </a:ln>
        </p:spPr>
      </p:sp>
      <p:sp>
        <p:nvSpPr>
          <p:cNvPr id="28" name="Text 26"/>
          <p:cNvSpPr/>
          <p:nvPr/>
        </p:nvSpPr>
        <p:spPr>
          <a:xfrm>
            <a:off x="905256" y="4418381"/>
            <a:ext cx="164592" cy="210312"/>
          </a:xfrm>
          <a:prstGeom prst="rect">
            <a:avLst/>
          </a:prstGeom>
          <a:noFill/>
          <a:ln/>
        </p:spPr>
        <p:txBody>
          <a:bodyPr wrap="square" lIns="0" tIns="0" rIns="0" bIns="0" rtlCol="0" anchor="ctr">
            <a:normAutofit/>
          </a:bodyPr>
          <a:lstStyle/>
          <a:p>
            <a:pPr algn="ctr" indent="0" marL="0">
              <a:lnSpc>
                <a:spcPct val="100000"/>
              </a:lnSpc>
              <a:buNone/>
            </a:pPr>
            <a:r>
              <a:rPr lang="en-US" sz="504" b="1" dirty="0">
                <a:solidFill>
                  <a:srgbClr val="FFFFFF"/>
                </a:solidFill>
                <a:latin typeface="Aptos" pitchFamily="34" charset="0"/>
                <a:ea typeface="Aptos" pitchFamily="34" charset="-122"/>
                <a:cs typeface="Aptos" pitchFamily="34" charset="-120"/>
              </a:rPr>
              <a:t>✓</a:t>
            </a:r>
            <a:endParaRPr lang="en-US" sz="504" dirty="0"/>
          </a:p>
        </p:txBody>
      </p:sp>
      <p:sp>
        <p:nvSpPr>
          <p:cNvPr id="29" name="Text 27"/>
          <p:cNvSpPr/>
          <p:nvPr/>
        </p:nvSpPr>
        <p:spPr>
          <a:xfrm>
            <a:off x="1197864" y="4370832"/>
            <a:ext cx="1453896"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44354"/>
                </a:solidFill>
                <a:latin typeface="Aptos" pitchFamily="34" charset="0"/>
                <a:ea typeface="Aptos" pitchFamily="34" charset="-122"/>
                <a:cs typeface="Aptos" pitchFamily="34" charset="-120"/>
              </a:rPr>
              <a:t>References</a:t>
            </a:r>
            <a:endParaRPr lang="en-US" sz="1200" dirty="0"/>
          </a:p>
        </p:txBody>
      </p:sp>
      <p:sp>
        <p:nvSpPr>
          <p:cNvPr id="30" name="Text 28"/>
          <p:cNvSpPr/>
          <p:nvPr/>
        </p:nvSpPr>
        <p:spPr>
          <a:xfrm>
            <a:off x="2697480" y="4370832"/>
            <a:ext cx="2487168" cy="256032"/>
          </a:xfrm>
          <a:prstGeom prst="rect">
            <a:avLst/>
          </a:prstGeom>
          <a:noFill/>
          <a:ln/>
        </p:spPr>
        <p:txBody>
          <a:bodyPr wrap="square" lIns="0" tIns="0" rIns="0" bIns="0" rtlCol="0" anchor="ctr">
            <a:normAutofit/>
          </a:bodyPr>
          <a:lstStyle/>
          <a:p>
            <a:pPr algn="l" indent="0" marL="0">
              <a:lnSpc>
                <a:spcPct val="100000"/>
              </a:lnSpc>
              <a:buNone/>
            </a:pPr>
            <a:r>
              <a:rPr lang="en-US" sz="1080" dirty="0">
                <a:solidFill>
                  <a:srgbClr val="627889"/>
                </a:solidFill>
                <a:latin typeface="Aptos" pitchFamily="34" charset="0"/>
                <a:ea typeface="Aptos" pitchFamily="34" charset="-122"/>
                <a:cs typeface="Aptos" pitchFamily="34" charset="-120"/>
              </a:rPr>
              <a:t>Known factories and products</a:t>
            </a:r>
            <a:endParaRPr lang="en-US" sz="1080" dirty="0"/>
          </a:p>
        </p:txBody>
      </p:sp>
      <p:sp>
        <p:nvSpPr>
          <p:cNvPr id="31" name="Shape 29"/>
          <p:cNvSpPr/>
          <p:nvPr/>
        </p:nvSpPr>
        <p:spPr>
          <a:xfrm>
            <a:off x="5801868" y="1904695"/>
            <a:ext cx="5806440" cy="1408176"/>
          </a:xfrm>
          <a:prstGeom prst="roundRect">
            <a:avLst>
              <a:gd name="adj" fmla="val 7792"/>
            </a:avLst>
          </a:prstGeom>
          <a:solidFill>
            <a:srgbClr val="DCE7EC">
              <a:alpha val="50000"/>
            </a:srgbClr>
          </a:solidFill>
          <a:ln w="12700">
            <a:solidFill>
              <a:srgbClr val="DCE7EC">
                <a:alpha val="0"/>
              </a:srgbClr>
            </a:solidFill>
            <a:prstDash val="solid"/>
          </a:ln>
        </p:spPr>
      </p:sp>
      <p:sp>
        <p:nvSpPr>
          <p:cNvPr id="32" name="Shape 30"/>
          <p:cNvSpPr/>
          <p:nvPr/>
        </p:nvSpPr>
        <p:spPr>
          <a:xfrm>
            <a:off x="5779008" y="1865376"/>
            <a:ext cx="5806440" cy="1408176"/>
          </a:xfrm>
          <a:prstGeom prst="roundRect">
            <a:avLst>
              <a:gd name="adj" fmla="val 7792"/>
            </a:avLst>
          </a:prstGeom>
          <a:solidFill>
            <a:srgbClr val="FFFFFF"/>
          </a:solidFill>
          <a:ln w="8890">
            <a:solidFill>
              <a:srgbClr val="DCE6ED"/>
            </a:solidFill>
            <a:prstDash val="solid"/>
          </a:ln>
        </p:spPr>
      </p:sp>
      <p:sp>
        <p:nvSpPr>
          <p:cNvPr id="33" name="Shape 31"/>
          <p:cNvSpPr/>
          <p:nvPr/>
        </p:nvSpPr>
        <p:spPr>
          <a:xfrm>
            <a:off x="5779008" y="1865376"/>
            <a:ext cx="5806440" cy="77724"/>
          </a:xfrm>
          <a:prstGeom prst="rect">
            <a:avLst>
              <a:gd name="adj" fmla="val 141176"/>
            </a:avLst>
          </a:prstGeom>
          <a:solidFill>
            <a:srgbClr val="168363"/>
          </a:solidFill>
          <a:ln w="12700">
            <a:solidFill>
              <a:srgbClr val="168363">
                <a:alpha val="0"/>
              </a:srgbClr>
            </a:solidFill>
            <a:prstDash val="solid"/>
          </a:ln>
        </p:spPr>
      </p:sp>
      <p:sp>
        <p:nvSpPr>
          <p:cNvPr id="34" name="Shape 32"/>
          <p:cNvSpPr/>
          <p:nvPr/>
        </p:nvSpPr>
        <p:spPr>
          <a:xfrm>
            <a:off x="6089904" y="2103120"/>
            <a:ext cx="1435608" cy="301752"/>
          </a:xfrm>
          <a:prstGeom prst="roundRect">
            <a:avLst>
              <a:gd name="adj" fmla="val 36364"/>
            </a:avLst>
          </a:prstGeom>
          <a:solidFill>
            <a:srgbClr val="E8F7F0"/>
          </a:solidFill>
          <a:ln w="12700">
            <a:solidFill>
              <a:srgbClr val="E8F7F0">
                <a:alpha val="0"/>
              </a:srgbClr>
            </a:solidFill>
            <a:prstDash val="solid"/>
          </a:ln>
        </p:spPr>
      </p:sp>
      <p:sp>
        <p:nvSpPr>
          <p:cNvPr id="35" name="Text 33"/>
          <p:cNvSpPr/>
          <p:nvPr/>
        </p:nvSpPr>
        <p:spPr>
          <a:xfrm>
            <a:off x="6199632" y="2112264"/>
            <a:ext cx="1216152" cy="283464"/>
          </a:xfrm>
          <a:prstGeom prst="rect">
            <a:avLst/>
          </a:prstGeom>
          <a:noFill/>
          <a:ln/>
        </p:spPr>
        <p:txBody>
          <a:bodyPr wrap="square" lIns="0" tIns="0" rIns="0" bIns="0" rtlCol="0" anchor="ctr">
            <a:normAutofit/>
          </a:bodyPr>
          <a:lstStyle/>
          <a:p>
            <a:pPr algn="ctr" indent="0" marL="0">
              <a:lnSpc>
                <a:spcPct val="100000"/>
              </a:lnSpc>
              <a:buNone/>
            </a:pPr>
            <a:r>
              <a:rPr lang="en-US" sz="920" b="1" dirty="0">
                <a:solidFill>
                  <a:srgbClr val="168363"/>
                </a:solidFill>
                <a:latin typeface="Aptos" pitchFamily="34" charset="0"/>
                <a:ea typeface="Aptos" pitchFamily="34" charset="-122"/>
                <a:cs typeface="Aptos" pitchFamily="34" charset="-120"/>
              </a:rPr>
              <a:t>CLEAN INPUT</a:t>
            </a:r>
            <a:endParaRPr lang="en-US" sz="920" dirty="0"/>
          </a:p>
        </p:txBody>
      </p:sp>
      <p:sp>
        <p:nvSpPr>
          <p:cNvPr id="36" name="Text 34"/>
          <p:cNvSpPr/>
          <p:nvPr/>
        </p:nvSpPr>
        <p:spPr>
          <a:xfrm>
            <a:off x="7772400" y="2176272"/>
            <a:ext cx="1883664" cy="466344"/>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168363"/>
                </a:solidFill>
                <a:latin typeface="Aptos" pitchFamily="34" charset="0"/>
                <a:ea typeface="Aptos" pitchFamily="34" charset="-122"/>
                <a:cs typeface="Aptos" pitchFamily="34" charset="-120"/>
              </a:rPr>
              <a:t>20 / 20</a:t>
            </a:r>
            <a:endParaRPr lang="en-US" sz="2800" dirty="0"/>
          </a:p>
        </p:txBody>
      </p:sp>
      <p:sp>
        <p:nvSpPr>
          <p:cNvPr id="37" name="Text 35"/>
          <p:cNvSpPr/>
          <p:nvPr/>
        </p:nvSpPr>
        <p:spPr>
          <a:xfrm>
            <a:off x="9747504" y="2304288"/>
            <a:ext cx="1408176" cy="237744"/>
          </a:xfrm>
          <a:prstGeom prst="rect">
            <a:avLst/>
          </a:prstGeom>
          <a:noFill/>
          <a:ln/>
        </p:spPr>
        <p:txBody>
          <a:bodyPr wrap="square" lIns="0" tIns="0" rIns="0" bIns="0" rtlCol="0" anchor="ctr">
            <a:normAutofit/>
          </a:bodyPr>
          <a:lstStyle/>
          <a:p>
            <a:pPr algn="l" indent="0" marL="0">
              <a:lnSpc>
                <a:spcPct val="100000"/>
              </a:lnSpc>
              <a:buNone/>
            </a:pPr>
            <a:r>
              <a:rPr lang="en-US" sz="1280" b="1" dirty="0">
                <a:solidFill>
                  <a:srgbClr val="244354"/>
                </a:solidFill>
                <a:latin typeface="Aptos" pitchFamily="34" charset="0"/>
                <a:ea typeface="Aptos" pitchFamily="34" charset="-122"/>
                <a:cs typeface="Aptos" pitchFamily="34" charset="-120"/>
              </a:rPr>
              <a:t>checks PASS</a:t>
            </a:r>
            <a:endParaRPr lang="en-US" sz="1280" dirty="0"/>
          </a:p>
        </p:txBody>
      </p:sp>
      <p:sp>
        <p:nvSpPr>
          <p:cNvPr id="38" name="Text 36"/>
          <p:cNvSpPr/>
          <p:nvPr/>
        </p:nvSpPr>
        <p:spPr>
          <a:xfrm>
            <a:off x="6099048" y="2843784"/>
            <a:ext cx="4873752" cy="201168"/>
          </a:xfrm>
          <a:prstGeom prst="rect">
            <a:avLst/>
          </a:prstGeom>
          <a:noFill/>
          <a:ln/>
        </p:spPr>
        <p:txBody>
          <a:bodyPr wrap="square" lIns="0" tIns="0" rIns="0" bIns="0" rtlCol="0" anchor="ctr">
            <a:normAutofit/>
          </a:bodyPr>
          <a:lstStyle/>
          <a:p>
            <a:pPr algn="l" indent="0" marL="0">
              <a:lnSpc>
                <a:spcPct val="100000"/>
              </a:lnSpc>
              <a:buNone/>
            </a:pPr>
            <a:r>
              <a:rPr lang="en-US" sz="1220" b="1" dirty="0">
                <a:solidFill>
                  <a:srgbClr val="168363"/>
                </a:solidFill>
                <a:latin typeface="Aptos" pitchFamily="34" charset="0"/>
                <a:ea typeface="Aptos" pitchFamily="34" charset="-122"/>
                <a:cs typeface="Aptos" pitchFamily="34" charset="-120"/>
              </a:rPr>
              <a:t>→ Eligible for warehouse refresh</a:t>
            </a:r>
            <a:endParaRPr lang="en-US" sz="1220" dirty="0"/>
          </a:p>
        </p:txBody>
      </p:sp>
      <p:sp>
        <p:nvSpPr>
          <p:cNvPr id="39" name="Shape 37"/>
          <p:cNvSpPr/>
          <p:nvPr/>
        </p:nvSpPr>
        <p:spPr>
          <a:xfrm>
            <a:off x="5801868" y="3550615"/>
            <a:ext cx="5806440" cy="1517904"/>
          </a:xfrm>
          <a:prstGeom prst="roundRect">
            <a:avLst>
              <a:gd name="adj" fmla="val 7229"/>
            </a:avLst>
          </a:prstGeom>
          <a:solidFill>
            <a:srgbClr val="DCE7EC">
              <a:alpha val="50000"/>
            </a:srgbClr>
          </a:solidFill>
          <a:ln w="12700">
            <a:solidFill>
              <a:srgbClr val="DCE7EC">
                <a:alpha val="0"/>
              </a:srgbClr>
            </a:solidFill>
            <a:prstDash val="solid"/>
          </a:ln>
        </p:spPr>
      </p:sp>
      <p:sp>
        <p:nvSpPr>
          <p:cNvPr id="40" name="Shape 38"/>
          <p:cNvSpPr/>
          <p:nvPr/>
        </p:nvSpPr>
        <p:spPr>
          <a:xfrm>
            <a:off x="5779008" y="3511296"/>
            <a:ext cx="5806440" cy="1517904"/>
          </a:xfrm>
          <a:prstGeom prst="roundRect">
            <a:avLst>
              <a:gd name="adj" fmla="val 7229"/>
            </a:avLst>
          </a:prstGeom>
          <a:solidFill>
            <a:srgbClr val="FFFFFF"/>
          </a:solidFill>
          <a:ln w="8890">
            <a:solidFill>
              <a:srgbClr val="DCE6ED"/>
            </a:solidFill>
            <a:prstDash val="solid"/>
          </a:ln>
        </p:spPr>
      </p:sp>
      <p:sp>
        <p:nvSpPr>
          <p:cNvPr id="41" name="Shape 39"/>
          <p:cNvSpPr/>
          <p:nvPr/>
        </p:nvSpPr>
        <p:spPr>
          <a:xfrm>
            <a:off x="5779008" y="3511296"/>
            <a:ext cx="5806440" cy="77724"/>
          </a:xfrm>
          <a:prstGeom prst="rect">
            <a:avLst>
              <a:gd name="adj" fmla="val 141176"/>
            </a:avLst>
          </a:prstGeom>
          <a:solidFill>
            <a:srgbClr val="C84C52"/>
          </a:solidFill>
          <a:ln w="12700">
            <a:solidFill>
              <a:srgbClr val="C84C52">
                <a:alpha val="0"/>
              </a:srgbClr>
            </a:solidFill>
            <a:prstDash val="solid"/>
          </a:ln>
        </p:spPr>
      </p:sp>
      <p:sp>
        <p:nvSpPr>
          <p:cNvPr id="42" name="Shape 40"/>
          <p:cNvSpPr/>
          <p:nvPr/>
        </p:nvSpPr>
        <p:spPr>
          <a:xfrm>
            <a:off x="6089904" y="3749040"/>
            <a:ext cx="1892808" cy="301752"/>
          </a:xfrm>
          <a:prstGeom prst="roundRect">
            <a:avLst>
              <a:gd name="adj" fmla="val 36364"/>
            </a:avLst>
          </a:prstGeom>
          <a:solidFill>
            <a:srgbClr val="FBECEF"/>
          </a:solidFill>
          <a:ln w="12700">
            <a:solidFill>
              <a:srgbClr val="FBECEF">
                <a:alpha val="0"/>
              </a:srgbClr>
            </a:solidFill>
            <a:prstDash val="solid"/>
          </a:ln>
        </p:spPr>
      </p:sp>
      <p:sp>
        <p:nvSpPr>
          <p:cNvPr id="43" name="Text 41"/>
          <p:cNvSpPr/>
          <p:nvPr/>
        </p:nvSpPr>
        <p:spPr>
          <a:xfrm>
            <a:off x="6199632" y="3758184"/>
            <a:ext cx="1673352" cy="28346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C84C52"/>
                </a:solidFill>
                <a:latin typeface="Aptos" pitchFamily="34" charset="0"/>
                <a:ea typeface="Aptos" pitchFamily="34" charset="-122"/>
                <a:cs typeface="Aptos" pitchFamily="34" charset="-120"/>
              </a:rPr>
              <a:t>INJECTED ISSUES</a:t>
            </a:r>
            <a:endParaRPr lang="en-US" sz="900" dirty="0"/>
          </a:p>
        </p:txBody>
      </p:sp>
      <p:sp>
        <p:nvSpPr>
          <p:cNvPr id="44" name="Text 42"/>
          <p:cNvSpPr/>
          <p:nvPr/>
        </p:nvSpPr>
        <p:spPr>
          <a:xfrm>
            <a:off x="8247888" y="3794760"/>
            <a:ext cx="1618488" cy="420624"/>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C84C52"/>
                </a:solidFill>
                <a:latin typeface="Aptos" pitchFamily="34" charset="0"/>
                <a:ea typeface="Aptos" pitchFamily="34" charset="-122"/>
                <a:cs typeface="Aptos" pitchFamily="34" charset="-120"/>
              </a:rPr>
              <a:t>4 FAIL</a:t>
            </a:r>
            <a:endParaRPr lang="en-US" sz="2600" dirty="0"/>
          </a:p>
        </p:txBody>
      </p:sp>
      <p:sp>
        <p:nvSpPr>
          <p:cNvPr id="45" name="Text 43"/>
          <p:cNvSpPr/>
          <p:nvPr/>
        </p:nvSpPr>
        <p:spPr>
          <a:xfrm>
            <a:off x="9656064" y="3922776"/>
            <a:ext cx="1627632" cy="219456"/>
          </a:xfrm>
          <a:prstGeom prst="rect">
            <a:avLst/>
          </a:prstGeom>
          <a:noFill/>
          <a:ln/>
        </p:spPr>
        <p:txBody>
          <a:bodyPr wrap="square" lIns="0" tIns="0" rIns="0" bIns="0" rtlCol="0" anchor="ctr">
            <a:normAutofit/>
          </a:bodyPr>
          <a:lstStyle/>
          <a:p>
            <a:pPr algn="r" indent="0" marL="0">
              <a:lnSpc>
                <a:spcPct val="100000"/>
              </a:lnSpc>
              <a:buNone/>
            </a:pPr>
            <a:r>
              <a:rPr lang="en-US" sz="1130" b="1" dirty="0">
                <a:solidFill>
                  <a:srgbClr val="627889"/>
                </a:solidFill>
                <a:latin typeface="Aptos" pitchFamily="34" charset="0"/>
                <a:ea typeface="Aptos" pitchFamily="34" charset="-122"/>
                <a:cs typeface="Aptos" pitchFamily="34" charset="-120"/>
              </a:rPr>
              <a:t>5 flagged rows</a:t>
            </a:r>
            <a:endParaRPr lang="en-US" sz="1130" dirty="0"/>
          </a:p>
        </p:txBody>
      </p:sp>
      <p:sp>
        <p:nvSpPr>
          <p:cNvPr id="46" name="Text 44"/>
          <p:cNvSpPr/>
          <p:nvPr/>
        </p:nvSpPr>
        <p:spPr>
          <a:xfrm>
            <a:off x="6089904" y="4361688"/>
            <a:ext cx="5212080" cy="265176"/>
          </a:xfrm>
          <a:prstGeom prst="rect">
            <a:avLst/>
          </a:prstGeom>
          <a:noFill/>
          <a:ln/>
        </p:spPr>
        <p:txBody>
          <a:bodyPr wrap="square" lIns="0" tIns="0" rIns="0" bIns="0" rtlCol="0" anchor="ctr">
            <a:normAutofit/>
          </a:bodyPr>
          <a:lstStyle/>
          <a:p>
            <a:pPr algn="l" indent="0" marL="0">
              <a:lnSpc>
                <a:spcPct val="100000"/>
              </a:lnSpc>
              <a:buNone/>
            </a:pPr>
            <a:r>
              <a:rPr lang="en-US" sz="1210" dirty="0">
                <a:solidFill>
                  <a:srgbClr val="244354"/>
                </a:solidFill>
                <a:latin typeface="Aptos" pitchFamily="34" charset="0"/>
                <a:ea typeface="Aptos" pitchFamily="34" charset="-122"/>
                <a:cs typeface="Aptos" pitchFamily="34" charset="-120"/>
              </a:rPr>
              <a:t>Null plant  ·  Duplicate key  ·  Negative qty  ·  Unknown SKU</a:t>
            </a:r>
            <a:endParaRPr lang="en-US" sz="1210" dirty="0"/>
          </a:p>
        </p:txBody>
      </p:sp>
      <p:sp>
        <p:nvSpPr>
          <p:cNvPr id="47" name="Text 45"/>
          <p:cNvSpPr/>
          <p:nvPr/>
        </p:nvSpPr>
        <p:spPr>
          <a:xfrm>
            <a:off x="6099048" y="4727448"/>
            <a:ext cx="5102352" cy="201168"/>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C84C52"/>
                </a:solidFill>
                <a:latin typeface="Aptos" pitchFamily="34" charset="0"/>
                <a:ea typeface="Aptos" pitchFamily="34" charset="-122"/>
                <a:cs typeface="Aptos" pitchFamily="34" charset="-120"/>
              </a:rPr>
              <a:t>→ Block refresh; keep last validated dashboard</a:t>
            </a:r>
            <a:endParaRPr lang="en-US" sz="1200" dirty="0"/>
          </a:p>
        </p:txBody>
      </p:sp>
      <p:sp>
        <p:nvSpPr>
          <p:cNvPr id="48" name="Shape 46"/>
          <p:cNvSpPr/>
          <p:nvPr/>
        </p:nvSpPr>
        <p:spPr>
          <a:xfrm>
            <a:off x="621792" y="5385816"/>
            <a:ext cx="10936224" cy="640080"/>
          </a:xfrm>
          <a:prstGeom prst="roundRect">
            <a:avLst>
              <a:gd name="adj" fmla="val 17143"/>
            </a:avLst>
          </a:prstGeom>
          <a:solidFill>
            <a:srgbClr val="102738"/>
          </a:solidFill>
          <a:ln w="12700">
            <a:solidFill>
              <a:srgbClr val="102738">
                <a:alpha val="0"/>
              </a:srgbClr>
            </a:solidFill>
            <a:prstDash val="solid"/>
          </a:ln>
        </p:spPr>
      </p:sp>
      <p:sp>
        <p:nvSpPr>
          <p:cNvPr id="49" name="Text 47"/>
          <p:cNvSpPr/>
          <p:nvPr/>
        </p:nvSpPr>
        <p:spPr>
          <a:xfrm>
            <a:off x="905256" y="5577840"/>
            <a:ext cx="1271016" cy="173736"/>
          </a:xfrm>
          <a:prstGeom prst="rect">
            <a:avLst/>
          </a:prstGeom>
          <a:noFill/>
          <a:ln/>
        </p:spPr>
        <p:txBody>
          <a:bodyPr wrap="square" lIns="0" tIns="0" rIns="0" bIns="0" rtlCol="0" anchor="ctr">
            <a:normAutofit/>
          </a:bodyPr>
          <a:lstStyle/>
          <a:p>
            <a:pPr algn="l" indent="0" marL="0">
              <a:lnSpc>
                <a:spcPct val="100000"/>
              </a:lnSpc>
              <a:buNone/>
            </a:pPr>
            <a:r>
              <a:rPr lang="en-US" sz="970" b="1" spc="100" kern="0" dirty="0">
                <a:solidFill>
                  <a:srgbClr val="17B8B3"/>
                </a:solidFill>
                <a:latin typeface="Aptos" pitchFamily="34" charset="0"/>
                <a:ea typeface="Aptos" pitchFamily="34" charset="-122"/>
                <a:cs typeface="Aptos" pitchFamily="34" charset="-120"/>
              </a:rPr>
              <a:t>DEMO DETAIL</a:t>
            </a:r>
            <a:endParaRPr lang="en-US" sz="970" dirty="0"/>
          </a:p>
        </p:txBody>
      </p:sp>
      <p:sp>
        <p:nvSpPr>
          <p:cNvPr id="50" name="Text 48"/>
          <p:cNvSpPr/>
          <p:nvPr/>
        </p:nvSpPr>
        <p:spPr>
          <a:xfrm>
            <a:off x="2313432" y="5522976"/>
            <a:ext cx="8979408" cy="301752"/>
          </a:xfrm>
          <a:prstGeom prst="rect">
            <a:avLst/>
          </a:prstGeom>
          <a:noFill/>
          <a:ln/>
        </p:spPr>
        <p:txBody>
          <a:bodyPr wrap="square" lIns="0" tIns="0" rIns="0" bIns="0" rtlCol="0" anchor="ctr">
            <a:normAutofit/>
          </a:bodyPr>
          <a:lstStyle/>
          <a:p>
            <a:pPr algn="l" indent="0" marL="0">
              <a:lnSpc>
                <a:spcPct val="100000"/>
              </a:lnSpc>
              <a:buNone/>
            </a:pPr>
            <a:r>
              <a:rPr lang="en-US" sz="1310" b="1" dirty="0">
                <a:solidFill>
                  <a:srgbClr val="FFFFFF"/>
                </a:solidFill>
                <a:latin typeface="Aptos" pitchFamily="34" charset="0"/>
                <a:ea typeface="Aptos" pitchFamily="34" charset="-122"/>
                <a:cs typeface="Aptos" pitchFamily="34" charset="-120"/>
              </a:rPr>
              <a:t>Injected errors live only in memory; the real build rejects failing sources before warehouse writes.</a:t>
            </a:r>
            <a:endParaRPr lang="en-US" sz="13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gd name="adj" fmla="val 160000"/>
            </a:avLst>
          </a:prstGeom>
          <a:solidFill>
            <a:srgbClr val="102738"/>
          </a:solidFill>
          <a:ln w="12700">
            <a:solidFill>
              <a:srgbClr val="102738">
                <a:alpha val="0"/>
              </a:srgbClr>
            </a:solidFill>
            <a:prstDash val="solid"/>
          </a:ln>
        </p:spPr>
      </p:sp>
      <p:sp>
        <p:nvSpPr>
          <p:cNvPr id="3" name="Shape 1"/>
          <p:cNvSpPr/>
          <p:nvPr/>
        </p:nvSpPr>
        <p:spPr>
          <a:xfrm>
            <a:off x="0" y="0"/>
            <a:ext cx="9482430" cy="68580"/>
          </a:xfrm>
          <a:prstGeom prst="rect">
            <a:avLst>
              <a:gd name="adj" fmla="val 160000"/>
            </a:avLst>
          </a:prstGeom>
          <a:solidFill>
            <a:srgbClr val="17B8B3"/>
          </a:solidFill>
          <a:ln w="12700">
            <a:solidFill>
              <a:srgbClr val="17B8B3">
                <a:alpha val="0"/>
              </a:srgbClr>
            </a:solidFill>
            <a:prstDash val="solid"/>
          </a:ln>
        </p:spPr>
      </p:sp>
      <p:sp>
        <p:nvSpPr>
          <p:cNvPr id="4" name="Text 2"/>
          <p:cNvSpPr/>
          <p:nvPr/>
        </p:nvSpPr>
        <p:spPr>
          <a:xfrm>
            <a:off x="585216" y="256032"/>
            <a:ext cx="8686800" cy="219456"/>
          </a:xfrm>
          <a:prstGeom prst="rect">
            <a:avLst/>
          </a:prstGeom>
          <a:noFill/>
          <a:ln/>
        </p:spPr>
        <p:txBody>
          <a:bodyPr wrap="square" lIns="0" tIns="0" rIns="0" bIns="0" rtlCol="0" anchor="ctr">
            <a:normAutofit/>
          </a:bodyPr>
          <a:lstStyle/>
          <a:p>
            <a:pPr algn="l" indent="0" marL="0">
              <a:lnSpc>
                <a:spcPct val="100000"/>
              </a:lnSpc>
              <a:buNone/>
            </a:pPr>
            <a:r>
              <a:rPr lang="en-US" sz="910" b="1" spc="120" kern="0" dirty="0">
                <a:solidFill>
                  <a:srgbClr val="627889"/>
                </a:solidFill>
                <a:latin typeface="Aptos" pitchFamily="34" charset="0"/>
                <a:ea typeface="Aptos" pitchFamily="34" charset="-122"/>
                <a:cs typeface="Aptos" pitchFamily="34" charset="-120"/>
              </a:rPr>
              <a:t>GLASSOPS 360  /  ERP CHANGE ASSESSMENT</a:t>
            </a:r>
            <a:endParaRPr lang="en-US" sz="910" dirty="0"/>
          </a:p>
        </p:txBody>
      </p:sp>
      <p:sp>
        <p:nvSpPr>
          <p:cNvPr id="5" name="Text 3"/>
          <p:cNvSpPr/>
          <p:nvPr/>
        </p:nvSpPr>
        <p:spPr>
          <a:xfrm>
            <a:off x="594360" y="658368"/>
            <a:ext cx="10607040" cy="493776"/>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02738"/>
                </a:solidFill>
                <a:latin typeface="Aptos" pitchFamily="34" charset="0"/>
                <a:ea typeface="Aptos" pitchFamily="34" charset="-122"/>
                <a:cs typeface="Aptos" pitchFamily="34" charset="-120"/>
              </a:rPr>
              <a:t>SAP upgrade: detect, normalize, reconcile</a:t>
            </a:r>
            <a:endParaRPr lang="en-US" sz="3000" dirty="0"/>
          </a:p>
        </p:txBody>
      </p:sp>
      <p:sp>
        <p:nvSpPr>
          <p:cNvPr id="6" name="Text 4"/>
          <p:cNvSpPr/>
          <p:nvPr/>
        </p:nvSpPr>
        <p:spPr>
          <a:xfrm>
            <a:off x="603504" y="1225296"/>
            <a:ext cx="10927080" cy="329184"/>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627889"/>
                </a:solidFill>
                <a:latin typeface="Aptos" pitchFamily="34" charset="0"/>
                <a:ea typeface="Aptos" pitchFamily="34" charset="-122"/>
                <a:cs typeface="Aptos" pitchFamily="34" charset="-120"/>
              </a:rPr>
              <a:t>A schema rename and kg-to-ton change should not change the business totals.</a:t>
            </a:r>
            <a:endParaRPr lang="en-US" sz="1350" dirty="0"/>
          </a:p>
        </p:txBody>
      </p:sp>
      <p:sp>
        <p:nvSpPr>
          <p:cNvPr id="7" name="Shape 5"/>
          <p:cNvSpPr/>
          <p:nvPr/>
        </p:nvSpPr>
        <p:spPr>
          <a:xfrm>
            <a:off x="594360" y="6382512"/>
            <a:ext cx="11018520" cy="0"/>
          </a:xfrm>
          <a:prstGeom prst="line">
            <a:avLst/>
          </a:prstGeom>
          <a:noFill/>
          <a:ln w="11430">
            <a:solidFill>
              <a:srgbClr val="DCE6ED"/>
            </a:solidFill>
            <a:prstDash val="solid"/>
          </a:ln>
        </p:spPr>
      </p:sp>
      <p:sp>
        <p:nvSpPr>
          <p:cNvPr id="8" name="Text 6"/>
          <p:cNvSpPr/>
          <p:nvPr/>
        </p:nvSpPr>
        <p:spPr>
          <a:xfrm>
            <a:off x="594360" y="6492240"/>
            <a:ext cx="9784080" cy="164592"/>
          </a:xfrm>
          <a:prstGeom prst="rect">
            <a:avLst/>
          </a:prstGeom>
          <a:noFill/>
          <a:ln/>
        </p:spPr>
        <p:txBody>
          <a:bodyPr wrap="square" lIns="0" tIns="0" rIns="0" bIns="0" rtlCol="0" anchor="ctr">
            <a:normAutofit/>
          </a:bodyPr>
          <a:lstStyle/>
          <a:p>
            <a:pPr algn="l" indent="0" marL="0">
              <a:lnSpc>
                <a:spcPct val="100000"/>
              </a:lnSpc>
              <a:buNone/>
            </a:pPr>
            <a:r>
              <a:rPr lang="en-US" sz="830" dirty="0">
                <a:solidFill>
                  <a:srgbClr val="8DA1AE"/>
                </a:solidFill>
                <a:latin typeface="Aptos" pitchFamily="34" charset="0"/>
                <a:ea typeface="Aptos" pitchFamily="34" charset="-122"/>
                <a:cs typeface="Aptos" pitchFamily="34" charset="-120"/>
              </a:rPr>
              <a:t>SYNTHETIC PORTFOLIO DEMO  ·  NOT A REAL COMPANY OR SAP SYSTEM</a:t>
            </a:r>
            <a:endParaRPr lang="en-US" sz="830" dirty="0"/>
          </a:p>
        </p:txBody>
      </p:sp>
      <p:sp>
        <p:nvSpPr>
          <p:cNvPr id="9" name="Text 7"/>
          <p:cNvSpPr/>
          <p:nvPr/>
        </p:nvSpPr>
        <p:spPr>
          <a:xfrm>
            <a:off x="10652760" y="6473952"/>
            <a:ext cx="914400" cy="201168"/>
          </a:xfrm>
          <a:prstGeom prst="rect">
            <a:avLst/>
          </a:prstGeom>
          <a:noFill/>
          <a:ln/>
        </p:spPr>
        <p:txBody>
          <a:bodyPr wrap="square" lIns="0" tIns="0" rIns="0" bIns="0" rtlCol="0" anchor="ctr">
            <a:normAutofit/>
          </a:bodyPr>
          <a:lstStyle/>
          <a:p>
            <a:pPr algn="r" indent="0" marL="0">
              <a:lnSpc>
                <a:spcPct val="100000"/>
              </a:lnSpc>
              <a:buNone/>
            </a:pPr>
            <a:r>
              <a:rPr lang="en-US" sz="910" b="1" dirty="0">
                <a:solidFill>
                  <a:srgbClr val="627889"/>
                </a:solidFill>
                <a:latin typeface="Aptos" pitchFamily="34" charset="0"/>
                <a:ea typeface="Aptos" pitchFamily="34" charset="-122"/>
                <a:cs typeface="Aptos" pitchFamily="34" charset="-120"/>
              </a:rPr>
              <a:t>07 / 09</a:t>
            </a:r>
            <a:endParaRPr lang="en-US" sz="910" dirty="0"/>
          </a:p>
        </p:txBody>
      </p:sp>
      <p:sp>
        <p:nvSpPr>
          <p:cNvPr id="10" name="Shape 8"/>
          <p:cNvSpPr/>
          <p:nvPr/>
        </p:nvSpPr>
        <p:spPr>
          <a:xfrm>
            <a:off x="626364" y="1904695"/>
            <a:ext cx="3675888" cy="2203704"/>
          </a:xfrm>
          <a:prstGeom prst="roundRect">
            <a:avLst>
              <a:gd name="adj" fmla="val 4979"/>
            </a:avLst>
          </a:prstGeom>
          <a:solidFill>
            <a:srgbClr val="DCE7EC">
              <a:alpha val="50000"/>
            </a:srgbClr>
          </a:solidFill>
          <a:ln w="12700">
            <a:solidFill>
              <a:srgbClr val="DCE7EC">
                <a:alpha val="0"/>
              </a:srgbClr>
            </a:solidFill>
            <a:prstDash val="solid"/>
          </a:ln>
        </p:spPr>
      </p:sp>
      <p:sp>
        <p:nvSpPr>
          <p:cNvPr id="11" name="Shape 9"/>
          <p:cNvSpPr/>
          <p:nvPr/>
        </p:nvSpPr>
        <p:spPr>
          <a:xfrm>
            <a:off x="603504" y="1865376"/>
            <a:ext cx="3675888" cy="2203704"/>
          </a:xfrm>
          <a:prstGeom prst="roundRect">
            <a:avLst>
              <a:gd name="adj" fmla="val 4979"/>
            </a:avLst>
          </a:prstGeom>
          <a:solidFill>
            <a:srgbClr val="FFFFFF"/>
          </a:solidFill>
          <a:ln w="8890">
            <a:solidFill>
              <a:srgbClr val="DCE6ED"/>
            </a:solidFill>
            <a:prstDash val="solid"/>
          </a:ln>
        </p:spPr>
      </p:sp>
      <p:sp>
        <p:nvSpPr>
          <p:cNvPr id="12" name="Shape 10"/>
          <p:cNvSpPr/>
          <p:nvPr/>
        </p:nvSpPr>
        <p:spPr>
          <a:xfrm>
            <a:off x="603504" y="1865376"/>
            <a:ext cx="3675888" cy="77724"/>
          </a:xfrm>
          <a:prstGeom prst="rect">
            <a:avLst>
              <a:gd name="adj" fmla="val 141176"/>
            </a:avLst>
          </a:prstGeom>
          <a:solidFill>
            <a:srgbClr val="4074E8"/>
          </a:solidFill>
          <a:ln w="12700">
            <a:solidFill>
              <a:srgbClr val="4074E8">
                <a:alpha val="0"/>
              </a:srgbClr>
            </a:solidFill>
            <a:prstDash val="solid"/>
          </a:ln>
        </p:spPr>
      </p:sp>
      <p:sp>
        <p:nvSpPr>
          <p:cNvPr id="13" name="Text 11"/>
          <p:cNvSpPr/>
          <p:nvPr/>
        </p:nvSpPr>
        <p:spPr>
          <a:xfrm>
            <a:off x="886968" y="2121408"/>
            <a:ext cx="2468880" cy="219456"/>
          </a:xfrm>
          <a:prstGeom prst="rect">
            <a:avLst/>
          </a:prstGeom>
          <a:noFill/>
          <a:ln/>
        </p:spPr>
        <p:txBody>
          <a:bodyPr wrap="square" lIns="0" tIns="0" rIns="0" bIns="0" rtlCol="0" anchor="ctr">
            <a:normAutofit/>
          </a:bodyPr>
          <a:lstStyle/>
          <a:p>
            <a:pPr algn="l" indent="0" marL="0">
              <a:lnSpc>
                <a:spcPct val="100000"/>
              </a:lnSpc>
              <a:buNone/>
            </a:pPr>
            <a:r>
              <a:rPr lang="en-US" sz="1000" b="1" spc="145" kern="0" dirty="0">
                <a:solidFill>
                  <a:srgbClr val="4074E8"/>
                </a:solidFill>
                <a:latin typeface="Aptos" pitchFamily="34" charset="0"/>
                <a:ea typeface="Aptos" pitchFamily="34" charset="-122"/>
                <a:cs typeface="Aptos" pitchFamily="34" charset="-120"/>
              </a:rPr>
              <a:t>BEFORE  /  SAP V1</a:t>
            </a:r>
            <a:endParaRPr lang="en-US" sz="1000" dirty="0"/>
          </a:p>
        </p:txBody>
      </p:sp>
      <p:sp>
        <p:nvSpPr>
          <p:cNvPr id="14" name="Text 12"/>
          <p:cNvSpPr/>
          <p:nvPr/>
        </p:nvSpPr>
        <p:spPr>
          <a:xfrm>
            <a:off x="886968" y="2596896"/>
            <a:ext cx="2944368" cy="310896"/>
          </a:xfrm>
          <a:prstGeom prst="rect">
            <a:avLst/>
          </a:prstGeom>
          <a:noFill/>
          <a:ln/>
        </p:spPr>
        <p:txBody>
          <a:bodyPr wrap="square" lIns="0" tIns="0" rIns="0" bIns="0" rtlCol="0" anchor="ctr">
            <a:normAutofit/>
          </a:bodyPr>
          <a:lstStyle/>
          <a:p>
            <a:pPr algn="l" indent="0" marL="0">
              <a:lnSpc>
                <a:spcPct val="100000"/>
              </a:lnSpc>
              <a:buNone/>
            </a:pPr>
            <a:r>
              <a:rPr lang="en-US" sz="1930" b="1" dirty="0">
                <a:solidFill>
                  <a:srgbClr val="102738"/>
                </a:solidFill>
                <a:latin typeface="Aptos" pitchFamily="34" charset="0"/>
                <a:ea typeface="Aptos" pitchFamily="34" charset="-122"/>
                <a:cs typeface="Aptos" pitchFamily="34" charset="-120"/>
              </a:rPr>
              <a:t>material_code</a:t>
            </a:r>
            <a:endParaRPr lang="en-US" sz="1930" dirty="0"/>
          </a:p>
        </p:txBody>
      </p:sp>
      <p:sp>
        <p:nvSpPr>
          <p:cNvPr id="15" name="Text 13"/>
          <p:cNvSpPr/>
          <p:nvPr/>
        </p:nvSpPr>
        <p:spPr>
          <a:xfrm>
            <a:off x="886968" y="3026664"/>
            <a:ext cx="3026664" cy="310896"/>
          </a:xfrm>
          <a:prstGeom prst="rect">
            <a:avLst/>
          </a:prstGeom>
          <a:noFill/>
          <a:ln/>
        </p:spPr>
        <p:txBody>
          <a:bodyPr wrap="square" lIns="0" tIns="0" rIns="0" bIns="0" rtlCol="0" anchor="ctr">
            <a:normAutofit/>
          </a:bodyPr>
          <a:lstStyle/>
          <a:p>
            <a:pPr algn="l" indent="0" marL="0">
              <a:lnSpc>
                <a:spcPct val="100000"/>
              </a:lnSpc>
              <a:buNone/>
            </a:pPr>
            <a:r>
              <a:rPr lang="en-US" sz="1860" b="1" dirty="0">
                <a:solidFill>
                  <a:srgbClr val="102738"/>
                </a:solidFill>
                <a:latin typeface="Aptos" pitchFamily="34" charset="0"/>
                <a:ea typeface="Aptos" pitchFamily="34" charset="-122"/>
                <a:cs typeface="Aptos" pitchFamily="34" charset="-120"/>
              </a:rPr>
              <a:t>planned_qty_kg</a:t>
            </a:r>
            <a:endParaRPr lang="en-US" sz="1860" dirty="0"/>
          </a:p>
        </p:txBody>
      </p:sp>
      <p:sp>
        <p:nvSpPr>
          <p:cNvPr id="16" name="Shape 14"/>
          <p:cNvSpPr/>
          <p:nvPr/>
        </p:nvSpPr>
        <p:spPr>
          <a:xfrm>
            <a:off x="886968" y="3511296"/>
            <a:ext cx="1554480" cy="320040"/>
          </a:xfrm>
          <a:prstGeom prst="roundRect">
            <a:avLst>
              <a:gd name="adj" fmla="val 34286"/>
            </a:avLst>
          </a:prstGeom>
          <a:solidFill>
            <a:srgbClr val="EAF1FE"/>
          </a:solidFill>
          <a:ln w="12700">
            <a:solidFill>
              <a:srgbClr val="EAF1FE">
                <a:alpha val="0"/>
              </a:srgbClr>
            </a:solidFill>
            <a:prstDash val="solid"/>
          </a:ln>
        </p:spPr>
      </p:sp>
      <p:sp>
        <p:nvSpPr>
          <p:cNvPr id="17" name="Text 15"/>
          <p:cNvSpPr/>
          <p:nvPr/>
        </p:nvSpPr>
        <p:spPr>
          <a:xfrm>
            <a:off x="996696" y="3520440"/>
            <a:ext cx="1335024" cy="301752"/>
          </a:xfrm>
          <a:prstGeom prst="rect">
            <a:avLst/>
          </a:prstGeom>
          <a:noFill/>
          <a:ln/>
        </p:spPr>
        <p:txBody>
          <a:bodyPr wrap="square" lIns="0" tIns="0" rIns="0" bIns="0" rtlCol="0" anchor="ctr">
            <a:normAutofit/>
          </a:bodyPr>
          <a:lstStyle/>
          <a:p>
            <a:pPr algn="ctr" indent="0" marL="0">
              <a:lnSpc>
                <a:spcPct val="100000"/>
              </a:lnSpc>
              <a:buNone/>
            </a:pPr>
            <a:r>
              <a:rPr lang="en-US" sz="1230" b="1" dirty="0">
                <a:solidFill>
                  <a:srgbClr val="4074E8"/>
                </a:solidFill>
                <a:latin typeface="Aptos" pitchFamily="34" charset="0"/>
                <a:ea typeface="Aptos" pitchFamily="34" charset="-122"/>
                <a:cs typeface="Aptos" pitchFamily="34" charset="-120"/>
              </a:rPr>
              <a:t>150,000 kg</a:t>
            </a:r>
            <a:endParaRPr lang="en-US" sz="1230" dirty="0"/>
          </a:p>
        </p:txBody>
      </p:sp>
      <p:sp>
        <p:nvSpPr>
          <p:cNvPr id="18" name="Shape 16"/>
          <p:cNvSpPr/>
          <p:nvPr/>
        </p:nvSpPr>
        <p:spPr>
          <a:xfrm>
            <a:off x="7932420" y="1904695"/>
            <a:ext cx="3675888" cy="2203704"/>
          </a:xfrm>
          <a:prstGeom prst="roundRect">
            <a:avLst>
              <a:gd name="adj" fmla="val 4979"/>
            </a:avLst>
          </a:prstGeom>
          <a:solidFill>
            <a:srgbClr val="DCE7EC">
              <a:alpha val="50000"/>
            </a:srgbClr>
          </a:solidFill>
          <a:ln w="12700">
            <a:solidFill>
              <a:srgbClr val="DCE7EC">
                <a:alpha val="0"/>
              </a:srgbClr>
            </a:solidFill>
            <a:prstDash val="solid"/>
          </a:ln>
        </p:spPr>
      </p:sp>
      <p:sp>
        <p:nvSpPr>
          <p:cNvPr id="19" name="Shape 17"/>
          <p:cNvSpPr/>
          <p:nvPr/>
        </p:nvSpPr>
        <p:spPr>
          <a:xfrm>
            <a:off x="7909560" y="1865376"/>
            <a:ext cx="3675888" cy="2203704"/>
          </a:xfrm>
          <a:prstGeom prst="roundRect">
            <a:avLst>
              <a:gd name="adj" fmla="val 4979"/>
            </a:avLst>
          </a:prstGeom>
          <a:solidFill>
            <a:srgbClr val="FFFFFF"/>
          </a:solidFill>
          <a:ln w="8890">
            <a:solidFill>
              <a:srgbClr val="DCE6ED"/>
            </a:solidFill>
            <a:prstDash val="solid"/>
          </a:ln>
        </p:spPr>
      </p:sp>
      <p:sp>
        <p:nvSpPr>
          <p:cNvPr id="20" name="Shape 18"/>
          <p:cNvSpPr/>
          <p:nvPr/>
        </p:nvSpPr>
        <p:spPr>
          <a:xfrm>
            <a:off x="7909560" y="1865376"/>
            <a:ext cx="3675888" cy="77724"/>
          </a:xfrm>
          <a:prstGeom prst="rect">
            <a:avLst>
              <a:gd name="adj" fmla="val 141176"/>
            </a:avLst>
          </a:prstGeom>
          <a:solidFill>
            <a:srgbClr val="E7A03E"/>
          </a:solidFill>
          <a:ln w="12700">
            <a:solidFill>
              <a:srgbClr val="E7A03E">
                <a:alpha val="0"/>
              </a:srgbClr>
            </a:solidFill>
            <a:prstDash val="solid"/>
          </a:ln>
        </p:spPr>
      </p:sp>
      <p:sp>
        <p:nvSpPr>
          <p:cNvPr id="21" name="Text 19"/>
          <p:cNvSpPr/>
          <p:nvPr/>
        </p:nvSpPr>
        <p:spPr>
          <a:xfrm>
            <a:off x="8193024" y="2121408"/>
            <a:ext cx="2478024" cy="219456"/>
          </a:xfrm>
          <a:prstGeom prst="rect">
            <a:avLst/>
          </a:prstGeom>
          <a:noFill/>
          <a:ln/>
        </p:spPr>
        <p:txBody>
          <a:bodyPr wrap="square" lIns="0" tIns="0" rIns="0" bIns="0" rtlCol="0" anchor="ctr">
            <a:normAutofit/>
          </a:bodyPr>
          <a:lstStyle/>
          <a:p>
            <a:pPr algn="l" indent="0" marL="0">
              <a:lnSpc>
                <a:spcPct val="100000"/>
              </a:lnSpc>
              <a:buNone/>
            </a:pPr>
            <a:r>
              <a:rPr lang="en-US" sz="1000" b="1" spc="145" kern="0" dirty="0">
                <a:solidFill>
                  <a:srgbClr val="E7A03E"/>
                </a:solidFill>
                <a:latin typeface="Aptos" pitchFamily="34" charset="0"/>
                <a:ea typeface="Aptos" pitchFamily="34" charset="-122"/>
                <a:cs typeface="Aptos" pitchFamily="34" charset="-120"/>
              </a:rPr>
              <a:t>AFTER  /  SAP V2</a:t>
            </a:r>
            <a:endParaRPr lang="en-US" sz="1000" dirty="0"/>
          </a:p>
        </p:txBody>
      </p:sp>
      <p:sp>
        <p:nvSpPr>
          <p:cNvPr id="22" name="Text 20"/>
          <p:cNvSpPr/>
          <p:nvPr/>
        </p:nvSpPr>
        <p:spPr>
          <a:xfrm>
            <a:off x="8193024" y="2596896"/>
            <a:ext cx="2944368" cy="310896"/>
          </a:xfrm>
          <a:prstGeom prst="rect">
            <a:avLst/>
          </a:prstGeom>
          <a:noFill/>
          <a:ln/>
        </p:spPr>
        <p:txBody>
          <a:bodyPr wrap="square" lIns="0" tIns="0" rIns="0" bIns="0" rtlCol="0" anchor="ctr">
            <a:normAutofit/>
          </a:bodyPr>
          <a:lstStyle/>
          <a:p>
            <a:pPr algn="l" indent="0" marL="0">
              <a:lnSpc>
                <a:spcPct val="100000"/>
              </a:lnSpc>
              <a:buNone/>
            </a:pPr>
            <a:r>
              <a:rPr lang="en-US" sz="1930" b="1" dirty="0">
                <a:solidFill>
                  <a:srgbClr val="102738"/>
                </a:solidFill>
                <a:latin typeface="Aptos" pitchFamily="34" charset="0"/>
                <a:ea typeface="Aptos" pitchFamily="34" charset="-122"/>
                <a:cs typeface="Aptos" pitchFamily="34" charset="-120"/>
              </a:rPr>
              <a:t>sku_id</a:t>
            </a:r>
            <a:endParaRPr lang="en-US" sz="1930" dirty="0"/>
          </a:p>
        </p:txBody>
      </p:sp>
      <p:sp>
        <p:nvSpPr>
          <p:cNvPr id="23" name="Text 21"/>
          <p:cNvSpPr/>
          <p:nvPr/>
        </p:nvSpPr>
        <p:spPr>
          <a:xfrm>
            <a:off x="8193024" y="3026664"/>
            <a:ext cx="3072384" cy="310896"/>
          </a:xfrm>
          <a:prstGeom prst="rect">
            <a:avLst/>
          </a:prstGeom>
          <a:noFill/>
          <a:ln/>
        </p:spPr>
        <p:txBody>
          <a:bodyPr wrap="square" lIns="0" tIns="0" rIns="0" bIns="0" rtlCol="0" anchor="ctr">
            <a:normAutofit/>
          </a:bodyPr>
          <a:lstStyle/>
          <a:p>
            <a:pPr algn="l" indent="0" marL="0">
              <a:lnSpc>
                <a:spcPct val="100000"/>
              </a:lnSpc>
              <a:buNone/>
            </a:pPr>
            <a:r>
              <a:rPr lang="en-US" sz="1860" b="1" dirty="0">
                <a:solidFill>
                  <a:srgbClr val="102738"/>
                </a:solidFill>
                <a:latin typeface="Aptos" pitchFamily="34" charset="0"/>
                <a:ea typeface="Aptos" pitchFamily="34" charset="-122"/>
                <a:cs typeface="Aptos" pitchFamily="34" charset="-120"/>
              </a:rPr>
              <a:t>planned_qty_tons</a:t>
            </a:r>
            <a:endParaRPr lang="en-US" sz="1860" dirty="0"/>
          </a:p>
        </p:txBody>
      </p:sp>
      <p:sp>
        <p:nvSpPr>
          <p:cNvPr id="24" name="Shape 22"/>
          <p:cNvSpPr/>
          <p:nvPr/>
        </p:nvSpPr>
        <p:spPr>
          <a:xfrm>
            <a:off x="8193024" y="3511296"/>
            <a:ext cx="1554480" cy="320040"/>
          </a:xfrm>
          <a:prstGeom prst="roundRect">
            <a:avLst>
              <a:gd name="adj" fmla="val 34286"/>
            </a:avLst>
          </a:prstGeom>
          <a:solidFill>
            <a:srgbClr val="FFF3DF"/>
          </a:solidFill>
          <a:ln w="12700">
            <a:solidFill>
              <a:srgbClr val="FFF3DF">
                <a:alpha val="0"/>
              </a:srgbClr>
            </a:solidFill>
            <a:prstDash val="solid"/>
          </a:ln>
        </p:spPr>
      </p:sp>
      <p:sp>
        <p:nvSpPr>
          <p:cNvPr id="25" name="Text 23"/>
          <p:cNvSpPr/>
          <p:nvPr/>
        </p:nvSpPr>
        <p:spPr>
          <a:xfrm>
            <a:off x="8302752" y="3520440"/>
            <a:ext cx="1335024" cy="301752"/>
          </a:xfrm>
          <a:prstGeom prst="rect">
            <a:avLst/>
          </a:prstGeom>
          <a:noFill/>
          <a:ln/>
        </p:spPr>
        <p:txBody>
          <a:bodyPr wrap="square" lIns="0" tIns="0" rIns="0" bIns="0" rtlCol="0" anchor="ctr">
            <a:normAutofit/>
          </a:bodyPr>
          <a:lstStyle/>
          <a:p>
            <a:pPr algn="ctr" indent="0" marL="0">
              <a:lnSpc>
                <a:spcPct val="100000"/>
              </a:lnSpc>
              <a:buNone/>
            </a:pPr>
            <a:r>
              <a:rPr lang="en-US" sz="1230" b="1" dirty="0">
                <a:solidFill>
                  <a:srgbClr val="A3732B"/>
                </a:solidFill>
                <a:latin typeface="Aptos" pitchFamily="34" charset="0"/>
                <a:ea typeface="Aptos" pitchFamily="34" charset="-122"/>
                <a:cs typeface="Aptos" pitchFamily="34" charset="-120"/>
              </a:rPr>
              <a:t>150 tons</a:t>
            </a:r>
            <a:endParaRPr lang="en-US" sz="1230" dirty="0"/>
          </a:p>
        </p:txBody>
      </p:sp>
      <p:sp>
        <p:nvSpPr>
          <p:cNvPr id="26" name="Shape 24"/>
          <p:cNvSpPr/>
          <p:nvPr/>
        </p:nvSpPr>
        <p:spPr>
          <a:xfrm>
            <a:off x="4617720" y="2340864"/>
            <a:ext cx="2953512" cy="1243584"/>
          </a:xfrm>
          <a:prstGeom prst="roundRect">
            <a:avLst>
              <a:gd name="adj" fmla="val 8824"/>
            </a:avLst>
          </a:prstGeom>
          <a:solidFill>
            <a:srgbClr val="102738"/>
          </a:solidFill>
          <a:ln w="12700">
            <a:solidFill>
              <a:srgbClr val="102738">
                <a:alpha val="0"/>
              </a:srgbClr>
            </a:solidFill>
            <a:prstDash val="solid"/>
          </a:ln>
        </p:spPr>
      </p:sp>
      <p:sp>
        <p:nvSpPr>
          <p:cNvPr id="27" name="Text 25"/>
          <p:cNvSpPr/>
          <p:nvPr/>
        </p:nvSpPr>
        <p:spPr>
          <a:xfrm>
            <a:off x="4910328" y="2606040"/>
            <a:ext cx="2331720" cy="219456"/>
          </a:xfrm>
          <a:prstGeom prst="rect">
            <a:avLst/>
          </a:prstGeom>
          <a:noFill/>
          <a:ln/>
        </p:spPr>
        <p:txBody>
          <a:bodyPr wrap="square" lIns="0" tIns="0" rIns="0" bIns="0" rtlCol="0" anchor="ctr">
            <a:normAutofit/>
          </a:bodyPr>
          <a:lstStyle/>
          <a:p>
            <a:pPr algn="l" indent="0" marL="0">
              <a:lnSpc>
                <a:spcPct val="100000"/>
              </a:lnSpc>
              <a:buNone/>
            </a:pPr>
            <a:r>
              <a:rPr lang="en-US" sz="920" b="1" spc="145" kern="0" dirty="0">
                <a:solidFill>
                  <a:srgbClr val="17B8B3"/>
                </a:solidFill>
                <a:latin typeface="Aptos" pitchFamily="34" charset="0"/>
                <a:ea typeface="Aptos" pitchFamily="34" charset="-122"/>
                <a:cs typeface="Aptos" pitchFamily="34" charset="-120"/>
              </a:rPr>
              <a:t>SIMULATED UPGRADE</a:t>
            </a:r>
            <a:endParaRPr lang="en-US" sz="920" dirty="0"/>
          </a:p>
        </p:txBody>
      </p:sp>
      <p:sp>
        <p:nvSpPr>
          <p:cNvPr id="28" name="Text 26"/>
          <p:cNvSpPr/>
          <p:nvPr/>
        </p:nvSpPr>
        <p:spPr>
          <a:xfrm>
            <a:off x="4882896" y="2944368"/>
            <a:ext cx="2395728" cy="33832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FFFFFF"/>
                </a:solidFill>
                <a:latin typeface="Aptos" pitchFamily="34" charset="0"/>
                <a:ea typeface="Aptos" pitchFamily="34" charset="-122"/>
                <a:cs typeface="Aptos" pitchFamily="34" charset="-120"/>
              </a:rPr>
              <a:t>New fields  +  new unit</a:t>
            </a:r>
            <a:endParaRPr lang="en-US" sz="1500" dirty="0"/>
          </a:p>
        </p:txBody>
      </p:sp>
      <p:sp>
        <p:nvSpPr>
          <p:cNvPr id="29" name="Shape 27"/>
          <p:cNvSpPr/>
          <p:nvPr/>
        </p:nvSpPr>
        <p:spPr>
          <a:xfrm>
            <a:off x="4297680" y="2971800"/>
            <a:ext cx="292608" cy="0"/>
          </a:xfrm>
          <a:prstGeom prst="line">
            <a:avLst/>
          </a:prstGeom>
          <a:noFill/>
          <a:ln w="33020">
            <a:solidFill>
              <a:srgbClr val="078E96"/>
            </a:solidFill>
            <a:prstDash val="solid"/>
            <a:tailEnd type="triangle"/>
          </a:ln>
        </p:spPr>
      </p:sp>
      <p:sp>
        <p:nvSpPr>
          <p:cNvPr id="30" name="Shape 28"/>
          <p:cNvSpPr/>
          <p:nvPr/>
        </p:nvSpPr>
        <p:spPr>
          <a:xfrm>
            <a:off x="7589520" y="2971800"/>
            <a:ext cx="283464" cy="0"/>
          </a:xfrm>
          <a:prstGeom prst="line">
            <a:avLst/>
          </a:prstGeom>
          <a:noFill/>
          <a:ln w="33020">
            <a:solidFill>
              <a:srgbClr val="078E96"/>
            </a:solidFill>
            <a:prstDash val="solid"/>
            <a:tailEnd type="triangle"/>
          </a:ln>
        </p:spPr>
      </p:sp>
      <p:sp>
        <p:nvSpPr>
          <p:cNvPr id="31" name="Text 29"/>
          <p:cNvSpPr/>
          <p:nvPr/>
        </p:nvSpPr>
        <p:spPr>
          <a:xfrm>
            <a:off x="841248" y="4206240"/>
            <a:ext cx="9601200" cy="192024"/>
          </a:xfrm>
          <a:prstGeom prst="rect">
            <a:avLst/>
          </a:prstGeom>
          <a:noFill/>
          <a:ln/>
        </p:spPr>
        <p:txBody>
          <a:bodyPr wrap="square" lIns="0" tIns="0" rIns="0" bIns="0" rtlCol="0" anchor="ctr">
            <a:normAutofit/>
          </a:bodyPr>
          <a:lstStyle/>
          <a:p>
            <a:pPr algn="l" indent="0" marL="0">
              <a:lnSpc>
                <a:spcPct val="100000"/>
              </a:lnSpc>
              <a:buNone/>
            </a:pPr>
            <a:r>
              <a:rPr lang="en-US" sz="1020" dirty="0">
                <a:solidFill>
                  <a:srgbClr val="627889"/>
                </a:solidFill>
                <a:latin typeface="Aptos" pitchFamily="34" charset="0"/>
                <a:ea typeface="Aptos" pitchFamily="34" charset="-122"/>
                <a:cs typeface="Aptos" pitchFamily="34" charset="-120"/>
              </a:rPr>
              <a:t>Illustrative unit example · Both versions normalized to common business fields and units before comparison</a:t>
            </a:r>
            <a:endParaRPr lang="en-US" sz="1020" dirty="0"/>
          </a:p>
        </p:txBody>
      </p:sp>
      <p:sp>
        <p:nvSpPr>
          <p:cNvPr id="32" name="Shape 30"/>
          <p:cNvSpPr/>
          <p:nvPr/>
        </p:nvSpPr>
        <p:spPr>
          <a:xfrm>
            <a:off x="612648" y="4562856"/>
            <a:ext cx="10972800" cy="1024128"/>
          </a:xfrm>
          <a:prstGeom prst="roundRect">
            <a:avLst>
              <a:gd name="adj" fmla="val 10714"/>
            </a:avLst>
          </a:prstGeom>
          <a:solidFill>
            <a:srgbClr val="E8F7F0"/>
          </a:solidFill>
          <a:ln w="9525">
            <a:solidFill>
              <a:srgbClr val="B7D9C9"/>
            </a:solidFill>
            <a:prstDash val="solid"/>
          </a:ln>
        </p:spPr>
      </p:sp>
      <p:sp>
        <p:nvSpPr>
          <p:cNvPr id="33" name="Text 31"/>
          <p:cNvSpPr/>
          <p:nvPr/>
        </p:nvSpPr>
        <p:spPr>
          <a:xfrm>
            <a:off x="905256" y="4754880"/>
            <a:ext cx="2770632" cy="246888"/>
          </a:xfrm>
          <a:prstGeom prst="rect">
            <a:avLst/>
          </a:prstGeom>
          <a:noFill/>
          <a:ln/>
        </p:spPr>
        <p:txBody>
          <a:bodyPr wrap="square" lIns="0" tIns="0" rIns="0" bIns="0" rtlCol="0" anchor="ctr">
            <a:normAutofit/>
          </a:bodyPr>
          <a:lstStyle/>
          <a:p>
            <a:pPr algn="l" indent="0" marL="0">
              <a:lnSpc>
                <a:spcPct val="100000"/>
              </a:lnSpc>
              <a:buNone/>
            </a:pPr>
            <a:r>
              <a:rPr lang="en-US" sz="1050" b="1" spc="50" kern="0" dirty="0">
                <a:solidFill>
                  <a:srgbClr val="168363"/>
                </a:solidFill>
                <a:latin typeface="Aptos" pitchFamily="34" charset="0"/>
                <a:ea typeface="Aptos" pitchFamily="34" charset="-122"/>
                <a:cs typeface="Aptos" pitchFamily="34" charset="-120"/>
              </a:rPr>
              <a:t>NORMALIZE + REGRESSION</a:t>
            </a:r>
            <a:endParaRPr lang="en-US" sz="1050" dirty="0"/>
          </a:p>
        </p:txBody>
      </p:sp>
      <p:sp>
        <p:nvSpPr>
          <p:cNvPr id="34" name="Text 32"/>
          <p:cNvSpPr/>
          <p:nvPr/>
        </p:nvSpPr>
        <p:spPr>
          <a:xfrm>
            <a:off x="3867912" y="4709160"/>
            <a:ext cx="1051560" cy="448056"/>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102738"/>
                </a:solidFill>
                <a:latin typeface="Aptos" pitchFamily="34" charset="0"/>
                <a:ea typeface="Aptos" pitchFamily="34" charset="-122"/>
                <a:cs typeface="Aptos" pitchFamily="34" charset="-120"/>
              </a:rPr>
              <a:t>540</a:t>
            </a:r>
            <a:endParaRPr lang="en-US" sz="2800" dirty="0"/>
          </a:p>
        </p:txBody>
      </p:sp>
      <p:sp>
        <p:nvSpPr>
          <p:cNvPr id="35" name="Text 33"/>
          <p:cNvSpPr/>
          <p:nvPr/>
        </p:nvSpPr>
        <p:spPr>
          <a:xfrm>
            <a:off x="4599432" y="4828032"/>
            <a:ext cx="1517904" cy="219456"/>
          </a:xfrm>
          <a:prstGeom prst="rect">
            <a:avLst/>
          </a:prstGeom>
          <a:noFill/>
          <a:ln/>
        </p:spPr>
        <p:txBody>
          <a:bodyPr wrap="square" lIns="0" tIns="0" rIns="0" bIns="0" rtlCol="0" anchor="ctr">
            <a:normAutofit/>
          </a:bodyPr>
          <a:lstStyle/>
          <a:p>
            <a:pPr algn="l" indent="0" marL="0">
              <a:lnSpc>
                <a:spcPct val="100000"/>
              </a:lnSpc>
              <a:buNone/>
            </a:pPr>
            <a:r>
              <a:rPr lang="en-US" sz="1040" dirty="0">
                <a:solidFill>
                  <a:srgbClr val="627889"/>
                </a:solidFill>
                <a:latin typeface="Aptos" pitchFamily="34" charset="0"/>
                <a:ea typeface="Aptos" pitchFamily="34" charset="-122"/>
                <a:cs typeface="Aptos" pitchFamily="34" charset="-120"/>
              </a:rPr>
              <a:t>keys compared</a:t>
            </a:r>
            <a:endParaRPr lang="en-US" sz="1040" dirty="0"/>
          </a:p>
        </p:txBody>
      </p:sp>
      <p:sp>
        <p:nvSpPr>
          <p:cNvPr id="36" name="Text 34"/>
          <p:cNvSpPr/>
          <p:nvPr/>
        </p:nvSpPr>
        <p:spPr>
          <a:xfrm>
            <a:off x="6483096" y="4709160"/>
            <a:ext cx="502920" cy="448056"/>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102738"/>
                </a:solidFill>
                <a:latin typeface="Aptos" pitchFamily="34" charset="0"/>
                <a:ea typeface="Aptos" pitchFamily="34" charset="-122"/>
                <a:cs typeface="Aptos" pitchFamily="34" charset="-120"/>
              </a:rPr>
              <a:t>0</a:t>
            </a:r>
            <a:endParaRPr lang="en-US" sz="2800" dirty="0"/>
          </a:p>
        </p:txBody>
      </p:sp>
      <p:sp>
        <p:nvSpPr>
          <p:cNvPr id="37" name="Text 35"/>
          <p:cNvSpPr/>
          <p:nvPr/>
        </p:nvSpPr>
        <p:spPr>
          <a:xfrm>
            <a:off x="6903720" y="4828032"/>
            <a:ext cx="1234440" cy="219456"/>
          </a:xfrm>
          <a:prstGeom prst="rect">
            <a:avLst/>
          </a:prstGeom>
          <a:noFill/>
          <a:ln/>
        </p:spPr>
        <p:txBody>
          <a:bodyPr wrap="square" lIns="0" tIns="0" rIns="0" bIns="0" rtlCol="0" anchor="ctr">
            <a:normAutofit/>
          </a:bodyPr>
          <a:lstStyle/>
          <a:p>
            <a:pPr algn="l" indent="0" marL="0">
              <a:lnSpc>
                <a:spcPct val="100000"/>
              </a:lnSpc>
              <a:buNone/>
            </a:pPr>
            <a:r>
              <a:rPr lang="en-US" sz="1040" dirty="0">
                <a:solidFill>
                  <a:srgbClr val="627889"/>
                </a:solidFill>
                <a:latin typeface="Aptos" pitchFamily="34" charset="0"/>
                <a:ea typeface="Aptos" pitchFamily="34" charset="-122"/>
                <a:cs typeface="Aptos" pitchFamily="34" charset="-120"/>
              </a:rPr>
              <a:t>mismatches</a:t>
            </a:r>
            <a:endParaRPr lang="en-US" sz="1040" dirty="0"/>
          </a:p>
        </p:txBody>
      </p:sp>
      <p:sp>
        <p:nvSpPr>
          <p:cNvPr id="38" name="Shape 36"/>
          <p:cNvSpPr/>
          <p:nvPr/>
        </p:nvSpPr>
        <p:spPr>
          <a:xfrm>
            <a:off x="9454896" y="4818888"/>
            <a:ext cx="1609344" cy="365760"/>
          </a:xfrm>
          <a:prstGeom prst="roundRect">
            <a:avLst>
              <a:gd name="adj" fmla="val 30000"/>
            </a:avLst>
          </a:prstGeom>
          <a:solidFill>
            <a:srgbClr val="168363"/>
          </a:solidFill>
          <a:ln w="12700">
            <a:solidFill>
              <a:srgbClr val="168363">
                <a:alpha val="0"/>
              </a:srgbClr>
            </a:solidFill>
            <a:prstDash val="solid"/>
          </a:ln>
        </p:spPr>
      </p:sp>
      <p:sp>
        <p:nvSpPr>
          <p:cNvPr id="39" name="Text 37"/>
          <p:cNvSpPr/>
          <p:nvPr/>
        </p:nvSpPr>
        <p:spPr>
          <a:xfrm>
            <a:off x="9564624" y="4828032"/>
            <a:ext cx="1389888" cy="347472"/>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PASS</a:t>
            </a:r>
            <a:endParaRPr lang="en-US" sz="1300" dirty="0"/>
          </a:p>
        </p:txBody>
      </p:sp>
      <p:sp>
        <p:nvSpPr>
          <p:cNvPr id="40" name="Text 38"/>
          <p:cNvSpPr/>
          <p:nvPr/>
        </p:nvSpPr>
        <p:spPr>
          <a:xfrm>
            <a:off x="630936" y="5852160"/>
            <a:ext cx="1024128" cy="182880"/>
          </a:xfrm>
          <a:prstGeom prst="rect">
            <a:avLst/>
          </a:prstGeom>
          <a:noFill/>
          <a:ln/>
        </p:spPr>
        <p:txBody>
          <a:bodyPr wrap="square" lIns="0" tIns="0" rIns="0" bIns="0" rtlCol="0" anchor="ctr">
            <a:normAutofit/>
          </a:bodyPr>
          <a:lstStyle/>
          <a:p>
            <a:pPr algn="l" indent="0" marL="0">
              <a:lnSpc>
                <a:spcPct val="100000"/>
              </a:lnSpc>
              <a:buNone/>
            </a:pPr>
            <a:r>
              <a:rPr lang="en-US" sz="940" b="1" spc="80" kern="0" dirty="0">
                <a:solidFill>
                  <a:srgbClr val="627889"/>
                </a:solidFill>
                <a:latin typeface="Aptos" pitchFamily="34" charset="0"/>
                <a:ea typeface="Aptos" pitchFamily="34" charset="-122"/>
                <a:cs typeface="Aptos" pitchFamily="34" charset="-120"/>
              </a:rPr>
              <a:t>IMPACT PATH</a:t>
            </a:r>
            <a:endParaRPr lang="en-US" sz="940" dirty="0"/>
          </a:p>
        </p:txBody>
      </p:sp>
      <p:sp>
        <p:nvSpPr>
          <p:cNvPr id="41" name="Text 39"/>
          <p:cNvSpPr/>
          <p:nvPr/>
        </p:nvSpPr>
        <p:spPr>
          <a:xfrm>
            <a:off x="1709928" y="5788152"/>
            <a:ext cx="9729216" cy="320040"/>
          </a:xfrm>
          <a:prstGeom prst="rect">
            <a:avLst/>
          </a:prstGeom>
          <a:noFill/>
          <a:ln/>
        </p:spPr>
        <p:txBody>
          <a:bodyPr wrap="square" lIns="0" tIns="0" rIns="0" bIns="0" rtlCol="0" anchor="ctr">
            <a:normAutofit/>
          </a:bodyPr>
          <a:lstStyle/>
          <a:p>
            <a:pPr algn="l" indent="0" marL="0">
              <a:lnSpc>
                <a:spcPct val="100000"/>
              </a:lnSpc>
              <a:buNone/>
            </a:pPr>
            <a:r>
              <a:rPr lang="en-US" sz="1420" b="1" dirty="0">
                <a:solidFill>
                  <a:srgbClr val="244354"/>
                </a:solidFill>
                <a:latin typeface="Aptos" pitchFamily="34" charset="0"/>
                <a:ea typeface="Aptos" pitchFamily="34" charset="-122"/>
                <a:cs typeface="Aptos" pitchFamily="34" charset="-120"/>
              </a:rPr>
              <a:t>Source   →   Contract   →   Mapping   →   Fact   →   Data mart   →   KPI</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gd name="adj" fmla="val 160000"/>
            </a:avLst>
          </a:prstGeom>
          <a:solidFill>
            <a:srgbClr val="102738"/>
          </a:solidFill>
          <a:ln w="12700">
            <a:solidFill>
              <a:srgbClr val="102738">
                <a:alpha val="0"/>
              </a:srgbClr>
            </a:solidFill>
            <a:prstDash val="solid"/>
          </a:ln>
        </p:spPr>
      </p:sp>
      <p:sp>
        <p:nvSpPr>
          <p:cNvPr id="3" name="Shape 1"/>
          <p:cNvSpPr/>
          <p:nvPr/>
        </p:nvSpPr>
        <p:spPr>
          <a:xfrm>
            <a:off x="0" y="0"/>
            <a:ext cx="10837062" cy="68580"/>
          </a:xfrm>
          <a:prstGeom prst="rect">
            <a:avLst>
              <a:gd name="adj" fmla="val 160000"/>
            </a:avLst>
          </a:prstGeom>
          <a:solidFill>
            <a:srgbClr val="17B8B3"/>
          </a:solidFill>
          <a:ln w="12700">
            <a:solidFill>
              <a:srgbClr val="17B8B3">
                <a:alpha val="0"/>
              </a:srgbClr>
            </a:solidFill>
            <a:prstDash val="solid"/>
          </a:ln>
        </p:spPr>
      </p:sp>
      <p:sp>
        <p:nvSpPr>
          <p:cNvPr id="4" name="Text 2"/>
          <p:cNvSpPr/>
          <p:nvPr/>
        </p:nvSpPr>
        <p:spPr>
          <a:xfrm>
            <a:off x="585216" y="256032"/>
            <a:ext cx="8686800" cy="219456"/>
          </a:xfrm>
          <a:prstGeom prst="rect">
            <a:avLst/>
          </a:prstGeom>
          <a:noFill/>
          <a:ln/>
        </p:spPr>
        <p:txBody>
          <a:bodyPr wrap="square" lIns="0" tIns="0" rIns="0" bIns="0" rtlCol="0" anchor="ctr">
            <a:normAutofit/>
          </a:bodyPr>
          <a:lstStyle/>
          <a:p>
            <a:pPr algn="l" indent="0" marL="0">
              <a:lnSpc>
                <a:spcPct val="100000"/>
              </a:lnSpc>
              <a:buNone/>
            </a:pPr>
            <a:r>
              <a:rPr lang="en-US" sz="910" b="1" spc="120" kern="0" dirty="0">
                <a:solidFill>
                  <a:srgbClr val="627889"/>
                </a:solidFill>
                <a:latin typeface="Aptos" pitchFamily="34" charset="0"/>
                <a:ea typeface="Aptos" pitchFamily="34" charset="-122"/>
                <a:cs typeface="Aptos" pitchFamily="34" charset="-120"/>
              </a:rPr>
              <a:t>GLASSOPS 360  /  VALIDATION &amp; HANDOFF</a:t>
            </a:r>
            <a:endParaRPr lang="en-US" sz="910" dirty="0"/>
          </a:p>
        </p:txBody>
      </p:sp>
      <p:sp>
        <p:nvSpPr>
          <p:cNvPr id="5" name="Text 3"/>
          <p:cNvSpPr/>
          <p:nvPr/>
        </p:nvSpPr>
        <p:spPr>
          <a:xfrm>
            <a:off x="594360" y="658368"/>
            <a:ext cx="10607040" cy="493776"/>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02738"/>
                </a:solidFill>
                <a:latin typeface="Aptos" pitchFamily="34" charset="0"/>
                <a:ea typeface="Aptos" pitchFamily="34" charset="-122"/>
                <a:cs typeface="Aptos" pitchFamily="34" charset="-120"/>
              </a:rPr>
              <a:t>UAT connects requirements to evidence</a:t>
            </a:r>
            <a:endParaRPr lang="en-US" sz="3000" dirty="0"/>
          </a:p>
        </p:txBody>
      </p:sp>
      <p:sp>
        <p:nvSpPr>
          <p:cNvPr id="6" name="Text 4"/>
          <p:cNvSpPr/>
          <p:nvPr/>
        </p:nvSpPr>
        <p:spPr>
          <a:xfrm>
            <a:off x="603504" y="1225296"/>
            <a:ext cx="10927080" cy="329184"/>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627889"/>
                </a:solidFill>
                <a:latin typeface="Aptos" pitchFamily="34" charset="0"/>
                <a:ea typeface="Aptos" pitchFamily="34" charset="-122"/>
                <a:cs typeface="Aptos" pitchFamily="34" charset="-120"/>
              </a:rPr>
              <a:t>Five automated checks demonstrate analytical acceptance; business sign-off remains a separate step.</a:t>
            </a:r>
            <a:endParaRPr lang="en-US" sz="1350" dirty="0"/>
          </a:p>
        </p:txBody>
      </p:sp>
      <p:sp>
        <p:nvSpPr>
          <p:cNvPr id="7" name="Shape 5"/>
          <p:cNvSpPr/>
          <p:nvPr/>
        </p:nvSpPr>
        <p:spPr>
          <a:xfrm>
            <a:off x="594360" y="6382512"/>
            <a:ext cx="11018520" cy="0"/>
          </a:xfrm>
          <a:prstGeom prst="line">
            <a:avLst/>
          </a:prstGeom>
          <a:noFill/>
          <a:ln w="11430">
            <a:solidFill>
              <a:srgbClr val="DCE6ED"/>
            </a:solidFill>
            <a:prstDash val="solid"/>
          </a:ln>
        </p:spPr>
      </p:sp>
      <p:sp>
        <p:nvSpPr>
          <p:cNvPr id="8" name="Text 6"/>
          <p:cNvSpPr/>
          <p:nvPr/>
        </p:nvSpPr>
        <p:spPr>
          <a:xfrm>
            <a:off x="594360" y="6492240"/>
            <a:ext cx="9784080" cy="164592"/>
          </a:xfrm>
          <a:prstGeom prst="rect">
            <a:avLst/>
          </a:prstGeom>
          <a:noFill/>
          <a:ln/>
        </p:spPr>
        <p:txBody>
          <a:bodyPr wrap="square" lIns="0" tIns="0" rIns="0" bIns="0" rtlCol="0" anchor="ctr">
            <a:normAutofit/>
          </a:bodyPr>
          <a:lstStyle/>
          <a:p>
            <a:pPr algn="l" indent="0" marL="0">
              <a:lnSpc>
                <a:spcPct val="100000"/>
              </a:lnSpc>
              <a:buNone/>
            </a:pPr>
            <a:r>
              <a:rPr lang="en-US" sz="830" dirty="0">
                <a:solidFill>
                  <a:srgbClr val="8DA1AE"/>
                </a:solidFill>
                <a:latin typeface="Aptos" pitchFamily="34" charset="0"/>
                <a:ea typeface="Aptos" pitchFamily="34" charset="-122"/>
                <a:cs typeface="Aptos" pitchFamily="34" charset="-120"/>
              </a:rPr>
              <a:t>SYNTHETIC PORTFOLIO DEMO  ·  NOT A REAL COMPANY OR SAP SYSTEM</a:t>
            </a:r>
            <a:endParaRPr lang="en-US" sz="830" dirty="0"/>
          </a:p>
        </p:txBody>
      </p:sp>
      <p:sp>
        <p:nvSpPr>
          <p:cNvPr id="9" name="Text 7"/>
          <p:cNvSpPr/>
          <p:nvPr/>
        </p:nvSpPr>
        <p:spPr>
          <a:xfrm>
            <a:off x="10652760" y="6473952"/>
            <a:ext cx="914400" cy="201168"/>
          </a:xfrm>
          <a:prstGeom prst="rect">
            <a:avLst/>
          </a:prstGeom>
          <a:noFill/>
          <a:ln/>
        </p:spPr>
        <p:txBody>
          <a:bodyPr wrap="square" lIns="0" tIns="0" rIns="0" bIns="0" rtlCol="0" anchor="ctr">
            <a:normAutofit/>
          </a:bodyPr>
          <a:lstStyle/>
          <a:p>
            <a:pPr algn="r" indent="0" marL="0">
              <a:lnSpc>
                <a:spcPct val="100000"/>
              </a:lnSpc>
              <a:buNone/>
            </a:pPr>
            <a:r>
              <a:rPr lang="en-US" sz="910" b="1" dirty="0">
                <a:solidFill>
                  <a:srgbClr val="627889"/>
                </a:solidFill>
                <a:latin typeface="Aptos" pitchFamily="34" charset="0"/>
                <a:ea typeface="Aptos" pitchFamily="34" charset="-122"/>
                <a:cs typeface="Aptos" pitchFamily="34" charset="-120"/>
              </a:rPr>
              <a:t>08 / 09</a:t>
            </a:r>
            <a:endParaRPr lang="en-US" sz="910" dirty="0"/>
          </a:p>
        </p:txBody>
      </p:sp>
      <p:sp>
        <p:nvSpPr>
          <p:cNvPr id="10" name="Shape 8"/>
          <p:cNvSpPr/>
          <p:nvPr/>
        </p:nvSpPr>
        <p:spPr>
          <a:xfrm>
            <a:off x="635508" y="1895551"/>
            <a:ext cx="7726680" cy="4142232"/>
          </a:xfrm>
          <a:prstGeom prst="roundRect">
            <a:avLst>
              <a:gd name="adj" fmla="val 2649"/>
            </a:avLst>
          </a:prstGeom>
          <a:solidFill>
            <a:srgbClr val="DCE7EC">
              <a:alpha val="50000"/>
            </a:srgbClr>
          </a:solidFill>
          <a:ln w="12700">
            <a:solidFill>
              <a:srgbClr val="DCE7EC">
                <a:alpha val="0"/>
              </a:srgbClr>
            </a:solidFill>
            <a:prstDash val="solid"/>
          </a:ln>
        </p:spPr>
      </p:sp>
      <p:sp>
        <p:nvSpPr>
          <p:cNvPr id="11" name="Shape 9"/>
          <p:cNvSpPr/>
          <p:nvPr/>
        </p:nvSpPr>
        <p:spPr>
          <a:xfrm>
            <a:off x="612648" y="1856232"/>
            <a:ext cx="7726680" cy="4142232"/>
          </a:xfrm>
          <a:prstGeom prst="roundRect">
            <a:avLst>
              <a:gd name="adj" fmla="val 2649"/>
            </a:avLst>
          </a:prstGeom>
          <a:solidFill>
            <a:srgbClr val="FFFFFF"/>
          </a:solidFill>
          <a:ln w="8890">
            <a:solidFill>
              <a:srgbClr val="DCE6ED"/>
            </a:solidFill>
            <a:prstDash val="solid"/>
          </a:ln>
        </p:spPr>
      </p:sp>
      <p:sp>
        <p:nvSpPr>
          <p:cNvPr id="12" name="Shape 10"/>
          <p:cNvSpPr/>
          <p:nvPr/>
        </p:nvSpPr>
        <p:spPr>
          <a:xfrm>
            <a:off x="612648" y="1856232"/>
            <a:ext cx="7726680" cy="77724"/>
          </a:xfrm>
          <a:prstGeom prst="rect">
            <a:avLst>
              <a:gd name="adj" fmla="val 141176"/>
            </a:avLst>
          </a:prstGeom>
          <a:solidFill>
            <a:srgbClr val="102738"/>
          </a:solidFill>
          <a:ln w="12700">
            <a:solidFill>
              <a:srgbClr val="102738">
                <a:alpha val="0"/>
              </a:srgbClr>
            </a:solidFill>
            <a:prstDash val="solid"/>
          </a:ln>
        </p:spPr>
      </p:sp>
      <p:sp>
        <p:nvSpPr>
          <p:cNvPr id="13" name="Text 11"/>
          <p:cNvSpPr/>
          <p:nvPr/>
        </p:nvSpPr>
        <p:spPr>
          <a:xfrm>
            <a:off x="896112" y="2112264"/>
            <a:ext cx="4992624" cy="219456"/>
          </a:xfrm>
          <a:prstGeom prst="rect">
            <a:avLst/>
          </a:prstGeom>
          <a:noFill/>
          <a:ln/>
        </p:spPr>
        <p:txBody>
          <a:bodyPr wrap="square" lIns="0" tIns="0" rIns="0" bIns="0" rtlCol="0" anchor="ctr">
            <a:normAutofit/>
          </a:bodyPr>
          <a:lstStyle/>
          <a:p>
            <a:pPr algn="l" indent="0" marL="0">
              <a:lnSpc>
                <a:spcPct val="100000"/>
              </a:lnSpc>
              <a:buNone/>
            </a:pPr>
            <a:r>
              <a:rPr lang="en-US" sz="980" b="1" spc="145" kern="0" dirty="0">
                <a:solidFill>
                  <a:srgbClr val="4074E8"/>
                </a:solidFill>
                <a:latin typeface="Aptos" pitchFamily="34" charset="0"/>
                <a:ea typeface="Aptos" pitchFamily="34" charset="-122"/>
                <a:cs typeface="Aptos" pitchFamily="34" charset="-120"/>
              </a:rPr>
              <a:t>AUTOMATED ACCEPTANCE CHECKS</a:t>
            </a:r>
            <a:endParaRPr lang="en-US" sz="980" dirty="0"/>
          </a:p>
        </p:txBody>
      </p:sp>
      <p:sp>
        <p:nvSpPr>
          <p:cNvPr id="14" name="Text 12"/>
          <p:cNvSpPr/>
          <p:nvPr/>
        </p:nvSpPr>
        <p:spPr>
          <a:xfrm>
            <a:off x="914400" y="2569464"/>
            <a:ext cx="4919472" cy="292608"/>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102738"/>
                </a:solidFill>
                <a:latin typeface="Aptos" pitchFamily="34" charset="0"/>
                <a:ea typeface="Aptos" pitchFamily="34" charset="-122"/>
                <a:cs typeface="Aptos" pitchFamily="34" charset="-120"/>
              </a:rPr>
              <a:t>Business requirement</a:t>
            </a:r>
            <a:endParaRPr lang="en-US" sz="1400" dirty="0"/>
          </a:p>
        </p:txBody>
      </p:sp>
      <p:sp>
        <p:nvSpPr>
          <p:cNvPr id="15" name="Text 13"/>
          <p:cNvSpPr/>
          <p:nvPr/>
        </p:nvSpPr>
        <p:spPr>
          <a:xfrm>
            <a:off x="7159752" y="2569464"/>
            <a:ext cx="749808" cy="292608"/>
          </a:xfrm>
          <a:prstGeom prst="rect">
            <a:avLst/>
          </a:prstGeom>
          <a:noFill/>
          <a:ln/>
        </p:spPr>
        <p:txBody>
          <a:bodyPr wrap="square" lIns="0" tIns="0" rIns="0" bIns="0" rtlCol="0" anchor="ctr">
            <a:normAutofit/>
          </a:bodyPr>
          <a:lstStyle/>
          <a:p>
            <a:pPr algn="ctr" indent="0" marL="0">
              <a:lnSpc>
                <a:spcPct val="100000"/>
              </a:lnSpc>
              <a:buNone/>
            </a:pPr>
            <a:r>
              <a:rPr lang="en-US" sz="1000" b="1" spc="100" kern="0" dirty="0">
                <a:solidFill>
                  <a:srgbClr val="627889"/>
                </a:solidFill>
                <a:latin typeface="Aptos" pitchFamily="34" charset="0"/>
                <a:ea typeface="Aptos" pitchFamily="34" charset="-122"/>
                <a:cs typeface="Aptos" pitchFamily="34" charset="-120"/>
              </a:rPr>
              <a:t>RESULT</a:t>
            </a:r>
            <a:endParaRPr lang="en-US" sz="1000" dirty="0"/>
          </a:p>
        </p:txBody>
      </p:sp>
      <p:sp>
        <p:nvSpPr>
          <p:cNvPr id="16" name="Shape 14"/>
          <p:cNvSpPr/>
          <p:nvPr/>
        </p:nvSpPr>
        <p:spPr>
          <a:xfrm>
            <a:off x="896112" y="2953512"/>
            <a:ext cx="7150608" cy="484632"/>
          </a:xfrm>
          <a:prstGeom prst="rect">
            <a:avLst>
              <a:gd name="adj" fmla="val 22642"/>
            </a:avLst>
          </a:prstGeom>
          <a:solidFill>
            <a:srgbClr val="F5F8FB"/>
          </a:solidFill>
          <a:ln w="12700">
            <a:solidFill>
              <a:srgbClr val="F5F8FB">
                <a:alpha val="0"/>
              </a:srgbClr>
            </a:solidFill>
            <a:prstDash val="solid"/>
          </a:ln>
        </p:spPr>
      </p:sp>
      <p:sp>
        <p:nvSpPr>
          <p:cNvPr id="17" name="Text 15"/>
          <p:cNvSpPr/>
          <p:nvPr/>
        </p:nvSpPr>
        <p:spPr>
          <a:xfrm>
            <a:off x="1060704" y="3035808"/>
            <a:ext cx="978408" cy="237744"/>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078E96"/>
                </a:solidFill>
                <a:latin typeface="Aptos" pitchFamily="34" charset="0"/>
                <a:ea typeface="Aptos" pitchFamily="34" charset="-122"/>
                <a:cs typeface="Aptos" pitchFamily="34" charset="-120"/>
              </a:rPr>
              <a:t>UAT-01</a:t>
            </a:r>
            <a:endParaRPr lang="en-US" sz="1100" dirty="0"/>
          </a:p>
        </p:txBody>
      </p:sp>
      <p:sp>
        <p:nvSpPr>
          <p:cNvPr id="18" name="Text 16"/>
          <p:cNvSpPr/>
          <p:nvPr/>
        </p:nvSpPr>
        <p:spPr>
          <a:xfrm>
            <a:off x="2103120" y="3026664"/>
            <a:ext cx="4718304" cy="237744"/>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244354"/>
                </a:solidFill>
                <a:latin typeface="Aptos" pitchFamily="34" charset="0"/>
                <a:ea typeface="Aptos" pitchFamily="34" charset="-122"/>
                <a:cs typeface="Aptos" pitchFamily="34" charset="-120"/>
              </a:rPr>
              <a:t>Plan vs good output matches extracts</a:t>
            </a:r>
            <a:endParaRPr lang="en-US" sz="1250" dirty="0"/>
          </a:p>
        </p:txBody>
      </p:sp>
      <p:sp>
        <p:nvSpPr>
          <p:cNvPr id="19" name="Shape 17"/>
          <p:cNvSpPr/>
          <p:nvPr/>
        </p:nvSpPr>
        <p:spPr>
          <a:xfrm>
            <a:off x="7251192" y="3026664"/>
            <a:ext cx="649224" cy="283464"/>
          </a:xfrm>
          <a:prstGeom prst="roundRect">
            <a:avLst>
              <a:gd name="adj" fmla="val 38710"/>
            </a:avLst>
          </a:prstGeom>
          <a:solidFill>
            <a:srgbClr val="E8F7F0"/>
          </a:solidFill>
          <a:ln w="12700">
            <a:solidFill>
              <a:srgbClr val="E8F7F0">
                <a:alpha val="0"/>
              </a:srgbClr>
            </a:solidFill>
            <a:prstDash val="solid"/>
          </a:ln>
        </p:spPr>
      </p:sp>
      <p:sp>
        <p:nvSpPr>
          <p:cNvPr id="20" name="Text 18"/>
          <p:cNvSpPr/>
          <p:nvPr/>
        </p:nvSpPr>
        <p:spPr>
          <a:xfrm>
            <a:off x="7360920" y="3035808"/>
            <a:ext cx="429768" cy="265176"/>
          </a:xfrm>
          <a:prstGeom prst="rect">
            <a:avLst/>
          </a:prstGeom>
          <a:noFill/>
          <a:ln/>
        </p:spPr>
        <p:txBody>
          <a:bodyPr wrap="square" lIns="0" tIns="0" rIns="0" bIns="0" rtlCol="0" anchor="ctr">
            <a:normAutofit/>
          </a:bodyPr>
          <a:lstStyle/>
          <a:p>
            <a:pPr algn="ctr" indent="0" marL="0">
              <a:lnSpc>
                <a:spcPct val="100000"/>
              </a:lnSpc>
              <a:buNone/>
            </a:pPr>
            <a:r>
              <a:rPr lang="en-US" sz="1010" b="1" dirty="0">
                <a:solidFill>
                  <a:srgbClr val="168363"/>
                </a:solidFill>
                <a:latin typeface="Aptos" pitchFamily="34" charset="0"/>
                <a:ea typeface="Aptos" pitchFamily="34" charset="-122"/>
                <a:cs typeface="Aptos" pitchFamily="34" charset="-120"/>
              </a:rPr>
              <a:t>PASS</a:t>
            </a:r>
            <a:endParaRPr lang="en-US" sz="1010" dirty="0"/>
          </a:p>
        </p:txBody>
      </p:sp>
      <p:sp>
        <p:nvSpPr>
          <p:cNvPr id="21" name="Text 19"/>
          <p:cNvSpPr/>
          <p:nvPr/>
        </p:nvSpPr>
        <p:spPr>
          <a:xfrm>
            <a:off x="1060704" y="3566160"/>
            <a:ext cx="978408" cy="237744"/>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078E96"/>
                </a:solidFill>
                <a:latin typeface="Aptos" pitchFamily="34" charset="0"/>
                <a:ea typeface="Aptos" pitchFamily="34" charset="-122"/>
                <a:cs typeface="Aptos" pitchFamily="34" charset="-120"/>
              </a:rPr>
              <a:t>UAT-02</a:t>
            </a:r>
            <a:endParaRPr lang="en-US" sz="1100" dirty="0"/>
          </a:p>
        </p:txBody>
      </p:sp>
      <p:sp>
        <p:nvSpPr>
          <p:cNvPr id="22" name="Text 20"/>
          <p:cNvSpPr/>
          <p:nvPr/>
        </p:nvSpPr>
        <p:spPr>
          <a:xfrm>
            <a:off x="2103120" y="3557016"/>
            <a:ext cx="4718304" cy="237744"/>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244354"/>
                </a:solidFill>
                <a:latin typeface="Aptos" pitchFamily="34" charset="0"/>
                <a:ea typeface="Aptos" pitchFamily="34" charset="-122"/>
                <a:cs typeface="Aptos" pitchFamily="34" charset="-120"/>
              </a:rPr>
              <a:t>Good + scrap reconciles to gross</a:t>
            </a:r>
            <a:endParaRPr lang="en-US" sz="1250" dirty="0"/>
          </a:p>
        </p:txBody>
      </p:sp>
      <p:sp>
        <p:nvSpPr>
          <p:cNvPr id="23" name="Shape 21"/>
          <p:cNvSpPr/>
          <p:nvPr/>
        </p:nvSpPr>
        <p:spPr>
          <a:xfrm>
            <a:off x="7251192" y="3557016"/>
            <a:ext cx="649224" cy="283464"/>
          </a:xfrm>
          <a:prstGeom prst="roundRect">
            <a:avLst>
              <a:gd name="adj" fmla="val 38710"/>
            </a:avLst>
          </a:prstGeom>
          <a:solidFill>
            <a:srgbClr val="E8F7F0"/>
          </a:solidFill>
          <a:ln w="12700">
            <a:solidFill>
              <a:srgbClr val="E8F7F0">
                <a:alpha val="0"/>
              </a:srgbClr>
            </a:solidFill>
            <a:prstDash val="solid"/>
          </a:ln>
        </p:spPr>
      </p:sp>
      <p:sp>
        <p:nvSpPr>
          <p:cNvPr id="24" name="Text 22"/>
          <p:cNvSpPr/>
          <p:nvPr/>
        </p:nvSpPr>
        <p:spPr>
          <a:xfrm>
            <a:off x="7360920" y="3566160"/>
            <a:ext cx="429768" cy="265176"/>
          </a:xfrm>
          <a:prstGeom prst="rect">
            <a:avLst/>
          </a:prstGeom>
          <a:noFill/>
          <a:ln/>
        </p:spPr>
        <p:txBody>
          <a:bodyPr wrap="square" lIns="0" tIns="0" rIns="0" bIns="0" rtlCol="0" anchor="ctr">
            <a:normAutofit/>
          </a:bodyPr>
          <a:lstStyle/>
          <a:p>
            <a:pPr algn="ctr" indent="0" marL="0">
              <a:lnSpc>
                <a:spcPct val="100000"/>
              </a:lnSpc>
              <a:buNone/>
            </a:pPr>
            <a:r>
              <a:rPr lang="en-US" sz="1010" b="1" dirty="0">
                <a:solidFill>
                  <a:srgbClr val="168363"/>
                </a:solidFill>
                <a:latin typeface="Aptos" pitchFamily="34" charset="0"/>
                <a:ea typeface="Aptos" pitchFamily="34" charset="-122"/>
                <a:cs typeface="Aptos" pitchFamily="34" charset="-120"/>
              </a:rPr>
              <a:t>PASS</a:t>
            </a:r>
            <a:endParaRPr lang="en-US" sz="1010" dirty="0"/>
          </a:p>
        </p:txBody>
      </p:sp>
      <p:sp>
        <p:nvSpPr>
          <p:cNvPr id="25" name="Shape 23"/>
          <p:cNvSpPr/>
          <p:nvPr/>
        </p:nvSpPr>
        <p:spPr>
          <a:xfrm>
            <a:off x="896112" y="4014216"/>
            <a:ext cx="7150608" cy="484632"/>
          </a:xfrm>
          <a:prstGeom prst="rect">
            <a:avLst>
              <a:gd name="adj" fmla="val 22642"/>
            </a:avLst>
          </a:prstGeom>
          <a:solidFill>
            <a:srgbClr val="F5F8FB"/>
          </a:solidFill>
          <a:ln w="12700">
            <a:solidFill>
              <a:srgbClr val="F5F8FB">
                <a:alpha val="0"/>
              </a:srgbClr>
            </a:solidFill>
            <a:prstDash val="solid"/>
          </a:ln>
        </p:spPr>
      </p:sp>
      <p:sp>
        <p:nvSpPr>
          <p:cNvPr id="26" name="Text 24"/>
          <p:cNvSpPr/>
          <p:nvPr/>
        </p:nvSpPr>
        <p:spPr>
          <a:xfrm>
            <a:off x="1060704" y="4096512"/>
            <a:ext cx="978408" cy="237744"/>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078E96"/>
                </a:solidFill>
                <a:latin typeface="Aptos" pitchFamily="34" charset="0"/>
                <a:ea typeface="Aptos" pitchFamily="34" charset="-122"/>
                <a:cs typeface="Aptos" pitchFamily="34" charset="-120"/>
              </a:rPr>
              <a:t>UAT-03</a:t>
            </a:r>
            <a:endParaRPr lang="en-US" sz="1100" dirty="0"/>
          </a:p>
        </p:txBody>
      </p:sp>
      <p:sp>
        <p:nvSpPr>
          <p:cNvPr id="27" name="Text 25"/>
          <p:cNvSpPr/>
          <p:nvPr/>
        </p:nvSpPr>
        <p:spPr>
          <a:xfrm>
            <a:off x="2103120" y="4087368"/>
            <a:ext cx="4718304" cy="237744"/>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244354"/>
                </a:solidFill>
                <a:latin typeface="Aptos" pitchFamily="34" charset="0"/>
                <a:ea typeface="Aptos" pitchFamily="34" charset="-122"/>
                <a:cs typeface="Aptos" pitchFamily="34" charset="-120"/>
              </a:rPr>
              <a:t>Energy total is not multiplied by joins</a:t>
            </a:r>
            <a:endParaRPr lang="en-US" sz="1250" dirty="0"/>
          </a:p>
        </p:txBody>
      </p:sp>
      <p:sp>
        <p:nvSpPr>
          <p:cNvPr id="28" name="Shape 26"/>
          <p:cNvSpPr/>
          <p:nvPr/>
        </p:nvSpPr>
        <p:spPr>
          <a:xfrm>
            <a:off x="7251192" y="4087368"/>
            <a:ext cx="649224" cy="283464"/>
          </a:xfrm>
          <a:prstGeom prst="roundRect">
            <a:avLst>
              <a:gd name="adj" fmla="val 38710"/>
            </a:avLst>
          </a:prstGeom>
          <a:solidFill>
            <a:srgbClr val="E8F7F0"/>
          </a:solidFill>
          <a:ln w="12700">
            <a:solidFill>
              <a:srgbClr val="E8F7F0">
                <a:alpha val="0"/>
              </a:srgbClr>
            </a:solidFill>
            <a:prstDash val="solid"/>
          </a:ln>
        </p:spPr>
      </p:sp>
      <p:sp>
        <p:nvSpPr>
          <p:cNvPr id="29" name="Text 27"/>
          <p:cNvSpPr/>
          <p:nvPr/>
        </p:nvSpPr>
        <p:spPr>
          <a:xfrm>
            <a:off x="7360920" y="4096512"/>
            <a:ext cx="429768" cy="265176"/>
          </a:xfrm>
          <a:prstGeom prst="rect">
            <a:avLst/>
          </a:prstGeom>
          <a:noFill/>
          <a:ln/>
        </p:spPr>
        <p:txBody>
          <a:bodyPr wrap="square" lIns="0" tIns="0" rIns="0" bIns="0" rtlCol="0" anchor="ctr">
            <a:normAutofit/>
          </a:bodyPr>
          <a:lstStyle/>
          <a:p>
            <a:pPr algn="ctr" indent="0" marL="0">
              <a:lnSpc>
                <a:spcPct val="100000"/>
              </a:lnSpc>
              <a:buNone/>
            </a:pPr>
            <a:r>
              <a:rPr lang="en-US" sz="1010" b="1" dirty="0">
                <a:solidFill>
                  <a:srgbClr val="168363"/>
                </a:solidFill>
                <a:latin typeface="Aptos" pitchFamily="34" charset="0"/>
                <a:ea typeface="Aptos" pitchFamily="34" charset="-122"/>
                <a:cs typeface="Aptos" pitchFamily="34" charset="-120"/>
              </a:rPr>
              <a:t>PASS</a:t>
            </a:r>
            <a:endParaRPr lang="en-US" sz="1010" dirty="0"/>
          </a:p>
        </p:txBody>
      </p:sp>
      <p:sp>
        <p:nvSpPr>
          <p:cNvPr id="30" name="Text 28"/>
          <p:cNvSpPr/>
          <p:nvPr/>
        </p:nvSpPr>
        <p:spPr>
          <a:xfrm>
            <a:off x="1060704" y="4626864"/>
            <a:ext cx="978408" cy="237744"/>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078E96"/>
                </a:solidFill>
                <a:latin typeface="Aptos" pitchFamily="34" charset="0"/>
                <a:ea typeface="Aptos" pitchFamily="34" charset="-122"/>
                <a:cs typeface="Aptos" pitchFamily="34" charset="-120"/>
              </a:rPr>
              <a:t>UAT-04</a:t>
            </a:r>
            <a:endParaRPr lang="en-US" sz="1100" dirty="0"/>
          </a:p>
        </p:txBody>
      </p:sp>
      <p:sp>
        <p:nvSpPr>
          <p:cNvPr id="31" name="Text 29"/>
          <p:cNvSpPr/>
          <p:nvPr/>
        </p:nvSpPr>
        <p:spPr>
          <a:xfrm>
            <a:off x="2103120" y="4617720"/>
            <a:ext cx="4718304" cy="237744"/>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244354"/>
                </a:solidFill>
                <a:latin typeface="Aptos" pitchFamily="34" charset="0"/>
                <a:ea typeface="Aptos" pitchFamily="34" charset="-122"/>
                <a:cs typeface="Aptos" pitchFamily="34" charset="-120"/>
              </a:rPr>
              <a:t>Defective inputs trigger quality failures</a:t>
            </a:r>
            <a:endParaRPr lang="en-US" sz="1250" dirty="0"/>
          </a:p>
        </p:txBody>
      </p:sp>
      <p:sp>
        <p:nvSpPr>
          <p:cNvPr id="32" name="Shape 30"/>
          <p:cNvSpPr/>
          <p:nvPr/>
        </p:nvSpPr>
        <p:spPr>
          <a:xfrm>
            <a:off x="7251192" y="4617720"/>
            <a:ext cx="649224" cy="283464"/>
          </a:xfrm>
          <a:prstGeom prst="roundRect">
            <a:avLst>
              <a:gd name="adj" fmla="val 38710"/>
            </a:avLst>
          </a:prstGeom>
          <a:solidFill>
            <a:srgbClr val="E8F7F0"/>
          </a:solidFill>
          <a:ln w="12700">
            <a:solidFill>
              <a:srgbClr val="E8F7F0">
                <a:alpha val="0"/>
              </a:srgbClr>
            </a:solidFill>
            <a:prstDash val="solid"/>
          </a:ln>
        </p:spPr>
      </p:sp>
      <p:sp>
        <p:nvSpPr>
          <p:cNvPr id="33" name="Text 31"/>
          <p:cNvSpPr/>
          <p:nvPr/>
        </p:nvSpPr>
        <p:spPr>
          <a:xfrm>
            <a:off x="7360920" y="4626864"/>
            <a:ext cx="429768" cy="265176"/>
          </a:xfrm>
          <a:prstGeom prst="rect">
            <a:avLst/>
          </a:prstGeom>
          <a:noFill/>
          <a:ln/>
        </p:spPr>
        <p:txBody>
          <a:bodyPr wrap="square" lIns="0" tIns="0" rIns="0" bIns="0" rtlCol="0" anchor="ctr">
            <a:normAutofit/>
          </a:bodyPr>
          <a:lstStyle/>
          <a:p>
            <a:pPr algn="ctr" indent="0" marL="0">
              <a:lnSpc>
                <a:spcPct val="100000"/>
              </a:lnSpc>
              <a:buNone/>
            </a:pPr>
            <a:r>
              <a:rPr lang="en-US" sz="1010" b="1" dirty="0">
                <a:solidFill>
                  <a:srgbClr val="168363"/>
                </a:solidFill>
                <a:latin typeface="Aptos" pitchFamily="34" charset="0"/>
                <a:ea typeface="Aptos" pitchFamily="34" charset="-122"/>
                <a:cs typeface="Aptos" pitchFamily="34" charset="-120"/>
              </a:rPr>
              <a:t>PASS</a:t>
            </a:r>
            <a:endParaRPr lang="en-US" sz="1010" dirty="0"/>
          </a:p>
        </p:txBody>
      </p:sp>
      <p:sp>
        <p:nvSpPr>
          <p:cNvPr id="34" name="Shape 32"/>
          <p:cNvSpPr/>
          <p:nvPr/>
        </p:nvSpPr>
        <p:spPr>
          <a:xfrm>
            <a:off x="896112" y="5074920"/>
            <a:ext cx="7150608" cy="484632"/>
          </a:xfrm>
          <a:prstGeom prst="rect">
            <a:avLst>
              <a:gd name="adj" fmla="val 22642"/>
            </a:avLst>
          </a:prstGeom>
          <a:solidFill>
            <a:srgbClr val="F5F8FB"/>
          </a:solidFill>
          <a:ln w="12700">
            <a:solidFill>
              <a:srgbClr val="F5F8FB">
                <a:alpha val="0"/>
              </a:srgbClr>
            </a:solidFill>
            <a:prstDash val="solid"/>
          </a:ln>
        </p:spPr>
      </p:sp>
      <p:sp>
        <p:nvSpPr>
          <p:cNvPr id="35" name="Text 33"/>
          <p:cNvSpPr/>
          <p:nvPr/>
        </p:nvSpPr>
        <p:spPr>
          <a:xfrm>
            <a:off x="1060704" y="5157216"/>
            <a:ext cx="978408" cy="237744"/>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078E96"/>
                </a:solidFill>
                <a:latin typeface="Aptos" pitchFamily="34" charset="0"/>
                <a:ea typeface="Aptos" pitchFamily="34" charset="-122"/>
                <a:cs typeface="Aptos" pitchFamily="34" charset="-120"/>
              </a:rPr>
              <a:t>UAT-05</a:t>
            </a:r>
            <a:endParaRPr lang="en-US" sz="1100" dirty="0"/>
          </a:p>
        </p:txBody>
      </p:sp>
      <p:sp>
        <p:nvSpPr>
          <p:cNvPr id="36" name="Text 34"/>
          <p:cNvSpPr/>
          <p:nvPr/>
        </p:nvSpPr>
        <p:spPr>
          <a:xfrm>
            <a:off x="2103120" y="5148072"/>
            <a:ext cx="4718304" cy="237744"/>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244354"/>
                </a:solidFill>
                <a:latin typeface="Aptos" pitchFamily="34" charset="0"/>
                <a:ea typeface="Aptos" pitchFamily="34" charset="-122"/>
                <a:cs typeface="Aptos" pitchFamily="34" charset="-120"/>
              </a:rPr>
              <a:t>SAP v1/v2 planning values agree</a:t>
            </a:r>
            <a:endParaRPr lang="en-US" sz="1250" dirty="0"/>
          </a:p>
        </p:txBody>
      </p:sp>
      <p:sp>
        <p:nvSpPr>
          <p:cNvPr id="37" name="Shape 35"/>
          <p:cNvSpPr/>
          <p:nvPr/>
        </p:nvSpPr>
        <p:spPr>
          <a:xfrm>
            <a:off x="7251192" y="5148072"/>
            <a:ext cx="649224" cy="283464"/>
          </a:xfrm>
          <a:prstGeom prst="roundRect">
            <a:avLst>
              <a:gd name="adj" fmla="val 38710"/>
            </a:avLst>
          </a:prstGeom>
          <a:solidFill>
            <a:srgbClr val="E8F7F0"/>
          </a:solidFill>
          <a:ln w="12700">
            <a:solidFill>
              <a:srgbClr val="E8F7F0">
                <a:alpha val="0"/>
              </a:srgbClr>
            </a:solidFill>
            <a:prstDash val="solid"/>
          </a:ln>
        </p:spPr>
      </p:sp>
      <p:sp>
        <p:nvSpPr>
          <p:cNvPr id="38" name="Text 36"/>
          <p:cNvSpPr/>
          <p:nvPr/>
        </p:nvSpPr>
        <p:spPr>
          <a:xfrm>
            <a:off x="7360920" y="5157216"/>
            <a:ext cx="429768" cy="265176"/>
          </a:xfrm>
          <a:prstGeom prst="rect">
            <a:avLst/>
          </a:prstGeom>
          <a:noFill/>
          <a:ln/>
        </p:spPr>
        <p:txBody>
          <a:bodyPr wrap="square" lIns="0" tIns="0" rIns="0" bIns="0" rtlCol="0" anchor="ctr">
            <a:normAutofit/>
          </a:bodyPr>
          <a:lstStyle/>
          <a:p>
            <a:pPr algn="ctr" indent="0" marL="0">
              <a:lnSpc>
                <a:spcPct val="100000"/>
              </a:lnSpc>
              <a:buNone/>
            </a:pPr>
            <a:r>
              <a:rPr lang="en-US" sz="1010" b="1" dirty="0">
                <a:solidFill>
                  <a:srgbClr val="168363"/>
                </a:solidFill>
                <a:latin typeface="Aptos" pitchFamily="34" charset="0"/>
                <a:ea typeface="Aptos" pitchFamily="34" charset="-122"/>
                <a:cs typeface="Aptos" pitchFamily="34" charset="-120"/>
              </a:rPr>
              <a:t>PASS</a:t>
            </a:r>
            <a:endParaRPr lang="en-US" sz="1010" dirty="0"/>
          </a:p>
        </p:txBody>
      </p:sp>
      <p:sp>
        <p:nvSpPr>
          <p:cNvPr id="39" name="Shape 37"/>
          <p:cNvSpPr/>
          <p:nvPr/>
        </p:nvSpPr>
        <p:spPr>
          <a:xfrm>
            <a:off x="8581644" y="1895551"/>
            <a:ext cx="3017520" cy="4142232"/>
          </a:xfrm>
          <a:prstGeom prst="roundRect">
            <a:avLst>
              <a:gd name="adj" fmla="val 3636"/>
            </a:avLst>
          </a:prstGeom>
          <a:solidFill>
            <a:srgbClr val="DCE7EC">
              <a:alpha val="50000"/>
            </a:srgbClr>
          </a:solidFill>
          <a:ln w="12700">
            <a:solidFill>
              <a:srgbClr val="DCE7EC">
                <a:alpha val="0"/>
              </a:srgbClr>
            </a:solidFill>
            <a:prstDash val="solid"/>
          </a:ln>
        </p:spPr>
      </p:sp>
      <p:sp>
        <p:nvSpPr>
          <p:cNvPr id="40" name="Shape 38"/>
          <p:cNvSpPr/>
          <p:nvPr/>
        </p:nvSpPr>
        <p:spPr>
          <a:xfrm>
            <a:off x="8558784" y="1856232"/>
            <a:ext cx="3017520" cy="4142232"/>
          </a:xfrm>
          <a:prstGeom prst="roundRect">
            <a:avLst>
              <a:gd name="adj" fmla="val 3636"/>
            </a:avLst>
          </a:prstGeom>
          <a:solidFill>
            <a:srgbClr val="FFFFFF"/>
          </a:solidFill>
          <a:ln w="8890">
            <a:solidFill>
              <a:srgbClr val="DCE6ED"/>
            </a:solidFill>
            <a:prstDash val="solid"/>
          </a:ln>
        </p:spPr>
      </p:sp>
      <p:sp>
        <p:nvSpPr>
          <p:cNvPr id="41" name="Shape 39"/>
          <p:cNvSpPr/>
          <p:nvPr/>
        </p:nvSpPr>
        <p:spPr>
          <a:xfrm>
            <a:off x="8558784" y="1856232"/>
            <a:ext cx="3017520" cy="77724"/>
          </a:xfrm>
          <a:prstGeom prst="rect">
            <a:avLst>
              <a:gd name="adj" fmla="val 141176"/>
            </a:avLst>
          </a:prstGeom>
          <a:solidFill>
            <a:srgbClr val="078E96"/>
          </a:solidFill>
          <a:ln w="12700">
            <a:solidFill>
              <a:srgbClr val="078E96">
                <a:alpha val="0"/>
              </a:srgbClr>
            </a:solidFill>
            <a:prstDash val="solid"/>
          </a:ln>
        </p:spPr>
      </p:sp>
      <p:sp>
        <p:nvSpPr>
          <p:cNvPr id="42" name="Text 40"/>
          <p:cNvSpPr/>
          <p:nvPr/>
        </p:nvSpPr>
        <p:spPr>
          <a:xfrm>
            <a:off x="8842248" y="2139696"/>
            <a:ext cx="2240280" cy="219456"/>
          </a:xfrm>
          <a:prstGeom prst="rect">
            <a:avLst/>
          </a:prstGeom>
          <a:noFill/>
          <a:ln/>
        </p:spPr>
        <p:txBody>
          <a:bodyPr wrap="square" lIns="0" tIns="0" rIns="0" bIns="0" rtlCol="0" anchor="ctr">
            <a:normAutofit/>
          </a:bodyPr>
          <a:lstStyle/>
          <a:p>
            <a:pPr algn="l" indent="0" marL="0">
              <a:lnSpc>
                <a:spcPct val="100000"/>
              </a:lnSpc>
              <a:buNone/>
            </a:pPr>
            <a:r>
              <a:rPr lang="en-US" sz="980" b="1" spc="145" kern="0" dirty="0">
                <a:solidFill>
                  <a:srgbClr val="078E96"/>
                </a:solidFill>
                <a:latin typeface="Aptos" pitchFamily="34" charset="0"/>
                <a:ea typeface="Aptos" pitchFamily="34" charset="-122"/>
                <a:cs typeface="Aptos" pitchFamily="34" charset="-120"/>
              </a:rPr>
              <a:t>OUTCOME</a:t>
            </a:r>
            <a:endParaRPr lang="en-US" sz="980" dirty="0"/>
          </a:p>
        </p:txBody>
      </p:sp>
      <p:sp>
        <p:nvSpPr>
          <p:cNvPr id="43" name="Text 41"/>
          <p:cNvSpPr/>
          <p:nvPr/>
        </p:nvSpPr>
        <p:spPr>
          <a:xfrm>
            <a:off x="8851392" y="2560320"/>
            <a:ext cx="2395728" cy="676656"/>
          </a:xfrm>
          <a:prstGeom prst="rect">
            <a:avLst/>
          </a:prstGeom>
          <a:noFill/>
          <a:ln/>
        </p:spPr>
        <p:txBody>
          <a:bodyPr wrap="square" lIns="0" tIns="0" rIns="0" bIns="0" rtlCol="0" anchor="ctr">
            <a:normAutofit/>
          </a:bodyPr>
          <a:lstStyle/>
          <a:p>
            <a:pPr algn="l" indent="0" marL="0">
              <a:lnSpc>
                <a:spcPct val="100000"/>
              </a:lnSpc>
              <a:buNone/>
            </a:pPr>
            <a:r>
              <a:rPr lang="en-US" sz="4600" b="1" dirty="0">
                <a:solidFill>
                  <a:srgbClr val="168363"/>
                </a:solidFill>
                <a:latin typeface="Aptos" pitchFamily="34" charset="0"/>
                <a:ea typeface="Aptos" pitchFamily="34" charset="-122"/>
                <a:cs typeface="Aptos" pitchFamily="34" charset="-120"/>
              </a:rPr>
              <a:t>5 / 5</a:t>
            </a:r>
            <a:endParaRPr lang="en-US" sz="4600" dirty="0"/>
          </a:p>
        </p:txBody>
      </p:sp>
      <p:sp>
        <p:nvSpPr>
          <p:cNvPr id="44" name="Text 42"/>
          <p:cNvSpPr/>
          <p:nvPr/>
        </p:nvSpPr>
        <p:spPr>
          <a:xfrm>
            <a:off x="8851392" y="3172968"/>
            <a:ext cx="2395728" cy="338328"/>
          </a:xfrm>
          <a:prstGeom prst="rect">
            <a:avLst/>
          </a:prstGeom>
          <a:noFill/>
          <a:ln/>
        </p:spPr>
        <p:txBody>
          <a:bodyPr wrap="square" lIns="0" tIns="0" rIns="0" bIns="0" rtlCol="0" anchor="ctr">
            <a:normAutofit/>
          </a:bodyPr>
          <a:lstStyle/>
          <a:p>
            <a:pPr algn="l" indent="0" marL="0">
              <a:lnSpc>
                <a:spcPct val="100000"/>
              </a:lnSpc>
              <a:buNone/>
            </a:pPr>
            <a:r>
              <a:rPr lang="en-US" sz="1620" b="1" dirty="0">
                <a:solidFill>
                  <a:srgbClr val="102738"/>
                </a:solidFill>
                <a:latin typeface="Aptos" pitchFamily="34" charset="0"/>
                <a:ea typeface="Aptos" pitchFamily="34" charset="-122"/>
                <a:cs typeface="Aptos" pitchFamily="34" charset="-120"/>
              </a:rPr>
              <a:t>checks passing</a:t>
            </a:r>
            <a:endParaRPr lang="en-US" sz="1620" dirty="0"/>
          </a:p>
        </p:txBody>
      </p:sp>
      <p:sp>
        <p:nvSpPr>
          <p:cNvPr id="45" name="Shape 43"/>
          <p:cNvSpPr/>
          <p:nvPr/>
        </p:nvSpPr>
        <p:spPr>
          <a:xfrm>
            <a:off x="8851392" y="3739896"/>
            <a:ext cx="2359152" cy="0"/>
          </a:xfrm>
          <a:prstGeom prst="line">
            <a:avLst/>
          </a:prstGeom>
          <a:noFill/>
          <a:ln w="11430">
            <a:solidFill>
              <a:srgbClr val="DCE6ED"/>
            </a:solidFill>
            <a:prstDash val="solid"/>
          </a:ln>
        </p:spPr>
      </p:sp>
      <p:sp>
        <p:nvSpPr>
          <p:cNvPr id="46" name="Shape 44"/>
          <p:cNvSpPr/>
          <p:nvPr/>
        </p:nvSpPr>
        <p:spPr>
          <a:xfrm>
            <a:off x="8869680" y="4050792"/>
            <a:ext cx="137160" cy="137160"/>
          </a:xfrm>
          <a:prstGeom prst="ellipse">
            <a:avLst/>
          </a:prstGeom>
          <a:solidFill>
            <a:srgbClr val="078E96"/>
          </a:solidFill>
          <a:ln w="12700">
            <a:solidFill>
              <a:srgbClr val="078E96">
                <a:alpha val="0"/>
              </a:srgbClr>
            </a:solidFill>
            <a:prstDash val="solid"/>
          </a:ln>
        </p:spPr>
      </p:sp>
      <p:sp>
        <p:nvSpPr>
          <p:cNvPr id="47" name="Text 45"/>
          <p:cNvSpPr/>
          <p:nvPr/>
        </p:nvSpPr>
        <p:spPr>
          <a:xfrm>
            <a:off x="8897112" y="4050792"/>
            <a:ext cx="82296" cy="118872"/>
          </a:xfrm>
          <a:prstGeom prst="rect">
            <a:avLst/>
          </a:prstGeom>
          <a:noFill/>
          <a:ln/>
        </p:spPr>
        <p:txBody>
          <a:bodyPr wrap="square" lIns="0" tIns="0" rIns="0" bIns="0" rtlCol="0" anchor="ctr">
            <a:normAutofit/>
          </a:bodyPr>
          <a:lstStyle/>
          <a:p>
            <a:pPr algn="ctr" indent="0" marL="0">
              <a:lnSpc>
                <a:spcPct val="100000"/>
              </a:lnSpc>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48" name="Text 46"/>
          <p:cNvSpPr/>
          <p:nvPr/>
        </p:nvSpPr>
        <p:spPr>
          <a:xfrm>
            <a:off x="9144000" y="3959352"/>
            <a:ext cx="2048256" cy="256032"/>
          </a:xfrm>
          <a:prstGeom prst="rect">
            <a:avLst/>
          </a:prstGeom>
          <a:noFill/>
          <a:ln/>
        </p:spPr>
        <p:txBody>
          <a:bodyPr wrap="square" lIns="0" tIns="0" rIns="0" bIns="0" rtlCol="0" anchor="ctr">
            <a:normAutofit/>
          </a:bodyPr>
          <a:lstStyle/>
          <a:p>
            <a:pPr algn="l" indent="0" marL="0">
              <a:lnSpc>
                <a:spcPct val="100000"/>
              </a:lnSpc>
              <a:buNone/>
            </a:pPr>
            <a:r>
              <a:rPr lang="en-US" sz="1220" b="1" dirty="0">
                <a:solidFill>
                  <a:srgbClr val="244354"/>
                </a:solidFill>
                <a:latin typeface="Aptos" pitchFamily="34" charset="0"/>
                <a:ea typeface="Aptos" pitchFamily="34" charset="-122"/>
                <a:cs typeface="Aptos" pitchFamily="34" charset="-120"/>
              </a:rPr>
              <a:t>Validated inputs</a:t>
            </a:r>
            <a:endParaRPr lang="en-US" sz="1220" dirty="0"/>
          </a:p>
        </p:txBody>
      </p:sp>
      <p:sp>
        <p:nvSpPr>
          <p:cNvPr id="49" name="Shape 47"/>
          <p:cNvSpPr/>
          <p:nvPr/>
        </p:nvSpPr>
        <p:spPr>
          <a:xfrm>
            <a:off x="8869680" y="4562856"/>
            <a:ext cx="137160" cy="137160"/>
          </a:xfrm>
          <a:prstGeom prst="ellipse">
            <a:avLst/>
          </a:prstGeom>
          <a:solidFill>
            <a:srgbClr val="078E96"/>
          </a:solidFill>
          <a:ln w="12700">
            <a:solidFill>
              <a:srgbClr val="078E96">
                <a:alpha val="0"/>
              </a:srgbClr>
            </a:solidFill>
            <a:prstDash val="solid"/>
          </a:ln>
        </p:spPr>
      </p:sp>
      <p:sp>
        <p:nvSpPr>
          <p:cNvPr id="50" name="Text 48"/>
          <p:cNvSpPr/>
          <p:nvPr/>
        </p:nvSpPr>
        <p:spPr>
          <a:xfrm>
            <a:off x="8897112" y="4562856"/>
            <a:ext cx="82296" cy="118872"/>
          </a:xfrm>
          <a:prstGeom prst="rect">
            <a:avLst/>
          </a:prstGeom>
          <a:noFill/>
          <a:ln/>
        </p:spPr>
        <p:txBody>
          <a:bodyPr wrap="square" lIns="0" tIns="0" rIns="0" bIns="0" rtlCol="0" anchor="ctr">
            <a:normAutofit/>
          </a:bodyPr>
          <a:lstStyle/>
          <a:p>
            <a:pPr algn="ctr" indent="0" marL="0">
              <a:lnSpc>
                <a:spcPct val="100000"/>
              </a:lnSpc>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51" name="Text 49"/>
          <p:cNvSpPr/>
          <p:nvPr/>
        </p:nvSpPr>
        <p:spPr>
          <a:xfrm>
            <a:off x="9144000" y="4471416"/>
            <a:ext cx="2048256" cy="256032"/>
          </a:xfrm>
          <a:prstGeom prst="rect">
            <a:avLst/>
          </a:prstGeom>
          <a:noFill/>
          <a:ln/>
        </p:spPr>
        <p:txBody>
          <a:bodyPr wrap="square" lIns="0" tIns="0" rIns="0" bIns="0" rtlCol="0" anchor="ctr">
            <a:normAutofit/>
          </a:bodyPr>
          <a:lstStyle/>
          <a:p>
            <a:pPr algn="l" indent="0" marL="0">
              <a:lnSpc>
                <a:spcPct val="100000"/>
              </a:lnSpc>
              <a:buNone/>
            </a:pPr>
            <a:r>
              <a:rPr lang="en-US" sz="1220" b="1" dirty="0">
                <a:solidFill>
                  <a:srgbClr val="244354"/>
                </a:solidFill>
                <a:latin typeface="Aptos" pitchFamily="34" charset="0"/>
                <a:ea typeface="Aptos" pitchFamily="34" charset="-122"/>
                <a:cs typeface="Aptos" pitchFamily="34" charset="-120"/>
              </a:rPr>
              <a:t>Stable changes</a:t>
            </a:r>
            <a:endParaRPr lang="en-US" sz="1220" dirty="0"/>
          </a:p>
        </p:txBody>
      </p:sp>
      <p:sp>
        <p:nvSpPr>
          <p:cNvPr id="52" name="Shape 50"/>
          <p:cNvSpPr/>
          <p:nvPr/>
        </p:nvSpPr>
        <p:spPr>
          <a:xfrm>
            <a:off x="8869680" y="5074920"/>
            <a:ext cx="137160" cy="137160"/>
          </a:xfrm>
          <a:prstGeom prst="ellipse">
            <a:avLst/>
          </a:prstGeom>
          <a:solidFill>
            <a:srgbClr val="078E96"/>
          </a:solidFill>
          <a:ln w="12700">
            <a:solidFill>
              <a:srgbClr val="078E96">
                <a:alpha val="0"/>
              </a:srgbClr>
            </a:solidFill>
            <a:prstDash val="solid"/>
          </a:ln>
        </p:spPr>
      </p:sp>
      <p:sp>
        <p:nvSpPr>
          <p:cNvPr id="53" name="Text 51"/>
          <p:cNvSpPr/>
          <p:nvPr/>
        </p:nvSpPr>
        <p:spPr>
          <a:xfrm>
            <a:off x="8897112" y="5074920"/>
            <a:ext cx="82296" cy="118872"/>
          </a:xfrm>
          <a:prstGeom prst="rect">
            <a:avLst/>
          </a:prstGeom>
          <a:noFill/>
          <a:ln/>
        </p:spPr>
        <p:txBody>
          <a:bodyPr wrap="square" lIns="0" tIns="0" rIns="0" bIns="0" rtlCol="0" anchor="ctr">
            <a:normAutofit/>
          </a:bodyPr>
          <a:lstStyle/>
          <a:p>
            <a:pPr algn="ctr" indent="0" marL="0">
              <a:lnSpc>
                <a:spcPct val="100000"/>
              </a:lnSpc>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54" name="Text 52"/>
          <p:cNvSpPr/>
          <p:nvPr/>
        </p:nvSpPr>
        <p:spPr>
          <a:xfrm>
            <a:off x="9144000" y="4983480"/>
            <a:ext cx="2048256" cy="256032"/>
          </a:xfrm>
          <a:prstGeom prst="rect">
            <a:avLst/>
          </a:prstGeom>
          <a:noFill/>
          <a:ln/>
        </p:spPr>
        <p:txBody>
          <a:bodyPr wrap="square" lIns="0" tIns="0" rIns="0" bIns="0" rtlCol="0" anchor="ctr">
            <a:normAutofit/>
          </a:bodyPr>
          <a:lstStyle/>
          <a:p>
            <a:pPr algn="l" indent="0" marL="0">
              <a:lnSpc>
                <a:spcPct val="100000"/>
              </a:lnSpc>
              <a:buNone/>
            </a:pPr>
            <a:r>
              <a:rPr lang="en-US" sz="1220" b="1" dirty="0">
                <a:solidFill>
                  <a:srgbClr val="244354"/>
                </a:solidFill>
                <a:latin typeface="Aptos" pitchFamily="34" charset="0"/>
                <a:ea typeface="Aptos" pitchFamily="34" charset="-122"/>
                <a:cs typeface="Aptos" pitchFamily="34" charset="-120"/>
              </a:rPr>
              <a:t>Trusted outputs</a:t>
            </a:r>
            <a:endParaRPr lang="en-US" sz="1220" dirty="0"/>
          </a:p>
        </p:txBody>
      </p:sp>
      <p:sp>
        <p:nvSpPr>
          <p:cNvPr id="55" name="Text 53"/>
          <p:cNvSpPr/>
          <p:nvPr/>
        </p:nvSpPr>
        <p:spPr>
          <a:xfrm>
            <a:off x="8842248" y="5541264"/>
            <a:ext cx="2286000" cy="320040"/>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627889"/>
                </a:solidFill>
                <a:latin typeface="Aptos" pitchFamily="34" charset="0"/>
                <a:ea typeface="Aptos" pitchFamily="34" charset="-122"/>
                <a:cs typeface="Aptos" pitchFamily="34" charset="-120"/>
              </a:rPr>
              <a:t>Formal business-owner sign-off is out of scope for this PoC.</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gd name="adj" fmla="val 160000"/>
            </a:avLst>
          </a:prstGeom>
          <a:solidFill>
            <a:srgbClr val="102738"/>
          </a:solidFill>
          <a:ln w="12700">
            <a:solidFill>
              <a:srgbClr val="102738">
                <a:alpha val="0"/>
              </a:srgbClr>
            </a:solidFill>
            <a:prstDash val="solid"/>
          </a:ln>
        </p:spPr>
      </p:sp>
      <p:sp>
        <p:nvSpPr>
          <p:cNvPr id="3" name="Shape 1"/>
          <p:cNvSpPr/>
          <p:nvPr/>
        </p:nvSpPr>
        <p:spPr>
          <a:xfrm>
            <a:off x="0" y="0"/>
            <a:ext cx="12191695" cy="68580"/>
          </a:xfrm>
          <a:prstGeom prst="rect">
            <a:avLst>
              <a:gd name="adj" fmla="val 160000"/>
            </a:avLst>
          </a:prstGeom>
          <a:solidFill>
            <a:srgbClr val="17B8B3"/>
          </a:solidFill>
          <a:ln w="12700">
            <a:solidFill>
              <a:srgbClr val="17B8B3">
                <a:alpha val="0"/>
              </a:srgbClr>
            </a:solidFill>
            <a:prstDash val="solid"/>
          </a:ln>
        </p:spPr>
      </p:sp>
      <p:sp>
        <p:nvSpPr>
          <p:cNvPr id="4" name="Text 2"/>
          <p:cNvSpPr/>
          <p:nvPr/>
        </p:nvSpPr>
        <p:spPr>
          <a:xfrm>
            <a:off x="585216" y="256032"/>
            <a:ext cx="8686800" cy="219456"/>
          </a:xfrm>
          <a:prstGeom prst="rect">
            <a:avLst/>
          </a:prstGeom>
          <a:noFill/>
          <a:ln/>
        </p:spPr>
        <p:txBody>
          <a:bodyPr wrap="square" lIns="0" tIns="0" rIns="0" bIns="0" rtlCol="0" anchor="ctr">
            <a:normAutofit/>
          </a:bodyPr>
          <a:lstStyle/>
          <a:p>
            <a:pPr algn="l" indent="0" marL="0">
              <a:lnSpc>
                <a:spcPct val="100000"/>
              </a:lnSpc>
              <a:buNone/>
            </a:pPr>
            <a:r>
              <a:rPr lang="en-US" sz="910" b="1" spc="120" kern="0" dirty="0">
                <a:solidFill>
                  <a:srgbClr val="627889"/>
                </a:solidFill>
                <a:latin typeface="Aptos" pitchFamily="34" charset="0"/>
                <a:ea typeface="Aptos" pitchFamily="34" charset="-122"/>
                <a:cs typeface="Aptos" pitchFamily="34" charset="-120"/>
              </a:rPr>
              <a:t>GLASSOPS 360  /  ROLE FIT / CONCLUSION</a:t>
            </a:r>
            <a:endParaRPr lang="en-US" sz="910" dirty="0"/>
          </a:p>
        </p:txBody>
      </p:sp>
      <p:sp>
        <p:nvSpPr>
          <p:cNvPr id="5" name="Text 3"/>
          <p:cNvSpPr/>
          <p:nvPr/>
        </p:nvSpPr>
        <p:spPr>
          <a:xfrm>
            <a:off x="594360" y="658368"/>
            <a:ext cx="10607040" cy="493776"/>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02738"/>
                </a:solidFill>
                <a:latin typeface="Aptos" pitchFamily="34" charset="0"/>
                <a:ea typeface="Aptos" pitchFamily="34" charset="-122"/>
                <a:cs typeface="Aptos" pitchFamily="34" charset="-120"/>
              </a:rPr>
              <a:t>From job requirements to working evidence</a:t>
            </a:r>
            <a:endParaRPr lang="en-US" sz="3000" dirty="0"/>
          </a:p>
        </p:txBody>
      </p:sp>
      <p:sp>
        <p:nvSpPr>
          <p:cNvPr id="6" name="Text 4"/>
          <p:cNvSpPr/>
          <p:nvPr/>
        </p:nvSpPr>
        <p:spPr>
          <a:xfrm>
            <a:off x="603504" y="1225296"/>
            <a:ext cx="10927080" cy="329184"/>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627889"/>
                </a:solidFill>
                <a:latin typeface="Aptos" pitchFamily="34" charset="0"/>
                <a:ea typeface="Aptos" pitchFamily="34" charset="-122"/>
                <a:cs typeface="Aptos" pitchFamily="34" charset="-120"/>
              </a:rPr>
              <a:t>A direct crosswalk between the role and the GlassOps 360 deliverables.</a:t>
            </a:r>
            <a:endParaRPr lang="en-US" sz="1350" dirty="0"/>
          </a:p>
        </p:txBody>
      </p:sp>
      <p:sp>
        <p:nvSpPr>
          <p:cNvPr id="7" name="Shape 5"/>
          <p:cNvSpPr/>
          <p:nvPr/>
        </p:nvSpPr>
        <p:spPr>
          <a:xfrm>
            <a:off x="594360" y="6382512"/>
            <a:ext cx="11018520" cy="0"/>
          </a:xfrm>
          <a:prstGeom prst="line">
            <a:avLst/>
          </a:prstGeom>
          <a:noFill/>
          <a:ln w="11430">
            <a:solidFill>
              <a:srgbClr val="DCE6ED"/>
            </a:solidFill>
            <a:prstDash val="solid"/>
          </a:ln>
        </p:spPr>
      </p:sp>
      <p:sp>
        <p:nvSpPr>
          <p:cNvPr id="8" name="Text 6"/>
          <p:cNvSpPr/>
          <p:nvPr/>
        </p:nvSpPr>
        <p:spPr>
          <a:xfrm>
            <a:off x="594360" y="6492240"/>
            <a:ext cx="9784080" cy="164592"/>
          </a:xfrm>
          <a:prstGeom prst="rect">
            <a:avLst/>
          </a:prstGeom>
          <a:noFill/>
          <a:ln/>
        </p:spPr>
        <p:txBody>
          <a:bodyPr wrap="square" lIns="0" tIns="0" rIns="0" bIns="0" rtlCol="0" anchor="ctr">
            <a:normAutofit/>
          </a:bodyPr>
          <a:lstStyle/>
          <a:p>
            <a:pPr algn="l" indent="0" marL="0">
              <a:lnSpc>
                <a:spcPct val="100000"/>
              </a:lnSpc>
              <a:buNone/>
            </a:pPr>
            <a:r>
              <a:rPr lang="en-US" sz="830" dirty="0">
                <a:solidFill>
                  <a:srgbClr val="8DA1AE"/>
                </a:solidFill>
                <a:latin typeface="Aptos" pitchFamily="34" charset="0"/>
                <a:ea typeface="Aptos" pitchFamily="34" charset="-122"/>
                <a:cs typeface="Aptos" pitchFamily="34" charset="-120"/>
              </a:rPr>
              <a:t>SYNTHETIC PORTFOLIO DEMO  ·  NOT A REAL COMPANY OR SAP SYSTEM</a:t>
            </a:r>
            <a:endParaRPr lang="en-US" sz="830" dirty="0"/>
          </a:p>
        </p:txBody>
      </p:sp>
      <p:sp>
        <p:nvSpPr>
          <p:cNvPr id="9" name="Text 7"/>
          <p:cNvSpPr/>
          <p:nvPr/>
        </p:nvSpPr>
        <p:spPr>
          <a:xfrm>
            <a:off x="10652760" y="6473952"/>
            <a:ext cx="914400" cy="201168"/>
          </a:xfrm>
          <a:prstGeom prst="rect">
            <a:avLst/>
          </a:prstGeom>
          <a:noFill/>
          <a:ln/>
        </p:spPr>
        <p:txBody>
          <a:bodyPr wrap="square" lIns="0" tIns="0" rIns="0" bIns="0" rtlCol="0" anchor="ctr">
            <a:normAutofit/>
          </a:bodyPr>
          <a:lstStyle/>
          <a:p>
            <a:pPr algn="r" indent="0" marL="0">
              <a:lnSpc>
                <a:spcPct val="100000"/>
              </a:lnSpc>
              <a:buNone/>
            </a:pPr>
            <a:r>
              <a:rPr lang="en-US" sz="910" b="1" dirty="0">
                <a:solidFill>
                  <a:srgbClr val="627889"/>
                </a:solidFill>
                <a:latin typeface="Aptos" pitchFamily="34" charset="0"/>
                <a:ea typeface="Aptos" pitchFamily="34" charset="-122"/>
                <a:cs typeface="Aptos" pitchFamily="34" charset="-120"/>
              </a:rPr>
              <a:t>09 / 09</a:t>
            </a:r>
            <a:endParaRPr lang="en-US" sz="910" dirty="0"/>
          </a:p>
        </p:txBody>
      </p:sp>
      <p:sp>
        <p:nvSpPr>
          <p:cNvPr id="10" name="Shape 8"/>
          <p:cNvSpPr/>
          <p:nvPr/>
        </p:nvSpPr>
        <p:spPr>
          <a:xfrm>
            <a:off x="626364" y="1822399"/>
            <a:ext cx="6291072" cy="3941064"/>
          </a:xfrm>
          <a:prstGeom prst="roundRect">
            <a:avLst>
              <a:gd name="adj" fmla="val 2784"/>
            </a:avLst>
          </a:prstGeom>
          <a:solidFill>
            <a:srgbClr val="DCE7EC">
              <a:alpha val="50000"/>
            </a:srgbClr>
          </a:solidFill>
          <a:ln w="12700">
            <a:solidFill>
              <a:srgbClr val="DCE7EC">
                <a:alpha val="0"/>
              </a:srgbClr>
            </a:solidFill>
            <a:prstDash val="solid"/>
          </a:ln>
        </p:spPr>
      </p:sp>
      <p:sp>
        <p:nvSpPr>
          <p:cNvPr id="11" name="Shape 9"/>
          <p:cNvSpPr/>
          <p:nvPr/>
        </p:nvSpPr>
        <p:spPr>
          <a:xfrm>
            <a:off x="603504" y="1783080"/>
            <a:ext cx="6291072" cy="3941064"/>
          </a:xfrm>
          <a:prstGeom prst="roundRect">
            <a:avLst>
              <a:gd name="adj" fmla="val 2784"/>
            </a:avLst>
          </a:prstGeom>
          <a:solidFill>
            <a:srgbClr val="FFFFFF"/>
          </a:solidFill>
          <a:ln w="8890">
            <a:solidFill>
              <a:srgbClr val="DCE6ED"/>
            </a:solidFill>
            <a:prstDash val="solid"/>
          </a:ln>
        </p:spPr>
      </p:sp>
      <p:sp>
        <p:nvSpPr>
          <p:cNvPr id="12" name="Shape 10"/>
          <p:cNvSpPr/>
          <p:nvPr/>
        </p:nvSpPr>
        <p:spPr>
          <a:xfrm>
            <a:off x="603504" y="1783080"/>
            <a:ext cx="6291072" cy="77724"/>
          </a:xfrm>
          <a:prstGeom prst="rect">
            <a:avLst>
              <a:gd name="adj" fmla="val 141176"/>
            </a:avLst>
          </a:prstGeom>
          <a:solidFill>
            <a:srgbClr val="078E96"/>
          </a:solidFill>
          <a:ln w="12700">
            <a:solidFill>
              <a:srgbClr val="078E96">
                <a:alpha val="0"/>
              </a:srgbClr>
            </a:solidFill>
            <a:prstDash val="solid"/>
          </a:ln>
        </p:spPr>
      </p:sp>
      <p:sp>
        <p:nvSpPr>
          <p:cNvPr id="13" name="Shape 11"/>
          <p:cNvSpPr/>
          <p:nvPr/>
        </p:nvSpPr>
        <p:spPr>
          <a:xfrm>
            <a:off x="7127748" y="1822399"/>
            <a:ext cx="4480560" cy="3941064"/>
          </a:xfrm>
          <a:prstGeom prst="roundRect">
            <a:avLst>
              <a:gd name="adj" fmla="val 2784"/>
            </a:avLst>
          </a:prstGeom>
          <a:solidFill>
            <a:srgbClr val="DCE7EC">
              <a:alpha val="50000"/>
            </a:srgbClr>
          </a:solidFill>
          <a:ln w="12700">
            <a:solidFill>
              <a:srgbClr val="DCE7EC">
                <a:alpha val="0"/>
              </a:srgbClr>
            </a:solidFill>
            <a:prstDash val="solid"/>
          </a:ln>
        </p:spPr>
      </p:sp>
      <p:sp>
        <p:nvSpPr>
          <p:cNvPr id="14" name="Shape 12"/>
          <p:cNvSpPr/>
          <p:nvPr/>
        </p:nvSpPr>
        <p:spPr>
          <a:xfrm>
            <a:off x="7104888" y="1783080"/>
            <a:ext cx="4480560" cy="3941064"/>
          </a:xfrm>
          <a:prstGeom prst="roundRect">
            <a:avLst>
              <a:gd name="adj" fmla="val 2784"/>
            </a:avLst>
          </a:prstGeom>
          <a:solidFill>
            <a:srgbClr val="FFFFFF"/>
          </a:solidFill>
          <a:ln w="8890">
            <a:solidFill>
              <a:srgbClr val="DCE6ED"/>
            </a:solidFill>
            <a:prstDash val="solid"/>
          </a:ln>
        </p:spPr>
      </p:sp>
      <p:sp>
        <p:nvSpPr>
          <p:cNvPr id="15" name="Shape 13"/>
          <p:cNvSpPr/>
          <p:nvPr/>
        </p:nvSpPr>
        <p:spPr>
          <a:xfrm>
            <a:off x="7104888" y="1783080"/>
            <a:ext cx="4480560" cy="77724"/>
          </a:xfrm>
          <a:prstGeom prst="rect">
            <a:avLst>
              <a:gd name="adj" fmla="val 141176"/>
            </a:avLst>
          </a:prstGeom>
          <a:solidFill>
            <a:srgbClr val="4074E8"/>
          </a:solidFill>
          <a:ln w="12700">
            <a:solidFill>
              <a:srgbClr val="4074E8">
                <a:alpha val="0"/>
              </a:srgbClr>
            </a:solidFill>
            <a:prstDash val="solid"/>
          </a:ln>
        </p:spPr>
      </p:sp>
      <p:sp>
        <p:nvSpPr>
          <p:cNvPr id="16" name="Text 14"/>
          <p:cNvSpPr/>
          <p:nvPr/>
        </p:nvSpPr>
        <p:spPr>
          <a:xfrm>
            <a:off x="850392" y="1956816"/>
            <a:ext cx="3163824" cy="219456"/>
          </a:xfrm>
          <a:prstGeom prst="rect">
            <a:avLst/>
          </a:prstGeom>
          <a:noFill/>
          <a:ln/>
        </p:spPr>
        <p:txBody>
          <a:bodyPr wrap="square" lIns="0" tIns="0" rIns="0" bIns="0" rtlCol="0" anchor="ctr">
            <a:normAutofit/>
          </a:bodyPr>
          <a:lstStyle/>
          <a:p>
            <a:pPr algn="l" indent="0" marL="0">
              <a:lnSpc>
                <a:spcPct val="100000"/>
              </a:lnSpc>
              <a:buNone/>
            </a:pPr>
            <a:r>
              <a:rPr lang="en-US" sz="970" b="1" spc="100" kern="0" dirty="0">
                <a:solidFill>
                  <a:srgbClr val="078E96"/>
                </a:solidFill>
                <a:latin typeface="Aptos" pitchFamily="34" charset="0"/>
                <a:ea typeface="Aptos" pitchFamily="34" charset="-122"/>
                <a:cs typeface="Aptos" pitchFamily="34" charset="-120"/>
              </a:rPr>
              <a:t>ROLE RESPONSIBILITIES</a:t>
            </a:r>
            <a:endParaRPr lang="en-US" sz="970" dirty="0"/>
          </a:p>
        </p:txBody>
      </p:sp>
      <p:sp>
        <p:nvSpPr>
          <p:cNvPr id="17" name="Shape 15"/>
          <p:cNvSpPr/>
          <p:nvPr/>
        </p:nvSpPr>
        <p:spPr>
          <a:xfrm>
            <a:off x="5495544" y="1947672"/>
            <a:ext cx="1106424" cy="283464"/>
          </a:xfrm>
          <a:prstGeom prst="roundRect">
            <a:avLst>
              <a:gd name="adj" fmla="val 38710"/>
            </a:avLst>
          </a:prstGeom>
          <a:solidFill>
            <a:srgbClr val="E7F8F5"/>
          </a:solidFill>
          <a:ln w="12700">
            <a:solidFill>
              <a:srgbClr val="E7F8F5">
                <a:alpha val="0"/>
              </a:srgbClr>
            </a:solidFill>
            <a:prstDash val="solid"/>
          </a:ln>
        </p:spPr>
      </p:sp>
      <p:sp>
        <p:nvSpPr>
          <p:cNvPr id="18" name="Text 16"/>
          <p:cNvSpPr/>
          <p:nvPr/>
        </p:nvSpPr>
        <p:spPr>
          <a:xfrm>
            <a:off x="5605272" y="1956816"/>
            <a:ext cx="886968" cy="265176"/>
          </a:xfrm>
          <a:prstGeom prst="rect">
            <a:avLst/>
          </a:prstGeom>
          <a:noFill/>
          <a:ln/>
        </p:spPr>
        <p:txBody>
          <a:bodyPr wrap="square" lIns="0" tIns="0" rIns="0" bIns="0" rtlCol="0" anchor="ctr">
            <a:normAutofit/>
          </a:bodyPr>
          <a:lstStyle/>
          <a:p>
            <a:pPr algn="ctr" indent="0" marL="0">
              <a:lnSpc>
                <a:spcPct val="100000"/>
              </a:lnSpc>
              <a:buNone/>
            </a:pPr>
            <a:r>
              <a:rPr lang="en-US" sz="920" b="1" dirty="0">
                <a:solidFill>
                  <a:srgbClr val="078E96"/>
                </a:solidFill>
                <a:latin typeface="Aptos" pitchFamily="34" charset="0"/>
                <a:ea typeface="Aptos" pitchFamily="34" charset="-122"/>
                <a:cs typeface="Aptos" pitchFamily="34" charset="-120"/>
              </a:rPr>
              <a:t>9 AREAS</a:t>
            </a:r>
            <a:endParaRPr lang="en-US" sz="920" dirty="0"/>
          </a:p>
        </p:txBody>
      </p:sp>
      <p:sp>
        <p:nvSpPr>
          <p:cNvPr id="19" name="Text 17"/>
          <p:cNvSpPr/>
          <p:nvPr/>
        </p:nvSpPr>
        <p:spPr>
          <a:xfrm>
            <a:off x="1115568" y="2295144"/>
            <a:ext cx="1719072" cy="210312"/>
          </a:xfrm>
          <a:prstGeom prst="rect">
            <a:avLst/>
          </a:prstGeom>
          <a:noFill/>
          <a:ln/>
        </p:spPr>
        <p:txBody>
          <a:bodyPr wrap="square" lIns="0" tIns="0" rIns="0" bIns="0" rtlCol="0" anchor="ctr">
            <a:normAutofit/>
          </a:bodyPr>
          <a:lstStyle/>
          <a:p>
            <a:pPr algn="l" indent="0" marL="0">
              <a:lnSpc>
                <a:spcPct val="100000"/>
              </a:lnSpc>
              <a:buNone/>
            </a:pPr>
            <a:r>
              <a:rPr lang="en-US" sz="910" b="1" spc="40" kern="0" dirty="0">
                <a:solidFill>
                  <a:srgbClr val="627889"/>
                </a:solidFill>
                <a:latin typeface="Aptos" pitchFamily="34" charset="0"/>
                <a:ea typeface="Aptos" pitchFamily="34" charset="-122"/>
                <a:cs typeface="Aptos" pitchFamily="34" charset="-120"/>
              </a:rPr>
              <a:t>ROLE EXPECTATION</a:t>
            </a:r>
            <a:endParaRPr lang="en-US" sz="910" dirty="0"/>
          </a:p>
        </p:txBody>
      </p:sp>
      <p:sp>
        <p:nvSpPr>
          <p:cNvPr id="20" name="Text 18"/>
          <p:cNvSpPr/>
          <p:nvPr/>
        </p:nvSpPr>
        <p:spPr>
          <a:xfrm>
            <a:off x="3090672" y="2295144"/>
            <a:ext cx="3383280" cy="210312"/>
          </a:xfrm>
          <a:prstGeom prst="rect">
            <a:avLst/>
          </a:prstGeom>
          <a:noFill/>
          <a:ln/>
        </p:spPr>
        <p:txBody>
          <a:bodyPr wrap="square" lIns="0" tIns="0" rIns="0" bIns="0" rtlCol="0" anchor="ctr">
            <a:normAutofit/>
          </a:bodyPr>
          <a:lstStyle/>
          <a:p>
            <a:pPr algn="l" indent="0" marL="0">
              <a:lnSpc>
                <a:spcPct val="100000"/>
              </a:lnSpc>
              <a:buNone/>
            </a:pPr>
            <a:r>
              <a:rPr lang="en-US" sz="910" b="1" spc="35" kern="0" dirty="0">
                <a:solidFill>
                  <a:srgbClr val="627889"/>
                </a:solidFill>
                <a:latin typeface="Aptos" pitchFamily="34" charset="0"/>
                <a:ea typeface="Aptos" pitchFamily="34" charset="-122"/>
                <a:cs typeface="Aptos" pitchFamily="34" charset="-120"/>
              </a:rPr>
              <a:t>GLASSOPS 360 EVIDENCE</a:t>
            </a:r>
            <a:endParaRPr lang="en-US" sz="910" dirty="0"/>
          </a:p>
        </p:txBody>
      </p:sp>
      <p:sp>
        <p:nvSpPr>
          <p:cNvPr id="21" name="Shape 19"/>
          <p:cNvSpPr/>
          <p:nvPr/>
        </p:nvSpPr>
        <p:spPr>
          <a:xfrm>
            <a:off x="850392" y="2532888"/>
            <a:ext cx="5769864" cy="0"/>
          </a:xfrm>
          <a:prstGeom prst="line">
            <a:avLst/>
          </a:prstGeom>
          <a:noFill/>
          <a:ln w="11430">
            <a:solidFill>
              <a:srgbClr val="DCE6ED"/>
            </a:solidFill>
            <a:prstDash val="solid"/>
          </a:ln>
        </p:spPr>
      </p:sp>
      <p:sp>
        <p:nvSpPr>
          <p:cNvPr id="22" name="Text 20"/>
          <p:cNvSpPr/>
          <p:nvPr/>
        </p:nvSpPr>
        <p:spPr>
          <a:xfrm>
            <a:off x="7360920" y="1956816"/>
            <a:ext cx="3429000" cy="219456"/>
          </a:xfrm>
          <a:prstGeom prst="rect">
            <a:avLst/>
          </a:prstGeom>
          <a:noFill/>
          <a:ln/>
        </p:spPr>
        <p:txBody>
          <a:bodyPr wrap="square" lIns="0" tIns="0" rIns="0" bIns="0" rtlCol="0" anchor="ctr">
            <a:normAutofit/>
          </a:bodyPr>
          <a:lstStyle/>
          <a:p>
            <a:pPr algn="l" indent="0" marL="0">
              <a:lnSpc>
                <a:spcPct val="100000"/>
              </a:lnSpc>
              <a:buNone/>
            </a:pPr>
            <a:r>
              <a:rPr lang="en-US" sz="965" b="1" spc="95" kern="0" dirty="0">
                <a:solidFill>
                  <a:srgbClr val="4074E8"/>
                </a:solidFill>
                <a:latin typeface="Aptos" pitchFamily="34" charset="0"/>
                <a:ea typeface="Aptos" pitchFamily="34" charset="-122"/>
                <a:cs typeface="Aptos" pitchFamily="34" charset="-120"/>
              </a:rPr>
              <a:t>ALL ABOUT YOU  /  PROFILE</a:t>
            </a:r>
            <a:endParaRPr lang="en-US" sz="965" dirty="0"/>
          </a:p>
        </p:txBody>
      </p:sp>
      <p:sp>
        <p:nvSpPr>
          <p:cNvPr id="23" name="Shape 21"/>
          <p:cNvSpPr/>
          <p:nvPr/>
        </p:nvSpPr>
        <p:spPr>
          <a:xfrm>
            <a:off x="10332720" y="1947672"/>
            <a:ext cx="950976" cy="283464"/>
          </a:xfrm>
          <a:prstGeom prst="roundRect">
            <a:avLst>
              <a:gd name="adj" fmla="val 38710"/>
            </a:avLst>
          </a:prstGeom>
          <a:solidFill>
            <a:srgbClr val="EAF1FE"/>
          </a:solidFill>
          <a:ln w="12700">
            <a:solidFill>
              <a:srgbClr val="EAF1FE">
                <a:alpha val="0"/>
              </a:srgbClr>
            </a:solidFill>
            <a:prstDash val="solid"/>
          </a:ln>
        </p:spPr>
      </p:sp>
      <p:sp>
        <p:nvSpPr>
          <p:cNvPr id="24" name="Text 22"/>
          <p:cNvSpPr/>
          <p:nvPr/>
        </p:nvSpPr>
        <p:spPr>
          <a:xfrm>
            <a:off x="10442448" y="1956816"/>
            <a:ext cx="731520" cy="265176"/>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4074E8"/>
                </a:solidFill>
                <a:latin typeface="Aptos" pitchFamily="34" charset="0"/>
                <a:ea typeface="Aptos" pitchFamily="34" charset="-122"/>
                <a:cs typeface="Aptos" pitchFamily="34" charset="-120"/>
              </a:rPr>
              <a:t>8 CRITERIA</a:t>
            </a:r>
            <a:endParaRPr lang="en-US" sz="820" dirty="0"/>
          </a:p>
        </p:txBody>
      </p:sp>
      <p:sp>
        <p:nvSpPr>
          <p:cNvPr id="25" name="Text 23"/>
          <p:cNvSpPr/>
          <p:nvPr/>
        </p:nvSpPr>
        <p:spPr>
          <a:xfrm>
            <a:off x="7699248" y="2295144"/>
            <a:ext cx="1408176" cy="210312"/>
          </a:xfrm>
          <a:prstGeom prst="rect">
            <a:avLst/>
          </a:prstGeom>
          <a:noFill/>
          <a:ln/>
        </p:spPr>
        <p:txBody>
          <a:bodyPr wrap="square" lIns="0" tIns="0" rIns="0" bIns="0" rtlCol="0" anchor="ctr">
            <a:normAutofit/>
          </a:bodyPr>
          <a:lstStyle/>
          <a:p>
            <a:pPr algn="l" indent="0" marL="0">
              <a:lnSpc>
                <a:spcPct val="100000"/>
              </a:lnSpc>
              <a:buNone/>
            </a:pPr>
            <a:r>
              <a:rPr lang="en-US" sz="865" b="1" spc="15" kern="0" dirty="0">
                <a:solidFill>
                  <a:srgbClr val="627889"/>
                </a:solidFill>
                <a:latin typeface="Aptos" pitchFamily="34" charset="0"/>
                <a:ea typeface="Aptos" pitchFamily="34" charset="-122"/>
                <a:cs typeface="Aptos" pitchFamily="34" charset="-120"/>
              </a:rPr>
              <a:t>PROFILE REQUIREMENT</a:t>
            </a:r>
            <a:endParaRPr lang="en-US" sz="865" dirty="0"/>
          </a:p>
        </p:txBody>
      </p:sp>
      <p:sp>
        <p:nvSpPr>
          <p:cNvPr id="26" name="Text 24"/>
          <p:cNvSpPr/>
          <p:nvPr/>
        </p:nvSpPr>
        <p:spPr>
          <a:xfrm>
            <a:off x="9345168" y="2295144"/>
            <a:ext cx="1929384" cy="210312"/>
          </a:xfrm>
          <a:prstGeom prst="rect">
            <a:avLst/>
          </a:prstGeom>
          <a:noFill/>
          <a:ln/>
        </p:spPr>
        <p:txBody>
          <a:bodyPr wrap="square" lIns="0" tIns="0" rIns="0" bIns="0" rtlCol="0" anchor="ctr">
            <a:normAutofit/>
          </a:bodyPr>
          <a:lstStyle/>
          <a:p>
            <a:pPr algn="l" indent="0" marL="0">
              <a:lnSpc>
                <a:spcPct val="100000"/>
              </a:lnSpc>
              <a:buNone/>
            </a:pPr>
            <a:r>
              <a:rPr lang="en-US" sz="865" b="1" spc="15" kern="0" dirty="0">
                <a:solidFill>
                  <a:srgbClr val="627889"/>
                </a:solidFill>
                <a:latin typeface="Aptos" pitchFamily="34" charset="0"/>
                <a:ea typeface="Aptos" pitchFamily="34" charset="-122"/>
                <a:cs typeface="Aptos" pitchFamily="34" charset="-120"/>
              </a:rPr>
              <a:t>EVIDENCE / BOUNDARY</a:t>
            </a:r>
            <a:endParaRPr lang="en-US" sz="865" dirty="0"/>
          </a:p>
        </p:txBody>
      </p:sp>
      <p:sp>
        <p:nvSpPr>
          <p:cNvPr id="27" name="Shape 25"/>
          <p:cNvSpPr/>
          <p:nvPr/>
        </p:nvSpPr>
        <p:spPr>
          <a:xfrm>
            <a:off x="7342632" y="2532888"/>
            <a:ext cx="3931920" cy="0"/>
          </a:xfrm>
          <a:prstGeom prst="line">
            <a:avLst/>
          </a:prstGeom>
          <a:noFill/>
          <a:ln w="11430">
            <a:solidFill>
              <a:srgbClr val="DCE6ED"/>
            </a:solidFill>
            <a:prstDash val="solid"/>
          </a:ln>
        </p:spPr>
      </p:sp>
      <p:sp>
        <p:nvSpPr>
          <p:cNvPr id="28" name="Shape 26"/>
          <p:cNvSpPr/>
          <p:nvPr/>
        </p:nvSpPr>
        <p:spPr>
          <a:xfrm>
            <a:off x="822960" y="2589581"/>
            <a:ext cx="5797296" cy="302666"/>
          </a:xfrm>
          <a:prstGeom prst="rect">
            <a:avLst>
              <a:gd name="adj" fmla="val 36254"/>
            </a:avLst>
          </a:prstGeom>
          <a:solidFill>
            <a:srgbClr val="F5F8FB"/>
          </a:solidFill>
          <a:ln w="12700">
            <a:solidFill>
              <a:srgbClr val="F5F8FB">
                <a:alpha val="0"/>
              </a:srgbClr>
            </a:solidFill>
            <a:prstDash val="solid"/>
          </a:ln>
        </p:spPr>
      </p:sp>
      <p:sp>
        <p:nvSpPr>
          <p:cNvPr id="29" name="Shape 27"/>
          <p:cNvSpPr/>
          <p:nvPr/>
        </p:nvSpPr>
        <p:spPr>
          <a:xfrm>
            <a:off x="882396" y="2638958"/>
            <a:ext cx="216713" cy="216713"/>
          </a:xfrm>
          <a:prstGeom prst="ellipse">
            <a:avLst/>
          </a:prstGeom>
          <a:solidFill>
            <a:srgbClr val="168363"/>
          </a:solidFill>
          <a:ln w="12700">
            <a:solidFill>
              <a:srgbClr val="168363">
                <a:alpha val="0"/>
              </a:srgbClr>
            </a:solidFill>
            <a:prstDash val="solid"/>
          </a:ln>
        </p:spPr>
      </p:sp>
      <p:sp>
        <p:nvSpPr>
          <p:cNvPr id="30" name="Text 28"/>
          <p:cNvSpPr/>
          <p:nvPr/>
        </p:nvSpPr>
        <p:spPr>
          <a:xfrm>
            <a:off x="903427" y="2643530"/>
            <a:ext cx="173736" cy="186538"/>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FFFFFF"/>
                </a:solidFill>
                <a:latin typeface="Aptos" pitchFamily="34" charset="0"/>
                <a:ea typeface="Aptos" pitchFamily="34" charset="-122"/>
                <a:cs typeface="Aptos" pitchFamily="34" charset="-120"/>
              </a:rPr>
              <a:t>✓</a:t>
            </a:r>
            <a:endParaRPr lang="en-US" sz="1130" dirty="0"/>
          </a:p>
        </p:txBody>
      </p:sp>
      <p:sp>
        <p:nvSpPr>
          <p:cNvPr id="31" name="Text 29"/>
          <p:cNvSpPr/>
          <p:nvPr/>
        </p:nvSpPr>
        <p:spPr>
          <a:xfrm>
            <a:off x="1161288" y="2629814"/>
            <a:ext cx="1828800" cy="233172"/>
          </a:xfrm>
          <a:prstGeom prst="rect">
            <a:avLst/>
          </a:prstGeom>
          <a:noFill/>
          <a:ln/>
        </p:spPr>
        <p:txBody>
          <a:bodyPr wrap="square" lIns="0" tIns="0" rIns="0" bIns="0" rtlCol="0" anchor="ctr">
            <a:normAutofit/>
          </a:bodyPr>
          <a:lstStyle/>
          <a:p>
            <a:pPr algn="l" indent="0" marL="0">
              <a:lnSpc>
                <a:spcPct val="100000"/>
              </a:lnSpc>
              <a:buNone/>
            </a:pPr>
            <a:r>
              <a:rPr lang="en-US" sz="1042" b="1" dirty="0">
                <a:solidFill>
                  <a:srgbClr val="102738"/>
                </a:solidFill>
                <a:latin typeface="Aptos" pitchFamily="34" charset="0"/>
                <a:ea typeface="Aptos" pitchFamily="34" charset="-122"/>
                <a:cs typeface="Aptos" pitchFamily="34" charset="-120"/>
              </a:rPr>
              <a:t>Business requirements</a:t>
            </a:r>
            <a:endParaRPr lang="en-US" sz="1042" dirty="0"/>
          </a:p>
        </p:txBody>
      </p:sp>
      <p:sp>
        <p:nvSpPr>
          <p:cNvPr id="32" name="Text 30"/>
          <p:cNvSpPr/>
          <p:nvPr/>
        </p:nvSpPr>
        <p:spPr>
          <a:xfrm>
            <a:off x="3108960" y="2629814"/>
            <a:ext cx="3374136" cy="233172"/>
          </a:xfrm>
          <a:prstGeom prst="rect">
            <a:avLst/>
          </a:prstGeom>
          <a:noFill/>
          <a:ln/>
        </p:spPr>
        <p:txBody>
          <a:bodyPr wrap="square" lIns="0" tIns="0" rIns="0" bIns="0" rtlCol="0" anchor="ctr">
            <a:normAutofit/>
          </a:bodyPr>
          <a:lstStyle/>
          <a:p>
            <a:pPr algn="l" indent="0" marL="0">
              <a:lnSpc>
                <a:spcPct val="100000"/>
              </a:lnSpc>
              <a:buNone/>
            </a:pPr>
            <a:r>
              <a:rPr lang="en-US" sz="998" dirty="0">
                <a:solidFill>
                  <a:srgbClr val="244354"/>
                </a:solidFill>
                <a:latin typeface="Aptos" pitchFamily="34" charset="0"/>
                <a:ea typeface="Aptos" pitchFamily="34" charset="-122"/>
                <a:cs typeface="Aptos" pitchFamily="34" charset="-120"/>
              </a:rPr>
              <a:t>KPIs, BRD and source mappings</a:t>
            </a:r>
            <a:endParaRPr lang="en-US" sz="998" dirty="0"/>
          </a:p>
        </p:txBody>
      </p:sp>
      <p:sp>
        <p:nvSpPr>
          <p:cNvPr id="33" name="Shape 31"/>
          <p:cNvSpPr/>
          <p:nvPr/>
        </p:nvSpPr>
        <p:spPr>
          <a:xfrm>
            <a:off x="882396" y="2954426"/>
            <a:ext cx="216713" cy="216713"/>
          </a:xfrm>
          <a:prstGeom prst="ellipse">
            <a:avLst/>
          </a:prstGeom>
          <a:solidFill>
            <a:srgbClr val="168363"/>
          </a:solidFill>
          <a:ln w="12700">
            <a:solidFill>
              <a:srgbClr val="168363">
                <a:alpha val="0"/>
              </a:srgbClr>
            </a:solidFill>
            <a:prstDash val="solid"/>
          </a:ln>
        </p:spPr>
      </p:sp>
      <p:sp>
        <p:nvSpPr>
          <p:cNvPr id="34" name="Text 32"/>
          <p:cNvSpPr/>
          <p:nvPr/>
        </p:nvSpPr>
        <p:spPr>
          <a:xfrm>
            <a:off x="903427" y="2958998"/>
            <a:ext cx="173736" cy="186538"/>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FFFFFF"/>
                </a:solidFill>
                <a:latin typeface="Aptos" pitchFamily="34" charset="0"/>
                <a:ea typeface="Aptos" pitchFamily="34" charset="-122"/>
                <a:cs typeface="Aptos" pitchFamily="34" charset="-120"/>
              </a:rPr>
              <a:t>✓</a:t>
            </a:r>
            <a:endParaRPr lang="en-US" sz="1130" dirty="0"/>
          </a:p>
        </p:txBody>
      </p:sp>
      <p:sp>
        <p:nvSpPr>
          <p:cNvPr id="35" name="Text 33"/>
          <p:cNvSpPr/>
          <p:nvPr/>
        </p:nvSpPr>
        <p:spPr>
          <a:xfrm>
            <a:off x="1161288" y="2945282"/>
            <a:ext cx="1828800" cy="233172"/>
          </a:xfrm>
          <a:prstGeom prst="rect">
            <a:avLst/>
          </a:prstGeom>
          <a:noFill/>
          <a:ln/>
        </p:spPr>
        <p:txBody>
          <a:bodyPr wrap="square" lIns="0" tIns="0" rIns="0" bIns="0" rtlCol="0" anchor="ctr">
            <a:normAutofit/>
          </a:bodyPr>
          <a:lstStyle/>
          <a:p>
            <a:pPr algn="l" indent="0" marL="0">
              <a:lnSpc>
                <a:spcPct val="100000"/>
              </a:lnSpc>
              <a:buNone/>
            </a:pPr>
            <a:r>
              <a:rPr lang="en-US" sz="1042" b="1" dirty="0">
                <a:solidFill>
                  <a:srgbClr val="102738"/>
                </a:solidFill>
                <a:latin typeface="Aptos" pitchFamily="34" charset="0"/>
                <a:ea typeface="Aptos" pitchFamily="34" charset="-122"/>
                <a:cs typeface="Aptos" pitchFamily="34" charset="-120"/>
              </a:rPr>
              <a:t>Data warehouse &amp; BI</a:t>
            </a:r>
            <a:endParaRPr lang="en-US" sz="1042" dirty="0"/>
          </a:p>
        </p:txBody>
      </p:sp>
      <p:sp>
        <p:nvSpPr>
          <p:cNvPr id="36" name="Text 34"/>
          <p:cNvSpPr/>
          <p:nvPr/>
        </p:nvSpPr>
        <p:spPr>
          <a:xfrm>
            <a:off x="3108960" y="2945282"/>
            <a:ext cx="3374136" cy="233172"/>
          </a:xfrm>
          <a:prstGeom prst="rect">
            <a:avLst/>
          </a:prstGeom>
          <a:noFill/>
          <a:ln/>
        </p:spPr>
        <p:txBody>
          <a:bodyPr wrap="square" lIns="0" tIns="0" rIns="0" bIns="0" rtlCol="0" anchor="ctr">
            <a:normAutofit/>
          </a:bodyPr>
          <a:lstStyle/>
          <a:p>
            <a:pPr algn="l" indent="0" marL="0">
              <a:lnSpc>
                <a:spcPct val="100000"/>
              </a:lnSpc>
              <a:buNone/>
            </a:pPr>
            <a:r>
              <a:rPr lang="en-US" sz="998" dirty="0">
                <a:solidFill>
                  <a:srgbClr val="244354"/>
                </a:solidFill>
                <a:latin typeface="Aptos" pitchFamily="34" charset="0"/>
                <a:ea typeface="Aptos" pitchFamily="34" charset="-122"/>
                <a:cs typeface="Aptos" pitchFamily="34" charset="-120"/>
              </a:rPr>
              <a:t>RAW → facts/dims → mart → BI</a:t>
            </a:r>
            <a:endParaRPr lang="en-US" sz="998" dirty="0"/>
          </a:p>
        </p:txBody>
      </p:sp>
      <p:sp>
        <p:nvSpPr>
          <p:cNvPr id="37" name="Shape 35"/>
          <p:cNvSpPr/>
          <p:nvPr/>
        </p:nvSpPr>
        <p:spPr>
          <a:xfrm>
            <a:off x="822960" y="3220517"/>
            <a:ext cx="5797296" cy="302666"/>
          </a:xfrm>
          <a:prstGeom prst="rect">
            <a:avLst>
              <a:gd name="adj" fmla="val 36254"/>
            </a:avLst>
          </a:prstGeom>
          <a:solidFill>
            <a:srgbClr val="F5F8FB"/>
          </a:solidFill>
          <a:ln w="12700">
            <a:solidFill>
              <a:srgbClr val="F5F8FB">
                <a:alpha val="0"/>
              </a:srgbClr>
            </a:solidFill>
            <a:prstDash val="solid"/>
          </a:ln>
        </p:spPr>
      </p:sp>
      <p:sp>
        <p:nvSpPr>
          <p:cNvPr id="38" name="Shape 36"/>
          <p:cNvSpPr/>
          <p:nvPr/>
        </p:nvSpPr>
        <p:spPr>
          <a:xfrm>
            <a:off x="882396" y="3269894"/>
            <a:ext cx="216713" cy="216713"/>
          </a:xfrm>
          <a:prstGeom prst="ellipse">
            <a:avLst/>
          </a:prstGeom>
          <a:solidFill>
            <a:srgbClr val="168363"/>
          </a:solidFill>
          <a:ln w="12700">
            <a:solidFill>
              <a:srgbClr val="168363">
                <a:alpha val="0"/>
              </a:srgbClr>
            </a:solidFill>
            <a:prstDash val="solid"/>
          </a:ln>
        </p:spPr>
      </p:sp>
      <p:sp>
        <p:nvSpPr>
          <p:cNvPr id="39" name="Text 37"/>
          <p:cNvSpPr/>
          <p:nvPr/>
        </p:nvSpPr>
        <p:spPr>
          <a:xfrm>
            <a:off x="903427" y="3274466"/>
            <a:ext cx="173736" cy="186538"/>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FFFFFF"/>
                </a:solidFill>
                <a:latin typeface="Aptos" pitchFamily="34" charset="0"/>
                <a:ea typeface="Aptos" pitchFamily="34" charset="-122"/>
                <a:cs typeface="Aptos" pitchFamily="34" charset="-120"/>
              </a:rPr>
              <a:t>✓</a:t>
            </a:r>
            <a:endParaRPr lang="en-US" sz="1130" dirty="0"/>
          </a:p>
        </p:txBody>
      </p:sp>
      <p:sp>
        <p:nvSpPr>
          <p:cNvPr id="40" name="Text 38"/>
          <p:cNvSpPr/>
          <p:nvPr/>
        </p:nvSpPr>
        <p:spPr>
          <a:xfrm>
            <a:off x="1161288" y="3260750"/>
            <a:ext cx="1828800" cy="233172"/>
          </a:xfrm>
          <a:prstGeom prst="rect">
            <a:avLst/>
          </a:prstGeom>
          <a:noFill/>
          <a:ln/>
        </p:spPr>
        <p:txBody>
          <a:bodyPr wrap="square" lIns="0" tIns="0" rIns="0" bIns="0" rtlCol="0" anchor="ctr">
            <a:normAutofit/>
          </a:bodyPr>
          <a:lstStyle/>
          <a:p>
            <a:pPr algn="l" indent="0" marL="0">
              <a:lnSpc>
                <a:spcPct val="100000"/>
              </a:lnSpc>
              <a:buNone/>
            </a:pPr>
            <a:r>
              <a:rPr lang="en-US" sz="1042" b="1" dirty="0">
                <a:solidFill>
                  <a:srgbClr val="102738"/>
                </a:solidFill>
                <a:latin typeface="Aptos" pitchFamily="34" charset="0"/>
                <a:ea typeface="Aptos" pitchFamily="34" charset="-122"/>
                <a:cs typeface="Aptos" pitchFamily="34" charset="-120"/>
              </a:rPr>
              <a:t>Data quality checks</a:t>
            </a:r>
            <a:endParaRPr lang="en-US" sz="1042" dirty="0"/>
          </a:p>
        </p:txBody>
      </p:sp>
      <p:sp>
        <p:nvSpPr>
          <p:cNvPr id="41" name="Text 39"/>
          <p:cNvSpPr/>
          <p:nvPr/>
        </p:nvSpPr>
        <p:spPr>
          <a:xfrm>
            <a:off x="3108960" y="3260750"/>
            <a:ext cx="3374136" cy="233172"/>
          </a:xfrm>
          <a:prstGeom prst="rect">
            <a:avLst/>
          </a:prstGeom>
          <a:noFill/>
          <a:ln/>
        </p:spPr>
        <p:txBody>
          <a:bodyPr wrap="square" lIns="0" tIns="0" rIns="0" bIns="0" rtlCol="0" anchor="ctr">
            <a:normAutofit/>
          </a:bodyPr>
          <a:lstStyle/>
          <a:p>
            <a:pPr algn="l" indent="0" marL="0">
              <a:lnSpc>
                <a:spcPct val="100000"/>
              </a:lnSpc>
              <a:buNone/>
            </a:pPr>
            <a:r>
              <a:rPr lang="en-US" sz="998" dirty="0">
                <a:solidFill>
                  <a:srgbClr val="244354"/>
                </a:solidFill>
                <a:latin typeface="Aptos" pitchFamily="34" charset="0"/>
                <a:ea typeface="Aptos" pitchFamily="34" charset="-122"/>
                <a:cs typeface="Aptos" pitchFamily="34" charset="-120"/>
              </a:rPr>
              <a:t>20 checks, row-level issues, PASS/BLOCK</a:t>
            </a:r>
            <a:endParaRPr lang="en-US" sz="998" dirty="0"/>
          </a:p>
        </p:txBody>
      </p:sp>
      <p:sp>
        <p:nvSpPr>
          <p:cNvPr id="42" name="Shape 40"/>
          <p:cNvSpPr/>
          <p:nvPr/>
        </p:nvSpPr>
        <p:spPr>
          <a:xfrm>
            <a:off x="882396" y="3585362"/>
            <a:ext cx="216713" cy="216713"/>
          </a:xfrm>
          <a:prstGeom prst="ellipse">
            <a:avLst/>
          </a:prstGeom>
          <a:solidFill>
            <a:srgbClr val="E7A03E"/>
          </a:solidFill>
          <a:ln w="12700">
            <a:solidFill>
              <a:srgbClr val="E7A03E">
                <a:alpha val="0"/>
              </a:srgbClr>
            </a:solidFill>
            <a:prstDash val="solid"/>
          </a:ln>
        </p:spPr>
      </p:sp>
      <p:sp>
        <p:nvSpPr>
          <p:cNvPr id="43" name="Text 41"/>
          <p:cNvSpPr/>
          <p:nvPr/>
        </p:nvSpPr>
        <p:spPr>
          <a:xfrm>
            <a:off x="903427" y="3589934"/>
            <a:ext cx="173736" cy="18653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FFFFFF"/>
                </a:solidFill>
                <a:latin typeface="Aptos" pitchFamily="34" charset="0"/>
                <a:ea typeface="Aptos" pitchFamily="34" charset="-122"/>
                <a:cs typeface="Aptos" pitchFamily="34" charset="-120"/>
              </a:rPr>
              <a:t>~</a:t>
            </a:r>
            <a:endParaRPr lang="en-US" sz="1500" dirty="0"/>
          </a:p>
        </p:txBody>
      </p:sp>
      <p:sp>
        <p:nvSpPr>
          <p:cNvPr id="44" name="Text 42"/>
          <p:cNvSpPr/>
          <p:nvPr/>
        </p:nvSpPr>
        <p:spPr>
          <a:xfrm>
            <a:off x="1161288" y="3576218"/>
            <a:ext cx="1828800" cy="233172"/>
          </a:xfrm>
          <a:prstGeom prst="rect">
            <a:avLst/>
          </a:prstGeom>
          <a:noFill/>
          <a:ln/>
        </p:spPr>
        <p:txBody>
          <a:bodyPr wrap="square" lIns="0" tIns="0" rIns="0" bIns="0" rtlCol="0" anchor="ctr">
            <a:normAutofit/>
          </a:bodyPr>
          <a:lstStyle/>
          <a:p>
            <a:pPr algn="l" indent="0" marL="0">
              <a:lnSpc>
                <a:spcPct val="100000"/>
              </a:lnSpc>
              <a:buNone/>
            </a:pPr>
            <a:r>
              <a:rPr lang="en-US" sz="1042" b="1" dirty="0">
                <a:solidFill>
                  <a:srgbClr val="102738"/>
                </a:solidFill>
                <a:latin typeface="Aptos" pitchFamily="34" charset="0"/>
                <a:ea typeface="Aptos" pitchFamily="34" charset="-122"/>
                <a:cs typeface="Aptos" pitchFamily="34" charset="-120"/>
              </a:rPr>
              <a:t>UAT &amp; data testing</a:t>
            </a:r>
            <a:endParaRPr lang="en-US" sz="1042" dirty="0"/>
          </a:p>
        </p:txBody>
      </p:sp>
      <p:sp>
        <p:nvSpPr>
          <p:cNvPr id="45" name="Text 43"/>
          <p:cNvSpPr/>
          <p:nvPr/>
        </p:nvSpPr>
        <p:spPr>
          <a:xfrm>
            <a:off x="3108960" y="3576218"/>
            <a:ext cx="3374136" cy="233172"/>
          </a:xfrm>
          <a:prstGeom prst="rect">
            <a:avLst/>
          </a:prstGeom>
          <a:noFill/>
          <a:ln/>
        </p:spPr>
        <p:txBody>
          <a:bodyPr wrap="square" lIns="0" tIns="0" rIns="0" bIns="0" rtlCol="0" anchor="ctr">
            <a:normAutofit/>
          </a:bodyPr>
          <a:lstStyle/>
          <a:p>
            <a:pPr algn="l" indent="0" marL="0">
              <a:lnSpc>
                <a:spcPct val="100000"/>
              </a:lnSpc>
              <a:buNone/>
            </a:pPr>
            <a:r>
              <a:rPr lang="en-US" sz="998" dirty="0">
                <a:solidFill>
                  <a:srgbClr val="244354"/>
                </a:solidFill>
                <a:latin typeface="Aptos" pitchFamily="34" charset="0"/>
                <a:ea typeface="Aptos" pitchFamily="34" charset="-122"/>
                <a:cs typeface="Aptos" pitchFamily="34" charset="-120"/>
              </a:rPr>
              <a:t>5 automated checks; sign-off external</a:t>
            </a:r>
            <a:endParaRPr lang="en-US" sz="998" dirty="0"/>
          </a:p>
        </p:txBody>
      </p:sp>
      <p:sp>
        <p:nvSpPr>
          <p:cNvPr id="46" name="Shape 44"/>
          <p:cNvSpPr/>
          <p:nvPr/>
        </p:nvSpPr>
        <p:spPr>
          <a:xfrm>
            <a:off x="822960" y="3851453"/>
            <a:ext cx="5797296" cy="302666"/>
          </a:xfrm>
          <a:prstGeom prst="rect">
            <a:avLst>
              <a:gd name="adj" fmla="val 36254"/>
            </a:avLst>
          </a:prstGeom>
          <a:solidFill>
            <a:srgbClr val="F5F8FB"/>
          </a:solidFill>
          <a:ln w="12700">
            <a:solidFill>
              <a:srgbClr val="F5F8FB">
                <a:alpha val="0"/>
              </a:srgbClr>
            </a:solidFill>
            <a:prstDash val="solid"/>
          </a:ln>
        </p:spPr>
      </p:sp>
      <p:sp>
        <p:nvSpPr>
          <p:cNvPr id="47" name="Shape 45"/>
          <p:cNvSpPr/>
          <p:nvPr/>
        </p:nvSpPr>
        <p:spPr>
          <a:xfrm>
            <a:off x="882396" y="3900830"/>
            <a:ext cx="216713" cy="216713"/>
          </a:xfrm>
          <a:prstGeom prst="ellipse">
            <a:avLst/>
          </a:prstGeom>
          <a:solidFill>
            <a:srgbClr val="E7A03E"/>
          </a:solidFill>
          <a:ln w="12700">
            <a:solidFill>
              <a:srgbClr val="E7A03E">
                <a:alpha val="0"/>
              </a:srgbClr>
            </a:solidFill>
            <a:prstDash val="solid"/>
          </a:ln>
        </p:spPr>
      </p:sp>
      <p:sp>
        <p:nvSpPr>
          <p:cNvPr id="48" name="Text 46"/>
          <p:cNvSpPr/>
          <p:nvPr/>
        </p:nvSpPr>
        <p:spPr>
          <a:xfrm>
            <a:off x="903427" y="3905402"/>
            <a:ext cx="173736" cy="18653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FFFFFF"/>
                </a:solidFill>
                <a:latin typeface="Aptos" pitchFamily="34" charset="0"/>
                <a:ea typeface="Aptos" pitchFamily="34" charset="-122"/>
                <a:cs typeface="Aptos" pitchFamily="34" charset="-120"/>
              </a:rPr>
              <a:t>~</a:t>
            </a:r>
            <a:endParaRPr lang="en-US" sz="1500" dirty="0"/>
          </a:p>
        </p:txBody>
      </p:sp>
      <p:sp>
        <p:nvSpPr>
          <p:cNvPr id="49" name="Text 47"/>
          <p:cNvSpPr/>
          <p:nvPr/>
        </p:nvSpPr>
        <p:spPr>
          <a:xfrm>
            <a:off x="1161288" y="3891686"/>
            <a:ext cx="1828800" cy="233172"/>
          </a:xfrm>
          <a:prstGeom prst="rect">
            <a:avLst/>
          </a:prstGeom>
          <a:noFill/>
          <a:ln/>
        </p:spPr>
        <p:txBody>
          <a:bodyPr wrap="square" lIns="0" tIns="0" rIns="0" bIns="0" rtlCol="0" anchor="ctr">
            <a:normAutofit/>
          </a:bodyPr>
          <a:lstStyle/>
          <a:p>
            <a:pPr algn="l" indent="0" marL="0">
              <a:lnSpc>
                <a:spcPct val="100000"/>
              </a:lnSpc>
              <a:buNone/>
            </a:pPr>
            <a:r>
              <a:rPr lang="en-US" sz="1042" b="1" dirty="0">
                <a:solidFill>
                  <a:srgbClr val="102738"/>
                </a:solidFill>
                <a:latin typeface="Aptos" pitchFamily="34" charset="0"/>
                <a:ea typeface="Aptos" pitchFamily="34" charset="-122"/>
                <a:cs typeface="Aptos" pitchFamily="34" charset="-120"/>
              </a:rPr>
              <a:t>Integration &amp; ETL</a:t>
            </a:r>
            <a:endParaRPr lang="en-US" sz="1042" dirty="0"/>
          </a:p>
        </p:txBody>
      </p:sp>
      <p:sp>
        <p:nvSpPr>
          <p:cNvPr id="50" name="Text 48"/>
          <p:cNvSpPr/>
          <p:nvPr/>
        </p:nvSpPr>
        <p:spPr>
          <a:xfrm>
            <a:off x="3108960" y="3891686"/>
            <a:ext cx="3374136" cy="233172"/>
          </a:xfrm>
          <a:prstGeom prst="rect">
            <a:avLst/>
          </a:prstGeom>
          <a:noFill/>
          <a:ln/>
        </p:spPr>
        <p:txBody>
          <a:bodyPr wrap="square" lIns="0" tIns="0" rIns="0" bIns="0" rtlCol="0" anchor="ctr">
            <a:normAutofit/>
          </a:bodyPr>
          <a:lstStyle/>
          <a:p>
            <a:pPr algn="l" indent="0" marL="0">
              <a:lnSpc>
                <a:spcPct val="100000"/>
              </a:lnSpc>
              <a:buNone/>
            </a:pPr>
            <a:r>
              <a:rPr lang="en-US" sz="998" dirty="0">
                <a:solidFill>
                  <a:srgbClr val="244354"/>
                </a:solidFill>
                <a:latin typeface="Aptos" pitchFamily="34" charset="0"/>
                <a:ea typeface="Aptos" pitchFamily="34" charset="-122"/>
                <a:cs typeface="Aptos" pitchFamily="34" charset="-120"/>
              </a:rPr>
              <a:t>Python/SQL flows; handoff-ready mapping</a:t>
            </a:r>
            <a:endParaRPr lang="en-US" sz="998" dirty="0"/>
          </a:p>
        </p:txBody>
      </p:sp>
      <p:sp>
        <p:nvSpPr>
          <p:cNvPr id="51" name="Shape 49"/>
          <p:cNvSpPr/>
          <p:nvPr/>
        </p:nvSpPr>
        <p:spPr>
          <a:xfrm>
            <a:off x="882396" y="4216298"/>
            <a:ext cx="216713" cy="216713"/>
          </a:xfrm>
          <a:prstGeom prst="ellipse">
            <a:avLst/>
          </a:prstGeom>
          <a:solidFill>
            <a:srgbClr val="168363"/>
          </a:solidFill>
          <a:ln w="12700">
            <a:solidFill>
              <a:srgbClr val="168363">
                <a:alpha val="0"/>
              </a:srgbClr>
            </a:solidFill>
            <a:prstDash val="solid"/>
          </a:ln>
        </p:spPr>
      </p:sp>
      <p:sp>
        <p:nvSpPr>
          <p:cNvPr id="52" name="Text 50"/>
          <p:cNvSpPr/>
          <p:nvPr/>
        </p:nvSpPr>
        <p:spPr>
          <a:xfrm>
            <a:off x="903427" y="4220870"/>
            <a:ext cx="173736" cy="186538"/>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FFFFFF"/>
                </a:solidFill>
                <a:latin typeface="Aptos" pitchFamily="34" charset="0"/>
                <a:ea typeface="Aptos" pitchFamily="34" charset="-122"/>
                <a:cs typeface="Aptos" pitchFamily="34" charset="-120"/>
              </a:rPr>
              <a:t>✓</a:t>
            </a:r>
            <a:endParaRPr lang="en-US" sz="1130" dirty="0"/>
          </a:p>
        </p:txBody>
      </p:sp>
      <p:sp>
        <p:nvSpPr>
          <p:cNvPr id="53" name="Text 51"/>
          <p:cNvSpPr/>
          <p:nvPr/>
        </p:nvSpPr>
        <p:spPr>
          <a:xfrm>
            <a:off x="1161288" y="4207154"/>
            <a:ext cx="1828800" cy="233172"/>
          </a:xfrm>
          <a:prstGeom prst="rect">
            <a:avLst/>
          </a:prstGeom>
          <a:noFill/>
          <a:ln/>
        </p:spPr>
        <p:txBody>
          <a:bodyPr wrap="square" lIns="0" tIns="0" rIns="0" bIns="0" rtlCol="0" anchor="ctr">
            <a:normAutofit/>
          </a:bodyPr>
          <a:lstStyle/>
          <a:p>
            <a:pPr algn="l" indent="0" marL="0">
              <a:lnSpc>
                <a:spcPct val="100000"/>
              </a:lnSpc>
              <a:buNone/>
            </a:pPr>
            <a:r>
              <a:rPr lang="en-US" sz="1042" b="1" dirty="0">
                <a:solidFill>
                  <a:srgbClr val="102738"/>
                </a:solidFill>
                <a:latin typeface="Aptos" pitchFamily="34" charset="0"/>
                <a:ea typeface="Aptos" pitchFamily="34" charset="-122"/>
                <a:cs typeface="Aptos" pitchFamily="34" charset="-120"/>
              </a:rPr>
              <a:t>SAP change analysis</a:t>
            </a:r>
            <a:endParaRPr lang="en-US" sz="1042" dirty="0"/>
          </a:p>
        </p:txBody>
      </p:sp>
      <p:sp>
        <p:nvSpPr>
          <p:cNvPr id="54" name="Text 52"/>
          <p:cNvSpPr/>
          <p:nvPr/>
        </p:nvSpPr>
        <p:spPr>
          <a:xfrm>
            <a:off x="3108960" y="4207154"/>
            <a:ext cx="3374136" cy="233172"/>
          </a:xfrm>
          <a:prstGeom prst="rect">
            <a:avLst/>
          </a:prstGeom>
          <a:noFill/>
          <a:ln/>
        </p:spPr>
        <p:txBody>
          <a:bodyPr wrap="square" lIns="0" tIns="0" rIns="0" bIns="0" rtlCol="0" anchor="ctr">
            <a:normAutofit/>
          </a:bodyPr>
          <a:lstStyle/>
          <a:p>
            <a:pPr algn="l" indent="0" marL="0">
              <a:lnSpc>
                <a:spcPct val="100000"/>
              </a:lnSpc>
              <a:buNone/>
            </a:pPr>
            <a:r>
              <a:rPr lang="en-US" sz="998" dirty="0">
                <a:solidFill>
                  <a:srgbClr val="244354"/>
                </a:solidFill>
                <a:latin typeface="Aptos" pitchFamily="34" charset="0"/>
                <a:ea typeface="Aptos" pitchFamily="34" charset="-122"/>
                <a:cs typeface="Aptos" pitchFamily="34" charset="-120"/>
              </a:rPr>
              <a:t>v1/v2 schema and unit regression</a:t>
            </a:r>
            <a:endParaRPr lang="en-US" sz="998" dirty="0"/>
          </a:p>
        </p:txBody>
      </p:sp>
      <p:sp>
        <p:nvSpPr>
          <p:cNvPr id="55" name="Shape 53"/>
          <p:cNvSpPr/>
          <p:nvPr/>
        </p:nvSpPr>
        <p:spPr>
          <a:xfrm>
            <a:off x="822960" y="4482389"/>
            <a:ext cx="5797296" cy="302666"/>
          </a:xfrm>
          <a:prstGeom prst="rect">
            <a:avLst>
              <a:gd name="adj" fmla="val 36254"/>
            </a:avLst>
          </a:prstGeom>
          <a:solidFill>
            <a:srgbClr val="F5F8FB"/>
          </a:solidFill>
          <a:ln w="12700">
            <a:solidFill>
              <a:srgbClr val="F5F8FB">
                <a:alpha val="0"/>
              </a:srgbClr>
            </a:solidFill>
            <a:prstDash val="solid"/>
          </a:ln>
        </p:spPr>
      </p:sp>
      <p:sp>
        <p:nvSpPr>
          <p:cNvPr id="56" name="Shape 54"/>
          <p:cNvSpPr/>
          <p:nvPr/>
        </p:nvSpPr>
        <p:spPr>
          <a:xfrm>
            <a:off x="882396" y="4531766"/>
            <a:ext cx="216713" cy="216713"/>
          </a:xfrm>
          <a:prstGeom prst="ellipse">
            <a:avLst/>
          </a:prstGeom>
          <a:solidFill>
            <a:srgbClr val="168363"/>
          </a:solidFill>
          <a:ln w="12700">
            <a:solidFill>
              <a:srgbClr val="168363">
                <a:alpha val="0"/>
              </a:srgbClr>
            </a:solidFill>
            <a:prstDash val="solid"/>
          </a:ln>
        </p:spPr>
      </p:sp>
      <p:sp>
        <p:nvSpPr>
          <p:cNvPr id="57" name="Text 55"/>
          <p:cNvSpPr/>
          <p:nvPr/>
        </p:nvSpPr>
        <p:spPr>
          <a:xfrm>
            <a:off x="903427" y="4536338"/>
            <a:ext cx="173736" cy="186538"/>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FFFFFF"/>
                </a:solidFill>
                <a:latin typeface="Aptos" pitchFamily="34" charset="0"/>
                <a:ea typeface="Aptos" pitchFamily="34" charset="-122"/>
                <a:cs typeface="Aptos" pitchFamily="34" charset="-120"/>
              </a:rPr>
              <a:t>✓</a:t>
            </a:r>
            <a:endParaRPr lang="en-US" sz="1130" dirty="0"/>
          </a:p>
        </p:txBody>
      </p:sp>
      <p:sp>
        <p:nvSpPr>
          <p:cNvPr id="58" name="Text 56"/>
          <p:cNvSpPr/>
          <p:nvPr/>
        </p:nvSpPr>
        <p:spPr>
          <a:xfrm>
            <a:off x="1161288" y="4522622"/>
            <a:ext cx="1828800" cy="233172"/>
          </a:xfrm>
          <a:prstGeom prst="rect">
            <a:avLst/>
          </a:prstGeom>
          <a:noFill/>
          <a:ln/>
        </p:spPr>
        <p:txBody>
          <a:bodyPr wrap="square" lIns="0" tIns="0" rIns="0" bIns="0" rtlCol="0" anchor="ctr">
            <a:normAutofit/>
          </a:bodyPr>
          <a:lstStyle/>
          <a:p>
            <a:pPr algn="l" indent="0" marL="0">
              <a:lnSpc>
                <a:spcPct val="100000"/>
              </a:lnSpc>
              <a:buNone/>
            </a:pPr>
            <a:r>
              <a:rPr lang="en-US" sz="1042" b="1" dirty="0">
                <a:solidFill>
                  <a:srgbClr val="102738"/>
                </a:solidFill>
                <a:latin typeface="Aptos" pitchFamily="34" charset="0"/>
                <a:ea typeface="Aptos" pitchFamily="34" charset="-122"/>
                <a:cs typeface="Aptos" pitchFamily="34" charset="-120"/>
              </a:rPr>
              <a:t>Process improvements</a:t>
            </a:r>
            <a:endParaRPr lang="en-US" sz="1042" dirty="0"/>
          </a:p>
        </p:txBody>
      </p:sp>
      <p:sp>
        <p:nvSpPr>
          <p:cNvPr id="59" name="Text 57"/>
          <p:cNvSpPr/>
          <p:nvPr/>
        </p:nvSpPr>
        <p:spPr>
          <a:xfrm>
            <a:off x="3108960" y="4522622"/>
            <a:ext cx="3374136" cy="233172"/>
          </a:xfrm>
          <a:prstGeom prst="rect">
            <a:avLst/>
          </a:prstGeom>
          <a:noFill/>
          <a:ln/>
        </p:spPr>
        <p:txBody>
          <a:bodyPr wrap="square" lIns="0" tIns="0" rIns="0" bIns="0" rtlCol="0" anchor="ctr">
            <a:normAutofit/>
          </a:bodyPr>
          <a:lstStyle/>
          <a:p>
            <a:pPr algn="l" indent="0" marL="0">
              <a:lnSpc>
                <a:spcPct val="100000"/>
              </a:lnSpc>
              <a:buNone/>
            </a:pPr>
            <a:r>
              <a:rPr lang="en-US" sz="998" dirty="0">
                <a:solidFill>
                  <a:srgbClr val="244354"/>
                </a:solidFill>
                <a:latin typeface="Aptos" pitchFamily="34" charset="0"/>
                <a:ea typeface="Aptos" pitchFamily="34" charset="-122"/>
                <a:cs typeface="Aptos" pitchFamily="34" charset="-120"/>
              </a:rPr>
              <a:t>Grain-safe joins; controlled refresh</a:t>
            </a:r>
            <a:endParaRPr lang="en-US" sz="998" dirty="0"/>
          </a:p>
        </p:txBody>
      </p:sp>
      <p:sp>
        <p:nvSpPr>
          <p:cNvPr id="60" name="Shape 58"/>
          <p:cNvSpPr/>
          <p:nvPr/>
        </p:nvSpPr>
        <p:spPr>
          <a:xfrm>
            <a:off x="882396" y="4847234"/>
            <a:ext cx="216713" cy="216713"/>
          </a:xfrm>
          <a:prstGeom prst="ellipse">
            <a:avLst/>
          </a:prstGeom>
          <a:solidFill>
            <a:srgbClr val="E7A03E"/>
          </a:solidFill>
          <a:ln w="12700">
            <a:solidFill>
              <a:srgbClr val="E7A03E">
                <a:alpha val="0"/>
              </a:srgbClr>
            </a:solidFill>
            <a:prstDash val="solid"/>
          </a:ln>
        </p:spPr>
      </p:sp>
      <p:sp>
        <p:nvSpPr>
          <p:cNvPr id="61" name="Text 59"/>
          <p:cNvSpPr/>
          <p:nvPr/>
        </p:nvSpPr>
        <p:spPr>
          <a:xfrm>
            <a:off x="903427" y="4851806"/>
            <a:ext cx="173736" cy="18653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FFFFFF"/>
                </a:solidFill>
                <a:latin typeface="Aptos" pitchFamily="34" charset="0"/>
                <a:ea typeface="Aptos" pitchFamily="34" charset="-122"/>
                <a:cs typeface="Aptos" pitchFamily="34" charset="-120"/>
              </a:rPr>
              <a:t>~</a:t>
            </a:r>
            <a:endParaRPr lang="en-US" sz="1500" dirty="0"/>
          </a:p>
        </p:txBody>
      </p:sp>
      <p:sp>
        <p:nvSpPr>
          <p:cNvPr id="62" name="Text 60"/>
          <p:cNvSpPr/>
          <p:nvPr/>
        </p:nvSpPr>
        <p:spPr>
          <a:xfrm>
            <a:off x="1161288" y="4838090"/>
            <a:ext cx="1828800" cy="233172"/>
          </a:xfrm>
          <a:prstGeom prst="rect">
            <a:avLst/>
          </a:prstGeom>
          <a:noFill/>
          <a:ln/>
        </p:spPr>
        <p:txBody>
          <a:bodyPr wrap="square" lIns="0" tIns="0" rIns="0" bIns="0" rtlCol="0" anchor="ctr">
            <a:normAutofit/>
          </a:bodyPr>
          <a:lstStyle/>
          <a:p>
            <a:pPr algn="l" indent="0" marL="0">
              <a:lnSpc>
                <a:spcPct val="100000"/>
              </a:lnSpc>
              <a:buNone/>
            </a:pPr>
            <a:r>
              <a:rPr lang="en-US" sz="1042" b="1" dirty="0">
                <a:solidFill>
                  <a:srgbClr val="102738"/>
                </a:solidFill>
                <a:latin typeface="Aptos" pitchFamily="34" charset="0"/>
                <a:ea typeface="Aptos" pitchFamily="34" charset="-122"/>
                <a:cs typeface="Aptos" pitchFamily="34" charset="-120"/>
              </a:rPr>
              <a:t>Project coordination</a:t>
            </a:r>
            <a:endParaRPr lang="en-US" sz="1042" dirty="0"/>
          </a:p>
        </p:txBody>
      </p:sp>
      <p:sp>
        <p:nvSpPr>
          <p:cNvPr id="63" name="Text 61"/>
          <p:cNvSpPr/>
          <p:nvPr/>
        </p:nvSpPr>
        <p:spPr>
          <a:xfrm>
            <a:off x="3108960" y="4838090"/>
            <a:ext cx="3374136" cy="233172"/>
          </a:xfrm>
          <a:prstGeom prst="rect">
            <a:avLst/>
          </a:prstGeom>
          <a:noFill/>
          <a:ln/>
        </p:spPr>
        <p:txBody>
          <a:bodyPr wrap="square" lIns="0" tIns="0" rIns="0" bIns="0" rtlCol="0" anchor="ctr">
            <a:normAutofit/>
          </a:bodyPr>
          <a:lstStyle/>
          <a:p>
            <a:pPr algn="l" indent="0" marL="0">
              <a:lnSpc>
                <a:spcPct val="100000"/>
              </a:lnSpc>
              <a:buNone/>
            </a:pPr>
            <a:r>
              <a:rPr lang="en-US" sz="998" dirty="0">
                <a:solidFill>
                  <a:srgbClr val="244354"/>
                </a:solidFill>
                <a:latin typeface="Aptos" pitchFamily="34" charset="0"/>
                <a:ea typeface="Aptos" pitchFamily="34" charset="-122"/>
                <a:cs typeface="Aptos" pitchFamily="34" charset="-120"/>
              </a:rPr>
              <a:t>Scope and traceability; no live team</a:t>
            </a:r>
            <a:endParaRPr lang="en-US" sz="998" dirty="0"/>
          </a:p>
        </p:txBody>
      </p:sp>
      <p:sp>
        <p:nvSpPr>
          <p:cNvPr id="64" name="Shape 62"/>
          <p:cNvSpPr/>
          <p:nvPr/>
        </p:nvSpPr>
        <p:spPr>
          <a:xfrm>
            <a:off x="822960" y="5113325"/>
            <a:ext cx="5797296" cy="302666"/>
          </a:xfrm>
          <a:prstGeom prst="rect">
            <a:avLst>
              <a:gd name="adj" fmla="val 36254"/>
            </a:avLst>
          </a:prstGeom>
          <a:solidFill>
            <a:srgbClr val="F5F8FB"/>
          </a:solidFill>
          <a:ln w="12700">
            <a:solidFill>
              <a:srgbClr val="F5F8FB">
                <a:alpha val="0"/>
              </a:srgbClr>
            </a:solidFill>
            <a:prstDash val="solid"/>
          </a:ln>
        </p:spPr>
      </p:sp>
      <p:sp>
        <p:nvSpPr>
          <p:cNvPr id="65" name="Shape 63"/>
          <p:cNvSpPr/>
          <p:nvPr/>
        </p:nvSpPr>
        <p:spPr>
          <a:xfrm>
            <a:off x="882396" y="5162702"/>
            <a:ext cx="216713" cy="216713"/>
          </a:xfrm>
          <a:prstGeom prst="ellipse">
            <a:avLst/>
          </a:prstGeom>
          <a:solidFill>
            <a:srgbClr val="168363"/>
          </a:solidFill>
          <a:ln w="12700">
            <a:solidFill>
              <a:srgbClr val="168363">
                <a:alpha val="0"/>
              </a:srgbClr>
            </a:solidFill>
            <a:prstDash val="solid"/>
          </a:ln>
        </p:spPr>
      </p:sp>
      <p:sp>
        <p:nvSpPr>
          <p:cNvPr id="66" name="Text 64"/>
          <p:cNvSpPr/>
          <p:nvPr/>
        </p:nvSpPr>
        <p:spPr>
          <a:xfrm>
            <a:off x="903427" y="5167274"/>
            <a:ext cx="173736" cy="186538"/>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FFFFFF"/>
                </a:solidFill>
                <a:latin typeface="Aptos" pitchFamily="34" charset="0"/>
                <a:ea typeface="Aptos" pitchFamily="34" charset="-122"/>
                <a:cs typeface="Aptos" pitchFamily="34" charset="-120"/>
              </a:rPr>
              <a:t>✓</a:t>
            </a:r>
            <a:endParaRPr lang="en-US" sz="1130" dirty="0"/>
          </a:p>
        </p:txBody>
      </p:sp>
      <p:sp>
        <p:nvSpPr>
          <p:cNvPr id="67" name="Text 65"/>
          <p:cNvSpPr/>
          <p:nvPr/>
        </p:nvSpPr>
        <p:spPr>
          <a:xfrm>
            <a:off x="1161288" y="5153558"/>
            <a:ext cx="1828800" cy="233172"/>
          </a:xfrm>
          <a:prstGeom prst="rect">
            <a:avLst/>
          </a:prstGeom>
          <a:noFill/>
          <a:ln/>
        </p:spPr>
        <p:txBody>
          <a:bodyPr wrap="square" lIns="0" tIns="0" rIns="0" bIns="0" rtlCol="0" anchor="ctr">
            <a:normAutofit/>
          </a:bodyPr>
          <a:lstStyle/>
          <a:p>
            <a:pPr algn="l" indent="0" marL="0">
              <a:lnSpc>
                <a:spcPct val="100000"/>
              </a:lnSpc>
              <a:buNone/>
            </a:pPr>
            <a:r>
              <a:rPr lang="en-US" sz="1042" b="1" dirty="0">
                <a:solidFill>
                  <a:srgbClr val="102738"/>
                </a:solidFill>
                <a:latin typeface="Aptos" pitchFamily="34" charset="0"/>
                <a:ea typeface="Aptos" pitchFamily="34" charset="-122"/>
                <a:cs typeface="Aptos" pitchFamily="34" charset="-120"/>
              </a:rPr>
              <a:t>User support</a:t>
            </a:r>
            <a:endParaRPr lang="en-US" sz="1042" dirty="0"/>
          </a:p>
        </p:txBody>
      </p:sp>
      <p:sp>
        <p:nvSpPr>
          <p:cNvPr id="68" name="Text 66"/>
          <p:cNvSpPr/>
          <p:nvPr/>
        </p:nvSpPr>
        <p:spPr>
          <a:xfrm>
            <a:off x="3108960" y="5153558"/>
            <a:ext cx="3374136" cy="233172"/>
          </a:xfrm>
          <a:prstGeom prst="rect">
            <a:avLst/>
          </a:prstGeom>
          <a:noFill/>
          <a:ln/>
        </p:spPr>
        <p:txBody>
          <a:bodyPr wrap="square" lIns="0" tIns="0" rIns="0" bIns="0" rtlCol="0" anchor="ctr">
            <a:normAutofit/>
          </a:bodyPr>
          <a:lstStyle/>
          <a:p>
            <a:pPr algn="l" indent="0" marL="0">
              <a:lnSpc>
                <a:spcPct val="100000"/>
              </a:lnSpc>
              <a:buNone/>
            </a:pPr>
            <a:r>
              <a:rPr lang="en-US" sz="998" dirty="0">
                <a:solidFill>
                  <a:srgbClr val="244354"/>
                </a:solidFill>
                <a:latin typeface="Aptos" pitchFamily="34" charset="0"/>
                <a:ea typeface="Aptos" pitchFamily="34" charset="-122"/>
                <a:cs typeface="Aptos" pitchFamily="34" charset="-120"/>
              </a:rPr>
              <a:t>Lineage, documentation, defect drill-down</a:t>
            </a:r>
            <a:endParaRPr lang="en-US" sz="998" dirty="0"/>
          </a:p>
        </p:txBody>
      </p:sp>
      <p:sp>
        <p:nvSpPr>
          <p:cNvPr id="69" name="Shape 67"/>
          <p:cNvSpPr/>
          <p:nvPr/>
        </p:nvSpPr>
        <p:spPr>
          <a:xfrm>
            <a:off x="7333488" y="2598725"/>
            <a:ext cx="3986784" cy="331013"/>
          </a:xfrm>
          <a:prstGeom prst="rect">
            <a:avLst>
              <a:gd name="adj" fmla="val 33149"/>
            </a:avLst>
          </a:prstGeom>
          <a:solidFill>
            <a:srgbClr val="F5F8FB"/>
          </a:solidFill>
          <a:ln w="12700">
            <a:solidFill>
              <a:srgbClr val="F5F8FB">
                <a:alpha val="0"/>
              </a:srgbClr>
            </a:solidFill>
            <a:prstDash val="solid"/>
          </a:ln>
        </p:spPr>
      </p:sp>
      <p:sp>
        <p:nvSpPr>
          <p:cNvPr id="70" name="Shape 68"/>
          <p:cNvSpPr/>
          <p:nvPr/>
        </p:nvSpPr>
        <p:spPr>
          <a:xfrm>
            <a:off x="7370064" y="2661818"/>
            <a:ext cx="216713" cy="216713"/>
          </a:xfrm>
          <a:prstGeom prst="ellipse">
            <a:avLst/>
          </a:prstGeom>
          <a:solidFill>
            <a:srgbClr val="8DA1AE"/>
          </a:solidFill>
          <a:ln w="12700">
            <a:solidFill>
              <a:srgbClr val="8DA1AE">
                <a:alpha val="0"/>
              </a:srgbClr>
            </a:solidFill>
            <a:prstDash val="solid"/>
          </a:ln>
        </p:spPr>
      </p:sp>
      <p:sp>
        <p:nvSpPr>
          <p:cNvPr id="71" name="Text 69"/>
          <p:cNvSpPr/>
          <p:nvPr/>
        </p:nvSpPr>
        <p:spPr>
          <a:xfrm>
            <a:off x="7391095" y="2666390"/>
            <a:ext cx="173736" cy="18653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FFFFFF"/>
                </a:solidFill>
                <a:latin typeface="Aptos" pitchFamily="34" charset="0"/>
                <a:ea typeface="Aptos" pitchFamily="34" charset="-122"/>
                <a:cs typeface="Aptos" pitchFamily="34" charset="-120"/>
              </a:rPr>
              <a:t>·</a:t>
            </a:r>
            <a:endParaRPr lang="en-US" sz="1500" dirty="0"/>
          </a:p>
        </p:txBody>
      </p:sp>
      <p:sp>
        <p:nvSpPr>
          <p:cNvPr id="72" name="Text 70"/>
          <p:cNvSpPr/>
          <p:nvPr/>
        </p:nvSpPr>
        <p:spPr>
          <a:xfrm>
            <a:off x="7644384" y="2642616"/>
            <a:ext cx="1645920" cy="243230"/>
          </a:xfrm>
          <a:prstGeom prst="rect">
            <a:avLst/>
          </a:prstGeom>
          <a:noFill/>
          <a:ln/>
        </p:spPr>
        <p:txBody>
          <a:bodyPr wrap="square" lIns="0" tIns="0" rIns="0" bIns="0" rtlCol="0" anchor="ctr">
            <a:normAutofit/>
          </a:bodyPr>
          <a:lstStyle/>
          <a:p>
            <a:pPr algn="l" indent="0" marL="0">
              <a:lnSpc>
                <a:spcPct val="100000"/>
              </a:lnSpc>
              <a:buNone/>
            </a:pPr>
            <a:r>
              <a:rPr lang="en-US" sz="1005" b="1" dirty="0">
                <a:solidFill>
                  <a:srgbClr val="102738"/>
                </a:solidFill>
                <a:latin typeface="Aptos" pitchFamily="34" charset="0"/>
                <a:ea typeface="Aptos" pitchFamily="34" charset="-122"/>
                <a:cs typeface="Aptos" pitchFamily="34" charset="-120"/>
              </a:rPr>
              <a:t>Engineering degree</a:t>
            </a:r>
            <a:endParaRPr lang="en-US" sz="1005" dirty="0"/>
          </a:p>
        </p:txBody>
      </p:sp>
      <p:sp>
        <p:nvSpPr>
          <p:cNvPr id="73" name="Text 71"/>
          <p:cNvSpPr/>
          <p:nvPr/>
        </p:nvSpPr>
        <p:spPr>
          <a:xfrm>
            <a:off x="9345168" y="2642616"/>
            <a:ext cx="1947672" cy="243230"/>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244354"/>
                </a:solidFill>
                <a:latin typeface="Aptos" pitchFamily="34" charset="0"/>
                <a:ea typeface="Aptos" pitchFamily="34" charset="-122"/>
                <a:cs typeface="Aptos" pitchFamily="34" charset="-120"/>
              </a:rPr>
              <a:t>BSc Chemical Engineering (CV)</a:t>
            </a:r>
            <a:endParaRPr lang="en-US" sz="940" dirty="0"/>
          </a:p>
        </p:txBody>
      </p:sp>
      <p:sp>
        <p:nvSpPr>
          <p:cNvPr id="74" name="Shape 72"/>
          <p:cNvSpPr/>
          <p:nvPr/>
        </p:nvSpPr>
        <p:spPr>
          <a:xfrm>
            <a:off x="7370064" y="3019349"/>
            <a:ext cx="216713" cy="216713"/>
          </a:xfrm>
          <a:prstGeom prst="ellipse">
            <a:avLst/>
          </a:prstGeom>
          <a:solidFill>
            <a:srgbClr val="8DA1AE"/>
          </a:solidFill>
          <a:ln w="12700">
            <a:solidFill>
              <a:srgbClr val="8DA1AE">
                <a:alpha val="0"/>
              </a:srgbClr>
            </a:solidFill>
            <a:prstDash val="solid"/>
          </a:ln>
        </p:spPr>
      </p:sp>
      <p:sp>
        <p:nvSpPr>
          <p:cNvPr id="75" name="Text 73"/>
          <p:cNvSpPr/>
          <p:nvPr/>
        </p:nvSpPr>
        <p:spPr>
          <a:xfrm>
            <a:off x="7391095" y="3023921"/>
            <a:ext cx="173736" cy="18653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FFFFFF"/>
                </a:solidFill>
                <a:latin typeface="Aptos" pitchFamily="34" charset="0"/>
                <a:ea typeface="Aptos" pitchFamily="34" charset="-122"/>
                <a:cs typeface="Aptos" pitchFamily="34" charset="-120"/>
              </a:rPr>
              <a:t>·</a:t>
            </a:r>
            <a:endParaRPr lang="en-US" sz="1500" dirty="0"/>
          </a:p>
        </p:txBody>
      </p:sp>
      <p:sp>
        <p:nvSpPr>
          <p:cNvPr id="76" name="Text 74"/>
          <p:cNvSpPr/>
          <p:nvPr/>
        </p:nvSpPr>
        <p:spPr>
          <a:xfrm>
            <a:off x="7644384" y="3000146"/>
            <a:ext cx="1645920" cy="243230"/>
          </a:xfrm>
          <a:prstGeom prst="rect">
            <a:avLst/>
          </a:prstGeom>
          <a:noFill/>
          <a:ln/>
        </p:spPr>
        <p:txBody>
          <a:bodyPr wrap="square" lIns="0" tIns="0" rIns="0" bIns="0" rtlCol="0" anchor="ctr">
            <a:normAutofit/>
          </a:bodyPr>
          <a:lstStyle/>
          <a:p>
            <a:pPr algn="l" indent="0" marL="0">
              <a:lnSpc>
                <a:spcPct val="100000"/>
              </a:lnSpc>
              <a:buNone/>
            </a:pPr>
            <a:r>
              <a:rPr lang="en-US" sz="1005" b="1" dirty="0">
                <a:solidFill>
                  <a:srgbClr val="102738"/>
                </a:solidFill>
                <a:latin typeface="Aptos" pitchFamily="34" charset="0"/>
                <a:ea typeface="Aptos" pitchFamily="34" charset="-122"/>
                <a:cs typeface="Aptos" pitchFamily="34" charset="-120"/>
              </a:rPr>
              <a:t>5+ yrs of experience</a:t>
            </a:r>
            <a:endParaRPr lang="en-US" sz="1005" dirty="0"/>
          </a:p>
        </p:txBody>
      </p:sp>
      <p:sp>
        <p:nvSpPr>
          <p:cNvPr id="77" name="Text 75"/>
          <p:cNvSpPr/>
          <p:nvPr/>
        </p:nvSpPr>
        <p:spPr>
          <a:xfrm>
            <a:off x="9345168" y="3000146"/>
            <a:ext cx="1947672" cy="243230"/>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244354"/>
                </a:solidFill>
                <a:latin typeface="Aptos" pitchFamily="34" charset="0"/>
                <a:ea typeface="Aptos" pitchFamily="34" charset="-122"/>
                <a:cs typeface="Aptos" pitchFamily="34" charset="-120"/>
              </a:rPr>
              <a:t>Professional tenure: CV / interview</a:t>
            </a:r>
            <a:endParaRPr lang="en-US" sz="940" dirty="0"/>
          </a:p>
        </p:txBody>
      </p:sp>
      <p:sp>
        <p:nvSpPr>
          <p:cNvPr id="78" name="Shape 76"/>
          <p:cNvSpPr/>
          <p:nvPr/>
        </p:nvSpPr>
        <p:spPr>
          <a:xfrm>
            <a:off x="7333488" y="3313786"/>
            <a:ext cx="3986784" cy="331013"/>
          </a:xfrm>
          <a:prstGeom prst="rect">
            <a:avLst>
              <a:gd name="adj" fmla="val 33149"/>
            </a:avLst>
          </a:prstGeom>
          <a:solidFill>
            <a:srgbClr val="F5F8FB"/>
          </a:solidFill>
          <a:ln w="12700">
            <a:solidFill>
              <a:srgbClr val="F5F8FB">
                <a:alpha val="0"/>
              </a:srgbClr>
            </a:solidFill>
            <a:prstDash val="solid"/>
          </a:ln>
        </p:spPr>
      </p:sp>
      <p:sp>
        <p:nvSpPr>
          <p:cNvPr id="79" name="Shape 77"/>
          <p:cNvSpPr/>
          <p:nvPr/>
        </p:nvSpPr>
        <p:spPr>
          <a:xfrm>
            <a:off x="7370064" y="3376879"/>
            <a:ext cx="216713" cy="216713"/>
          </a:xfrm>
          <a:prstGeom prst="ellipse">
            <a:avLst/>
          </a:prstGeom>
          <a:solidFill>
            <a:srgbClr val="168363"/>
          </a:solidFill>
          <a:ln w="12700">
            <a:solidFill>
              <a:srgbClr val="168363">
                <a:alpha val="0"/>
              </a:srgbClr>
            </a:solidFill>
            <a:prstDash val="solid"/>
          </a:ln>
        </p:spPr>
      </p:sp>
      <p:sp>
        <p:nvSpPr>
          <p:cNvPr id="80" name="Text 78"/>
          <p:cNvSpPr/>
          <p:nvPr/>
        </p:nvSpPr>
        <p:spPr>
          <a:xfrm>
            <a:off x="7391095" y="3381451"/>
            <a:ext cx="173736" cy="186538"/>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FFFFFF"/>
                </a:solidFill>
                <a:latin typeface="Aptos" pitchFamily="34" charset="0"/>
                <a:ea typeface="Aptos" pitchFamily="34" charset="-122"/>
                <a:cs typeface="Aptos" pitchFamily="34" charset="-120"/>
              </a:rPr>
              <a:t>✓</a:t>
            </a:r>
            <a:endParaRPr lang="en-US" sz="1130" dirty="0"/>
          </a:p>
        </p:txBody>
      </p:sp>
      <p:sp>
        <p:nvSpPr>
          <p:cNvPr id="81" name="Text 79"/>
          <p:cNvSpPr/>
          <p:nvPr/>
        </p:nvSpPr>
        <p:spPr>
          <a:xfrm>
            <a:off x="7644384" y="3357677"/>
            <a:ext cx="1645920" cy="243230"/>
          </a:xfrm>
          <a:prstGeom prst="rect">
            <a:avLst/>
          </a:prstGeom>
          <a:noFill/>
          <a:ln/>
        </p:spPr>
        <p:txBody>
          <a:bodyPr wrap="square" lIns="0" tIns="0" rIns="0" bIns="0" rtlCol="0" anchor="ctr">
            <a:normAutofit/>
          </a:bodyPr>
          <a:lstStyle/>
          <a:p>
            <a:pPr algn="l" indent="0" marL="0">
              <a:lnSpc>
                <a:spcPct val="100000"/>
              </a:lnSpc>
              <a:buNone/>
            </a:pPr>
            <a:r>
              <a:rPr lang="en-US" sz="1005" b="1" dirty="0">
                <a:solidFill>
                  <a:srgbClr val="102738"/>
                </a:solidFill>
                <a:latin typeface="Aptos" pitchFamily="34" charset="0"/>
                <a:ea typeface="Aptos" pitchFamily="34" charset="-122"/>
                <a:cs typeface="Aptos" pitchFamily="34" charset="-120"/>
              </a:rPr>
              <a:t>SQL &amp; BI tools</a:t>
            </a:r>
            <a:endParaRPr lang="en-US" sz="1005" dirty="0"/>
          </a:p>
        </p:txBody>
      </p:sp>
      <p:sp>
        <p:nvSpPr>
          <p:cNvPr id="82" name="Text 80"/>
          <p:cNvSpPr/>
          <p:nvPr/>
        </p:nvSpPr>
        <p:spPr>
          <a:xfrm>
            <a:off x="9345168" y="3357677"/>
            <a:ext cx="1947672" cy="243230"/>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244354"/>
                </a:solidFill>
                <a:latin typeface="Aptos" pitchFamily="34" charset="0"/>
                <a:ea typeface="Aptos" pitchFamily="34" charset="-122"/>
                <a:cs typeface="Aptos" pitchFamily="34" charset="-120"/>
              </a:rPr>
              <a:t>SQL, Streamlit; Power BI background</a:t>
            </a:r>
            <a:endParaRPr lang="en-US" sz="940" dirty="0"/>
          </a:p>
        </p:txBody>
      </p:sp>
      <p:sp>
        <p:nvSpPr>
          <p:cNvPr id="83" name="Shape 81"/>
          <p:cNvSpPr/>
          <p:nvPr/>
        </p:nvSpPr>
        <p:spPr>
          <a:xfrm>
            <a:off x="7370064" y="3734410"/>
            <a:ext cx="216713" cy="216713"/>
          </a:xfrm>
          <a:prstGeom prst="ellipse">
            <a:avLst/>
          </a:prstGeom>
          <a:solidFill>
            <a:srgbClr val="168363"/>
          </a:solidFill>
          <a:ln w="12700">
            <a:solidFill>
              <a:srgbClr val="168363">
                <a:alpha val="0"/>
              </a:srgbClr>
            </a:solidFill>
            <a:prstDash val="solid"/>
          </a:ln>
        </p:spPr>
      </p:sp>
      <p:sp>
        <p:nvSpPr>
          <p:cNvPr id="84" name="Text 82"/>
          <p:cNvSpPr/>
          <p:nvPr/>
        </p:nvSpPr>
        <p:spPr>
          <a:xfrm>
            <a:off x="7391095" y="3738982"/>
            <a:ext cx="173736" cy="186538"/>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FFFFFF"/>
                </a:solidFill>
                <a:latin typeface="Aptos" pitchFamily="34" charset="0"/>
                <a:ea typeface="Aptos" pitchFamily="34" charset="-122"/>
                <a:cs typeface="Aptos" pitchFamily="34" charset="-120"/>
              </a:rPr>
              <a:t>✓</a:t>
            </a:r>
            <a:endParaRPr lang="en-US" sz="1130" dirty="0"/>
          </a:p>
        </p:txBody>
      </p:sp>
      <p:sp>
        <p:nvSpPr>
          <p:cNvPr id="85" name="Text 83"/>
          <p:cNvSpPr/>
          <p:nvPr/>
        </p:nvSpPr>
        <p:spPr>
          <a:xfrm>
            <a:off x="7644384" y="3715207"/>
            <a:ext cx="1645920" cy="243230"/>
          </a:xfrm>
          <a:prstGeom prst="rect">
            <a:avLst/>
          </a:prstGeom>
          <a:noFill/>
          <a:ln/>
        </p:spPr>
        <p:txBody>
          <a:bodyPr wrap="square" lIns="0" tIns="0" rIns="0" bIns="0" rtlCol="0" anchor="ctr">
            <a:normAutofit/>
          </a:bodyPr>
          <a:lstStyle/>
          <a:p>
            <a:pPr algn="l" indent="0" marL="0">
              <a:lnSpc>
                <a:spcPct val="100000"/>
              </a:lnSpc>
              <a:buNone/>
            </a:pPr>
            <a:r>
              <a:rPr lang="en-US" sz="1005" b="1" dirty="0">
                <a:solidFill>
                  <a:srgbClr val="102738"/>
                </a:solidFill>
                <a:latin typeface="Aptos" pitchFamily="34" charset="0"/>
                <a:ea typeface="Aptos" pitchFamily="34" charset="-122"/>
                <a:cs typeface="Aptos" pitchFamily="34" charset="-120"/>
              </a:rPr>
              <a:t>Modeling &amp; ETL</a:t>
            </a:r>
            <a:endParaRPr lang="en-US" sz="1005" dirty="0"/>
          </a:p>
        </p:txBody>
      </p:sp>
      <p:sp>
        <p:nvSpPr>
          <p:cNvPr id="86" name="Text 84"/>
          <p:cNvSpPr/>
          <p:nvPr/>
        </p:nvSpPr>
        <p:spPr>
          <a:xfrm>
            <a:off x="9345168" y="3715207"/>
            <a:ext cx="1947672" cy="243230"/>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244354"/>
                </a:solidFill>
                <a:latin typeface="Aptos" pitchFamily="34" charset="0"/>
                <a:ea typeface="Aptos" pitchFamily="34" charset="-122"/>
                <a:cs typeface="Aptos" pitchFamily="34" charset="-120"/>
              </a:rPr>
              <a:t>Facts/dimensions; SQL transformations</a:t>
            </a:r>
            <a:endParaRPr lang="en-US" sz="940" dirty="0"/>
          </a:p>
        </p:txBody>
      </p:sp>
      <p:sp>
        <p:nvSpPr>
          <p:cNvPr id="87" name="Shape 85"/>
          <p:cNvSpPr/>
          <p:nvPr/>
        </p:nvSpPr>
        <p:spPr>
          <a:xfrm>
            <a:off x="7333488" y="4028846"/>
            <a:ext cx="3986784" cy="331013"/>
          </a:xfrm>
          <a:prstGeom prst="rect">
            <a:avLst>
              <a:gd name="adj" fmla="val 33149"/>
            </a:avLst>
          </a:prstGeom>
          <a:solidFill>
            <a:srgbClr val="F5F8FB"/>
          </a:solidFill>
          <a:ln w="12700">
            <a:solidFill>
              <a:srgbClr val="F5F8FB">
                <a:alpha val="0"/>
              </a:srgbClr>
            </a:solidFill>
            <a:prstDash val="solid"/>
          </a:ln>
        </p:spPr>
      </p:sp>
      <p:sp>
        <p:nvSpPr>
          <p:cNvPr id="88" name="Shape 86"/>
          <p:cNvSpPr/>
          <p:nvPr/>
        </p:nvSpPr>
        <p:spPr>
          <a:xfrm>
            <a:off x="7370064" y="4091940"/>
            <a:ext cx="216713" cy="216713"/>
          </a:xfrm>
          <a:prstGeom prst="ellipse">
            <a:avLst/>
          </a:prstGeom>
          <a:solidFill>
            <a:srgbClr val="E7A03E"/>
          </a:solidFill>
          <a:ln w="12700">
            <a:solidFill>
              <a:srgbClr val="E7A03E">
                <a:alpha val="0"/>
              </a:srgbClr>
            </a:solidFill>
            <a:prstDash val="solid"/>
          </a:ln>
        </p:spPr>
      </p:sp>
      <p:sp>
        <p:nvSpPr>
          <p:cNvPr id="89" name="Text 87"/>
          <p:cNvSpPr/>
          <p:nvPr/>
        </p:nvSpPr>
        <p:spPr>
          <a:xfrm>
            <a:off x="7391095" y="4096512"/>
            <a:ext cx="173736" cy="18653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FFFFFF"/>
                </a:solidFill>
                <a:latin typeface="Aptos" pitchFamily="34" charset="0"/>
                <a:ea typeface="Aptos" pitchFamily="34" charset="-122"/>
                <a:cs typeface="Aptos" pitchFamily="34" charset="-120"/>
              </a:rPr>
              <a:t>~</a:t>
            </a:r>
            <a:endParaRPr lang="en-US" sz="1500" dirty="0"/>
          </a:p>
        </p:txBody>
      </p:sp>
      <p:sp>
        <p:nvSpPr>
          <p:cNvPr id="90" name="Text 88"/>
          <p:cNvSpPr/>
          <p:nvPr/>
        </p:nvSpPr>
        <p:spPr>
          <a:xfrm>
            <a:off x="7644384" y="4072738"/>
            <a:ext cx="1645920" cy="243230"/>
          </a:xfrm>
          <a:prstGeom prst="rect">
            <a:avLst/>
          </a:prstGeom>
          <a:noFill/>
          <a:ln/>
        </p:spPr>
        <p:txBody>
          <a:bodyPr wrap="square" lIns="0" tIns="0" rIns="0" bIns="0" rtlCol="0" anchor="ctr">
            <a:normAutofit/>
          </a:bodyPr>
          <a:lstStyle/>
          <a:p>
            <a:pPr algn="l" indent="0" marL="0">
              <a:lnSpc>
                <a:spcPct val="100000"/>
              </a:lnSpc>
              <a:buNone/>
            </a:pPr>
            <a:r>
              <a:rPr lang="en-US" sz="1005" b="1" dirty="0">
                <a:solidFill>
                  <a:srgbClr val="102738"/>
                </a:solidFill>
                <a:latin typeface="Aptos" pitchFamily="34" charset="0"/>
                <a:ea typeface="Aptos" pitchFamily="34" charset="-122"/>
                <a:cs typeface="Aptos" pitchFamily="34" charset="-120"/>
              </a:rPr>
              <a:t>Privacy &amp; access</a:t>
            </a:r>
            <a:endParaRPr lang="en-US" sz="1005" dirty="0"/>
          </a:p>
        </p:txBody>
      </p:sp>
      <p:sp>
        <p:nvSpPr>
          <p:cNvPr id="91" name="Text 89"/>
          <p:cNvSpPr/>
          <p:nvPr/>
        </p:nvSpPr>
        <p:spPr>
          <a:xfrm>
            <a:off x="9345168" y="4072738"/>
            <a:ext cx="1947672" cy="243230"/>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244354"/>
                </a:solidFill>
                <a:latin typeface="Aptos" pitchFamily="34" charset="0"/>
                <a:ea typeface="Aptos" pitchFamily="34" charset="-122"/>
                <a:cs typeface="Aptos" pitchFamily="34" charset="-120"/>
              </a:rPr>
              <a:t>Role matrix only; no enforcement</a:t>
            </a:r>
            <a:endParaRPr lang="en-US" sz="940" dirty="0"/>
          </a:p>
        </p:txBody>
      </p:sp>
      <p:sp>
        <p:nvSpPr>
          <p:cNvPr id="92" name="Shape 90"/>
          <p:cNvSpPr/>
          <p:nvPr/>
        </p:nvSpPr>
        <p:spPr>
          <a:xfrm>
            <a:off x="7370064" y="4449470"/>
            <a:ext cx="216713" cy="216713"/>
          </a:xfrm>
          <a:prstGeom prst="ellipse">
            <a:avLst/>
          </a:prstGeom>
          <a:solidFill>
            <a:srgbClr val="168363"/>
          </a:solidFill>
          <a:ln w="12700">
            <a:solidFill>
              <a:srgbClr val="168363">
                <a:alpha val="0"/>
              </a:srgbClr>
            </a:solidFill>
            <a:prstDash val="solid"/>
          </a:ln>
        </p:spPr>
      </p:sp>
      <p:sp>
        <p:nvSpPr>
          <p:cNvPr id="93" name="Text 91"/>
          <p:cNvSpPr/>
          <p:nvPr/>
        </p:nvSpPr>
        <p:spPr>
          <a:xfrm>
            <a:off x="7391095" y="4454042"/>
            <a:ext cx="173736" cy="186538"/>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FFFFFF"/>
                </a:solidFill>
                <a:latin typeface="Aptos" pitchFamily="34" charset="0"/>
                <a:ea typeface="Aptos" pitchFamily="34" charset="-122"/>
                <a:cs typeface="Aptos" pitchFamily="34" charset="-120"/>
              </a:rPr>
              <a:t>✓</a:t>
            </a:r>
            <a:endParaRPr lang="en-US" sz="1130" dirty="0"/>
          </a:p>
        </p:txBody>
      </p:sp>
      <p:sp>
        <p:nvSpPr>
          <p:cNvPr id="94" name="Text 92"/>
          <p:cNvSpPr/>
          <p:nvPr/>
        </p:nvSpPr>
        <p:spPr>
          <a:xfrm>
            <a:off x="7644384" y="4430268"/>
            <a:ext cx="1645920" cy="243230"/>
          </a:xfrm>
          <a:prstGeom prst="rect">
            <a:avLst/>
          </a:prstGeom>
          <a:noFill/>
          <a:ln/>
        </p:spPr>
        <p:txBody>
          <a:bodyPr wrap="square" lIns="0" tIns="0" rIns="0" bIns="0" rtlCol="0" anchor="ctr">
            <a:normAutofit/>
          </a:bodyPr>
          <a:lstStyle/>
          <a:p>
            <a:pPr algn="l" indent="0" marL="0">
              <a:lnSpc>
                <a:spcPct val="100000"/>
              </a:lnSpc>
              <a:buNone/>
            </a:pPr>
            <a:r>
              <a:rPr lang="en-US" sz="1005" b="1" dirty="0">
                <a:solidFill>
                  <a:srgbClr val="102738"/>
                </a:solidFill>
                <a:latin typeface="Aptos" pitchFamily="34" charset="0"/>
                <a:ea typeface="Aptos" pitchFamily="34" charset="-122"/>
                <a:cs typeface="Aptos" pitchFamily="34" charset="-120"/>
              </a:rPr>
              <a:t>Problem-solving</a:t>
            </a:r>
            <a:endParaRPr lang="en-US" sz="1005" dirty="0"/>
          </a:p>
        </p:txBody>
      </p:sp>
      <p:sp>
        <p:nvSpPr>
          <p:cNvPr id="95" name="Text 93"/>
          <p:cNvSpPr/>
          <p:nvPr/>
        </p:nvSpPr>
        <p:spPr>
          <a:xfrm>
            <a:off x="9345168" y="4430268"/>
            <a:ext cx="1947672" cy="243230"/>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244354"/>
                </a:solidFill>
                <a:latin typeface="Aptos" pitchFamily="34" charset="0"/>
                <a:ea typeface="Aptos" pitchFamily="34" charset="-122"/>
                <a:cs typeface="Aptos" pitchFamily="34" charset="-120"/>
              </a:rPr>
              <a:t>Join fanout, DQ, regression checks</a:t>
            </a:r>
            <a:endParaRPr lang="en-US" sz="940" dirty="0"/>
          </a:p>
        </p:txBody>
      </p:sp>
      <p:sp>
        <p:nvSpPr>
          <p:cNvPr id="96" name="Shape 94"/>
          <p:cNvSpPr/>
          <p:nvPr/>
        </p:nvSpPr>
        <p:spPr>
          <a:xfrm>
            <a:off x="7333488" y="4743907"/>
            <a:ext cx="3986784" cy="331013"/>
          </a:xfrm>
          <a:prstGeom prst="rect">
            <a:avLst>
              <a:gd name="adj" fmla="val 33149"/>
            </a:avLst>
          </a:prstGeom>
          <a:solidFill>
            <a:srgbClr val="F5F8FB"/>
          </a:solidFill>
          <a:ln w="12700">
            <a:solidFill>
              <a:srgbClr val="F5F8FB">
                <a:alpha val="0"/>
              </a:srgbClr>
            </a:solidFill>
            <a:prstDash val="solid"/>
          </a:ln>
        </p:spPr>
      </p:sp>
      <p:sp>
        <p:nvSpPr>
          <p:cNvPr id="97" name="Shape 95"/>
          <p:cNvSpPr/>
          <p:nvPr/>
        </p:nvSpPr>
        <p:spPr>
          <a:xfrm>
            <a:off x="7370064" y="4807001"/>
            <a:ext cx="216713" cy="216713"/>
          </a:xfrm>
          <a:prstGeom prst="ellipse">
            <a:avLst/>
          </a:prstGeom>
          <a:solidFill>
            <a:srgbClr val="E7A03E"/>
          </a:solidFill>
          <a:ln w="12700">
            <a:solidFill>
              <a:srgbClr val="E7A03E">
                <a:alpha val="0"/>
              </a:srgbClr>
            </a:solidFill>
            <a:prstDash val="solid"/>
          </a:ln>
        </p:spPr>
      </p:sp>
      <p:sp>
        <p:nvSpPr>
          <p:cNvPr id="98" name="Text 96"/>
          <p:cNvSpPr/>
          <p:nvPr/>
        </p:nvSpPr>
        <p:spPr>
          <a:xfrm>
            <a:off x="7391095" y="4811573"/>
            <a:ext cx="173736" cy="18653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FFFFFF"/>
                </a:solidFill>
                <a:latin typeface="Aptos" pitchFamily="34" charset="0"/>
                <a:ea typeface="Aptos" pitchFamily="34" charset="-122"/>
                <a:cs typeface="Aptos" pitchFamily="34" charset="-120"/>
              </a:rPr>
              <a:t>~</a:t>
            </a:r>
            <a:endParaRPr lang="en-US" sz="1500" dirty="0"/>
          </a:p>
        </p:txBody>
      </p:sp>
      <p:sp>
        <p:nvSpPr>
          <p:cNvPr id="99" name="Text 97"/>
          <p:cNvSpPr/>
          <p:nvPr/>
        </p:nvSpPr>
        <p:spPr>
          <a:xfrm>
            <a:off x="7644384" y="4787798"/>
            <a:ext cx="1645920" cy="243230"/>
          </a:xfrm>
          <a:prstGeom prst="rect">
            <a:avLst/>
          </a:prstGeom>
          <a:noFill/>
          <a:ln/>
        </p:spPr>
        <p:txBody>
          <a:bodyPr wrap="square" lIns="0" tIns="0" rIns="0" bIns="0" rtlCol="0" anchor="ctr">
            <a:normAutofit/>
          </a:bodyPr>
          <a:lstStyle/>
          <a:p>
            <a:pPr algn="l" indent="0" marL="0">
              <a:lnSpc>
                <a:spcPct val="100000"/>
              </a:lnSpc>
              <a:buNone/>
            </a:pPr>
            <a:r>
              <a:rPr lang="en-US" sz="1005" b="1" dirty="0">
                <a:solidFill>
                  <a:srgbClr val="102738"/>
                </a:solidFill>
                <a:latin typeface="Aptos" pitchFamily="34" charset="0"/>
                <a:ea typeface="Aptos" pitchFamily="34" charset="-122"/>
                <a:cs typeface="Aptos" pitchFamily="34" charset="-120"/>
              </a:rPr>
              <a:t>Cross-team skills</a:t>
            </a:r>
            <a:endParaRPr lang="en-US" sz="1005" dirty="0"/>
          </a:p>
        </p:txBody>
      </p:sp>
      <p:sp>
        <p:nvSpPr>
          <p:cNvPr id="100" name="Text 98"/>
          <p:cNvSpPr/>
          <p:nvPr/>
        </p:nvSpPr>
        <p:spPr>
          <a:xfrm>
            <a:off x="9345168" y="4787798"/>
            <a:ext cx="1947672" cy="243230"/>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244354"/>
                </a:solidFill>
                <a:latin typeface="Aptos" pitchFamily="34" charset="0"/>
                <a:ea typeface="Aptos" pitchFamily="34" charset="-122"/>
                <a:cs typeface="Aptos" pitchFamily="34" charset="-120"/>
              </a:rPr>
              <a:t>Handoff documents; not team-tested</a:t>
            </a:r>
            <a:endParaRPr lang="en-US" sz="940" dirty="0"/>
          </a:p>
        </p:txBody>
      </p:sp>
      <p:sp>
        <p:nvSpPr>
          <p:cNvPr id="101" name="Shape 99"/>
          <p:cNvSpPr/>
          <p:nvPr/>
        </p:nvSpPr>
        <p:spPr>
          <a:xfrm>
            <a:off x="7370064" y="5164531"/>
            <a:ext cx="216713" cy="216713"/>
          </a:xfrm>
          <a:prstGeom prst="ellipse">
            <a:avLst/>
          </a:prstGeom>
          <a:solidFill>
            <a:srgbClr val="E7A03E"/>
          </a:solidFill>
          <a:ln w="12700">
            <a:solidFill>
              <a:srgbClr val="E7A03E">
                <a:alpha val="0"/>
              </a:srgbClr>
            </a:solidFill>
            <a:prstDash val="solid"/>
          </a:ln>
        </p:spPr>
      </p:sp>
      <p:sp>
        <p:nvSpPr>
          <p:cNvPr id="102" name="Text 100"/>
          <p:cNvSpPr/>
          <p:nvPr/>
        </p:nvSpPr>
        <p:spPr>
          <a:xfrm>
            <a:off x="7391095" y="5169103"/>
            <a:ext cx="173736" cy="18653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FFFFFF"/>
                </a:solidFill>
                <a:latin typeface="Aptos" pitchFamily="34" charset="0"/>
                <a:ea typeface="Aptos" pitchFamily="34" charset="-122"/>
                <a:cs typeface="Aptos" pitchFamily="34" charset="-120"/>
              </a:rPr>
              <a:t>~</a:t>
            </a:r>
            <a:endParaRPr lang="en-US" sz="1500" dirty="0"/>
          </a:p>
        </p:txBody>
      </p:sp>
      <p:sp>
        <p:nvSpPr>
          <p:cNvPr id="103" name="Text 101"/>
          <p:cNvSpPr/>
          <p:nvPr/>
        </p:nvSpPr>
        <p:spPr>
          <a:xfrm>
            <a:off x="7644384" y="5145329"/>
            <a:ext cx="1645920" cy="243230"/>
          </a:xfrm>
          <a:prstGeom prst="rect">
            <a:avLst/>
          </a:prstGeom>
          <a:noFill/>
          <a:ln/>
        </p:spPr>
        <p:txBody>
          <a:bodyPr wrap="square" lIns="0" tIns="0" rIns="0" bIns="0" rtlCol="0" anchor="ctr">
            <a:normAutofit/>
          </a:bodyPr>
          <a:lstStyle/>
          <a:p>
            <a:pPr algn="l" indent="0" marL="0">
              <a:lnSpc>
                <a:spcPct val="100000"/>
              </a:lnSpc>
              <a:buNone/>
            </a:pPr>
            <a:r>
              <a:rPr lang="en-US" sz="1005" b="1" dirty="0">
                <a:solidFill>
                  <a:srgbClr val="102738"/>
                </a:solidFill>
                <a:latin typeface="Aptos" pitchFamily="34" charset="0"/>
                <a:ea typeface="Aptos" pitchFamily="34" charset="-122"/>
                <a:cs typeface="Aptos" pitchFamily="34" charset="-120"/>
              </a:rPr>
              <a:t>English proficiency</a:t>
            </a:r>
            <a:endParaRPr lang="en-US" sz="1005" dirty="0"/>
          </a:p>
        </p:txBody>
      </p:sp>
      <p:sp>
        <p:nvSpPr>
          <p:cNvPr id="104" name="Text 102"/>
          <p:cNvSpPr/>
          <p:nvPr/>
        </p:nvSpPr>
        <p:spPr>
          <a:xfrm>
            <a:off x="9345168" y="5145329"/>
            <a:ext cx="1947672" cy="243230"/>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244354"/>
                </a:solidFill>
                <a:latin typeface="Aptos" pitchFamily="34" charset="0"/>
                <a:ea typeface="Aptos" pitchFamily="34" charset="-122"/>
                <a:cs typeface="Aptos" pitchFamily="34" charset="-120"/>
              </a:rPr>
              <a:t>English demo; assessed in interview</a:t>
            </a:r>
            <a:endParaRPr lang="en-US" sz="940" dirty="0"/>
          </a:p>
        </p:txBody>
      </p:sp>
      <p:sp>
        <p:nvSpPr>
          <p:cNvPr id="105" name="Shape 103"/>
          <p:cNvSpPr/>
          <p:nvPr/>
        </p:nvSpPr>
        <p:spPr>
          <a:xfrm>
            <a:off x="603504" y="5852160"/>
            <a:ext cx="10981944" cy="402336"/>
          </a:xfrm>
          <a:prstGeom prst="roundRect">
            <a:avLst>
              <a:gd name="adj" fmla="val 27273"/>
            </a:avLst>
          </a:prstGeom>
          <a:solidFill>
            <a:srgbClr val="102738"/>
          </a:solidFill>
          <a:ln w="12700">
            <a:solidFill>
              <a:srgbClr val="102738">
                <a:alpha val="0"/>
              </a:srgbClr>
            </a:solidFill>
            <a:prstDash val="solid"/>
          </a:ln>
        </p:spPr>
      </p:sp>
      <p:sp>
        <p:nvSpPr>
          <p:cNvPr id="106" name="Text 104"/>
          <p:cNvSpPr/>
          <p:nvPr/>
        </p:nvSpPr>
        <p:spPr>
          <a:xfrm>
            <a:off x="877824" y="5961888"/>
            <a:ext cx="1901952" cy="155448"/>
          </a:xfrm>
          <a:prstGeom prst="rect">
            <a:avLst/>
          </a:prstGeom>
          <a:noFill/>
          <a:ln/>
        </p:spPr>
        <p:txBody>
          <a:bodyPr wrap="square" lIns="0" tIns="0" rIns="0" bIns="0" rtlCol="0" anchor="ctr">
            <a:normAutofit/>
          </a:bodyPr>
          <a:lstStyle/>
          <a:p>
            <a:pPr algn="l" indent="0" marL="0">
              <a:lnSpc>
                <a:spcPct val="100000"/>
              </a:lnSpc>
              <a:buNone/>
            </a:pPr>
            <a:r>
              <a:rPr lang="en-US" sz="965" b="1" dirty="0">
                <a:solidFill>
                  <a:srgbClr val="73D6B5"/>
                </a:solidFill>
                <a:latin typeface="Aptos" pitchFamily="34" charset="0"/>
                <a:ea typeface="Aptos" pitchFamily="34" charset="-122"/>
                <a:cs typeface="Aptos" pitchFamily="34" charset="-120"/>
              </a:rPr>
              <a:t>✓  BUILT &amp; TESTED</a:t>
            </a:r>
            <a:endParaRPr lang="en-US" sz="965" dirty="0"/>
          </a:p>
        </p:txBody>
      </p:sp>
      <p:sp>
        <p:nvSpPr>
          <p:cNvPr id="107" name="Text 105"/>
          <p:cNvSpPr/>
          <p:nvPr/>
        </p:nvSpPr>
        <p:spPr>
          <a:xfrm>
            <a:off x="3054096" y="5961888"/>
            <a:ext cx="2432304" cy="155448"/>
          </a:xfrm>
          <a:prstGeom prst="rect">
            <a:avLst/>
          </a:prstGeom>
          <a:noFill/>
          <a:ln/>
        </p:spPr>
        <p:txBody>
          <a:bodyPr wrap="square" lIns="0" tIns="0" rIns="0" bIns="0" rtlCol="0" anchor="ctr">
            <a:normAutofit/>
          </a:bodyPr>
          <a:lstStyle/>
          <a:p>
            <a:pPr algn="l" indent="0" marL="0">
              <a:lnSpc>
                <a:spcPct val="100000"/>
              </a:lnSpc>
              <a:buNone/>
            </a:pPr>
            <a:r>
              <a:rPr lang="en-US" sz="965" b="1" dirty="0">
                <a:solidFill>
                  <a:srgbClr val="FFE0AA"/>
                </a:solidFill>
                <a:latin typeface="Aptos" pitchFamily="34" charset="0"/>
                <a:ea typeface="Aptos" pitchFamily="34" charset="-122"/>
                <a:cs typeface="Aptos" pitchFamily="34" charset="-120"/>
              </a:rPr>
              <a:t>~  SCOPED / SIMULATED</a:t>
            </a:r>
            <a:endParaRPr lang="en-US" sz="965" dirty="0"/>
          </a:p>
        </p:txBody>
      </p:sp>
      <p:sp>
        <p:nvSpPr>
          <p:cNvPr id="108" name="Text 106"/>
          <p:cNvSpPr/>
          <p:nvPr/>
        </p:nvSpPr>
        <p:spPr>
          <a:xfrm>
            <a:off x="5742432" y="5961888"/>
            <a:ext cx="1801368" cy="155448"/>
          </a:xfrm>
          <a:prstGeom prst="rect">
            <a:avLst/>
          </a:prstGeom>
          <a:noFill/>
          <a:ln/>
        </p:spPr>
        <p:txBody>
          <a:bodyPr wrap="square" lIns="0" tIns="0" rIns="0" bIns="0" rtlCol="0" anchor="ctr">
            <a:normAutofit/>
          </a:bodyPr>
          <a:lstStyle/>
          <a:p>
            <a:pPr algn="l" indent="0" marL="0">
              <a:lnSpc>
                <a:spcPct val="100000"/>
              </a:lnSpc>
              <a:buNone/>
            </a:pPr>
            <a:r>
              <a:rPr lang="en-US" sz="965" b="1" dirty="0">
                <a:solidFill>
                  <a:srgbClr val="BED0DC"/>
                </a:solidFill>
                <a:latin typeface="Aptos" pitchFamily="34" charset="0"/>
                <a:ea typeface="Aptos" pitchFamily="34" charset="-122"/>
                <a:cs typeface="Aptos" pitchFamily="34" charset="-120"/>
              </a:rPr>
              <a:t>·  CV / INTERVIEW</a:t>
            </a:r>
            <a:endParaRPr lang="en-US" sz="965" dirty="0"/>
          </a:p>
        </p:txBody>
      </p:sp>
      <p:sp>
        <p:nvSpPr>
          <p:cNvPr id="109" name="Text 107"/>
          <p:cNvSpPr/>
          <p:nvPr/>
        </p:nvSpPr>
        <p:spPr>
          <a:xfrm>
            <a:off x="7708392" y="5934456"/>
            <a:ext cx="3584448" cy="201168"/>
          </a:xfrm>
          <a:prstGeom prst="rect">
            <a:avLst/>
          </a:prstGeom>
          <a:noFill/>
          <a:ln/>
        </p:spPr>
        <p:txBody>
          <a:bodyPr wrap="square" lIns="0" tIns="0" rIns="0" bIns="0" rtlCol="0" anchor="ctr">
            <a:normAutofit/>
          </a:bodyPr>
          <a:lstStyle/>
          <a:p>
            <a:pPr algn="r" indent="0" marL="0">
              <a:lnSpc>
                <a:spcPct val="100000"/>
              </a:lnSpc>
              <a:buNone/>
            </a:pPr>
            <a:r>
              <a:rPr lang="en-US" sz="1045" b="1" dirty="0">
                <a:solidFill>
                  <a:srgbClr val="FFFFFF"/>
                </a:solidFill>
                <a:latin typeface="Aptos" pitchFamily="34" charset="0"/>
                <a:ea typeface="Aptos" pitchFamily="34" charset="-122"/>
                <a:cs typeface="Aptos" pitchFamily="34" charset="-120"/>
              </a:rPr>
              <a:t>SOURCE  →  CONTRACT  →  WAREHOUSE  →  MART  →  KPI</a:t>
            </a:r>
            <a:endParaRPr lang="en-US" sz="104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Independent Portfolio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GlassOps 360 — From Sources to Decisions</dc:title>
  <dc:subject>Manufacturing Data Integration &amp; BI proof of concept</dc:subject>
  <dc:creator>GlassOps 360 Portfolio Case Study</dc:creator>
  <cp:lastModifiedBy>GlassOps 360 Portfolio Case Study</cp:lastModifiedBy>
  <cp:revision>1</cp:revision>
  <dcterms:created xsi:type="dcterms:W3CDTF">2026-10-17T05:24:02Z</dcterms:created>
  <dcterms:modified xsi:type="dcterms:W3CDTF">2026-10-17T05:24:02Z</dcterms:modified>
</cp:coreProperties>
</file>